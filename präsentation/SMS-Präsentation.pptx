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50"/>
  </p:notesMasterIdLst>
  <p:sldIdLst>
    <p:sldId id="357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5" r:id="rId17"/>
    <p:sldId id="376" r:id="rId18"/>
    <p:sldId id="377" r:id="rId19"/>
    <p:sldId id="378" r:id="rId20"/>
    <p:sldId id="379" r:id="rId21"/>
    <p:sldId id="380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2" r:id="rId42"/>
    <p:sldId id="403" r:id="rId43"/>
    <p:sldId id="404" r:id="rId44"/>
    <p:sldId id="410" r:id="rId45"/>
    <p:sldId id="406" r:id="rId46"/>
    <p:sldId id="409" r:id="rId47"/>
    <p:sldId id="408" r:id="rId48"/>
    <p:sldId id="40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orspann" id="{3BC92287-D5CD-4663-B1E7-76A00D5293A2}">
          <p14:sldIdLst>
            <p14:sldId id="357"/>
            <p14:sldId id="360"/>
            <p14:sldId id="361"/>
            <p14:sldId id="362"/>
          </p14:sldIdLst>
        </p14:section>
        <p14:section name="Vorstellung" id="{89983BB4-A50A-44FE-A9DC-87CB44CA10DD}">
          <p14:sldIdLst>
            <p14:sldId id="363"/>
            <p14:sldId id="364"/>
          </p14:sldIdLst>
        </p14:section>
        <p14:section name="Einleitung" id="{50C01DA3-74DD-4222-9C60-C746CC85935A}">
          <p14:sldIdLst>
            <p14:sldId id="365"/>
            <p14:sldId id="366"/>
          </p14:sldIdLst>
        </p14:section>
        <p14:section name="Projektkontext &amp; Ziele" id="{CCCC42BE-4433-44DB-9649-18B8A3243C63}">
          <p14:sldIdLst>
            <p14:sldId id="367"/>
            <p14:sldId id="368"/>
          </p14:sldIdLst>
        </p14:section>
        <p14:section name="Architektur &amp; Technologien" id="{EA21D535-A4A7-49BF-A22E-002346D25F2A}">
          <p14:sldIdLst>
            <p14:sldId id="369"/>
            <p14:sldId id="370"/>
          </p14:sldIdLst>
        </p14:section>
        <p14:section name="Backend" id="{34C3E412-9483-44F8-B24A-4ED0C36953F5}">
          <p14:sldIdLst>
            <p14:sldId id="371"/>
            <p14:sldId id="372"/>
            <p14:sldId id="373"/>
            <p14:sldId id="375"/>
            <p14:sldId id="376"/>
            <p14:sldId id="377"/>
            <p14:sldId id="378"/>
            <p14:sldId id="379"/>
            <p14:sldId id="380"/>
            <p14:sldId id="382"/>
            <p14:sldId id="383"/>
            <p14:sldId id="384"/>
            <p14:sldId id="385"/>
          </p14:sldIdLst>
        </p14:section>
        <p14:section name="Frontend" id="{8260E18D-C836-4FD5-8480-D5060DE96251}">
          <p14:sldIdLst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2"/>
          </p14:sldIdLst>
        </p14:section>
        <p14:section name="Ergebnis" id="{58352A7B-60E8-4822-BC5A-8CF9FE2AB9CF}">
          <p14:sldIdLst>
            <p14:sldId id="403"/>
            <p14:sldId id="404"/>
            <p14:sldId id="410"/>
          </p14:sldIdLst>
        </p14:section>
        <p14:section name="Fazit" id="{24B5009B-7FCC-485E-8E60-6E17228C72E5}">
          <p14:sldIdLst>
            <p14:sldId id="406"/>
            <p14:sldId id="409"/>
            <p14:sldId id="408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6F8"/>
    <a:srgbClr val="FEF3F5"/>
    <a:srgbClr val="455561"/>
    <a:srgbClr val="33CC33"/>
    <a:srgbClr val="FF9900"/>
    <a:srgbClr val="FFCC00"/>
    <a:srgbClr val="D7194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CB0C2-CBC2-4746-911C-6A075AA690DC}" v="255" dt="2026-01-16T09:05:42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88" autoAdjust="0"/>
  </p:normalViewPr>
  <p:slideViewPr>
    <p:cSldViewPr snapToGrid="0">
      <p:cViewPr varScale="1">
        <p:scale>
          <a:sx n="105" d="100"/>
          <a:sy n="105" d="100"/>
        </p:scale>
        <p:origin x="15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E3DF4-B57D-4620-BAE3-859172C6057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762B1-AAAD-4623-8450-0A1ADD61A0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031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609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AE6D-DC2A-9E55-FED9-726ED6C5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7D16A1-4216-9763-2B1E-22F924726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854D16-115E-86B5-3E75-D893E8CCE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Stellen Sie sich vor, ein neues Projekt startet – und bevor überhaupt gearbeitet werden kann, beginnt die eigentliche Herausforderung:</a:t>
            </a:r>
            <a:br>
              <a:rPr lang="de-DE" dirty="0"/>
            </a:br>
            <a:r>
              <a:rPr lang="de-DE" b="1" dirty="0"/>
              <a:t>Wer hat die richtigen Skills?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33335B-0EC5-347A-59AE-7D0533169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01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E4B7-F875-2E27-272B-AE3242EA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8C255E-A982-F645-6D57-D42A1EF6F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66169E-F33C-6B12-F71A-CBD87209D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Bis vor meinem Projekt lief das bei uns so:</a:t>
            </a:r>
            <a:br>
              <a:rPr lang="de-DE" dirty="0"/>
            </a:br>
            <a:r>
              <a:rPr lang="de-DE" dirty="0"/>
              <a:t>Excel öffnen. Listen vergleichen. E-Mails schreiben. Nachfragen.</a:t>
            </a:r>
            <a:br>
              <a:rPr lang="de-DE" dirty="0"/>
            </a:br>
            <a:r>
              <a:rPr lang="de-DE" dirty="0"/>
              <a:t>Und am Ende dauerte es im Durchschnitt </a:t>
            </a:r>
            <a:r>
              <a:rPr lang="de-DE" b="1" dirty="0"/>
              <a:t>2,5 Stunden</a:t>
            </a:r>
            <a:r>
              <a:rPr lang="de-DE" dirty="0"/>
              <a:t>, bis ein Projektleiter die passende Person gefunden hat.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0280D-48BC-91FD-B1ED-D9F17C609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878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E4B7-F875-2E27-272B-AE3242EA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8C255E-A982-F645-6D57-D42A1EF6F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66169E-F33C-6B12-F71A-CBD87209D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Genau an dieser Stelle setzt mein Projekt an:</a:t>
            </a:r>
            <a:br>
              <a:rPr lang="de-DE" dirty="0"/>
            </a:br>
            <a:r>
              <a:rPr lang="de-DE" dirty="0"/>
              <a:t>Ein </a:t>
            </a:r>
            <a:r>
              <a:rPr lang="de-DE" b="1" dirty="0"/>
              <a:t>webbasiertes </a:t>
            </a:r>
            <a:r>
              <a:rPr lang="de-DE" b="1" dirty="0" err="1"/>
              <a:t>Skill</a:t>
            </a:r>
            <a:r>
              <a:rPr lang="de-DE" b="1" dirty="0"/>
              <a:t>-Management-System</a:t>
            </a:r>
            <a:r>
              <a:rPr lang="de-DE" dirty="0"/>
              <a:t>, das in wenigen Sekunden zeigt, wer welche Kompetenzen hat – und damit die Projektplanung deutlich effizienter macht.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0280D-48BC-91FD-B1ED-D9F17C609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9103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Mein Name ist Marvin Eschenbach ich bin 21 Jahre alt, ich bin Auszubildender zum Fachinformatiker für Anwendungsentwicklung bei EDAG im Bereich Elektrik/Elektronik in Fulda. In der Abteilung Mobility IT.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63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Damit Sie wissen, wohin die Reise geht, hier eine kurze Übersicht über meine Präsentation.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4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Für die Umsetzung meines Projekts habe ich ein sequenzielles Phasenmodell verwendet.</a:t>
            </a:r>
            <a:br>
              <a:rPr lang="de-DE" dirty="0"/>
            </a:br>
            <a:r>
              <a:rPr lang="de-DE" dirty="0"/>
              <a:t>Das bedeutet, dass jede Phase klar auf der vorherigen aufbaut und definierte Ergebnisse liefert, die die Grundlage für den nächsten Schritt bilden.</a:t>
            </a:r>
            <a:br>
              <a:rPr lang="de-DE" dirty="0"/>
            </a:br>
            <a:r>
              <a:rPr lang="de-DE" dirty="0"/>
              <a:t>Das Projekt gliedert sich in vier Hauptphasen: Analyse, Planung, Durchführung und Abschluss.</a:t>
            </a:r>
            <a:br>
              <a:rPr lang="de-DE" dirty="0"/>
            </a:br>
            <a:r>
              <a:rPr lang="de-DE" dirty="0"/>
              <a:t>In der Analyse wurden das Projektumfeld und die Anforderungen geklärt.</a:t>
            </a:r>
            <a:br>
              <a:rPr lang="de-DE" dirty="0"/>
            </a:br>
            <a:r>
              <a:rPr lang="de-DE" dirty="0"/>
              <a:t>Anschließend habe ich in der Planungsphase die Architektur, das Datenmodell und den Zeitplan ausgearbeitet.</a:t>
            </a:r>
            <a:br>
              <a:rPr lang="de-DE" dirty="0"/>
            </a:br>
            <a:r>
              <a:rPr lang="de-DE" dirty="0"/>
              <a:t>Darauf folgte die Durchführung, in der die eigentliche Entwicklung des Systems stattgefunden hat.</a:t>
            </a:r>
            <a:br>
              <a:rPr lang="de-DE" dirty="0"/>
            </a:br>
            <a:r>
              <a:rPr lang="de-DE" dirty="0"/>
              <a:t>Abgeschlossen wurde das Projekt mit Tests, Fehlerkorrekturen und der Dokumentation.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626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E00D-EDF2-6FA8-8987-36BE0D84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9D83561-FFC1-C9E5-49AE-4FAFB6642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A84248-56C4-547D-9477-DC02F5937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 bereits im Opener gezeigt, lag die durchschnittliche </a:t>
            </a:r>
            <a:r>
              <a:rPr lang="de-DE" dirty="0" err="1"/>
              <a:t>Skill</a:t>
            </a:r>
            <a:r>
              <a:rPr lang="de-DE" dirty="0"/>
              <a:t>-Suchzeit bei 2,5 Stunden.</a:t>
            </a:r>
            <a:br>
              <a:rPr lang="de-DE" dirty="0"/>
            </a:br>
            <a:r>
              <a:rPr lang="de-DE" dirty="0"/>
              <a:t>Im aktuellen Prozess gibt es keine zentrale Übersicht über Mitarbeiterkompetenzen.</a:t>
            </a:r>
            <a:br>
              <a:rPr lang="de-DE" dirty="0"/>
            </a:br>
            <a:r>
              <a:rPr lang="de-DE" dirty="0"/>
              <a:t>Projektleiter müssen Skills manuell zusammensuchen, was viel Zeit kostet und häufig zu Verzögerungen führt.</a:t>
            </a:r>
            <a:br>
              <a:rPr lang="de-DE" dirty="0"/>
            </a:br>
            <a:r>
              <a:rPr lang="de-DE" dirty="0"/>
              <a:t>Daraus entstand die Anforderung, eine digitale Lösung zu entwickeln, die Skills zentral bündelt und die Projektplanung unterstützt.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099653-059B-355A-C49C-D9ECC68E1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8354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A6FB-C0F4-84F2-7970-56F687F1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95A24ED-1F31-BA20-2352-4C8E15869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E13DF5-0054-290B-474A-E704AF359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</a:t>
            </a:r>
            <a:r>
              <a:rPr lang="de-DE" b="1" dirty="0"/>
              <a:t>Bedarf</a:t>
            </a:r>
            <a:r>
              <a:rPr lang="de-DE" dirty="0"/>
              <a:t> nach einer zentralen </a:t>
            </a:r>
            <a:r>
              <a:rPr lang="de-DE" dirty="0" err="1"/>
              <a:t>Skill</a:t>
            </a:r>
            <a:r>
              <a:rPr lang="de-DE" dirty="0"/>
              <a:t>-Übersicht besteht grundsätzlich in allen projektorientierten Bereichen von EDAG.</a:t>
            </a:r>
          </a:p>
          <a:p>
            <a:r>
              <a:rPr lang="de-DE" dirty="0"/>
              <a:t>Für die Umsetzung meines Projekts habe ich den </a:t>
            </a:r>
            <a:r>
              <a:rPr lang="de-DE" b="1" dirty="0"/>
              <a:t>Fokus</a:t>
            </a:r>
            <a:r>
              <a:rPr lang="de-DE" dirty="0"/>
              <a:t> bewusst auf den Bereich </a:t>
            </a:r>
            <a:r>
              <a:rPr lang="de-DE" b="1" dirty="0"/>
              <a:t>Elektrik/Elektronik – Mobility IT am Standort Fulda</a:t>
            </a:r>
            <a:r>
              <a:rPr lang="de-DE" dirty="0"/>
              <a:t> gelegt.</a:t>
            </a:r>
          </a:p>
          <a:p>
            <a:r>
              <a:rPr lang="de-DE" dirty="0"/>
              <a:t>In diesem Bereich arbeiten mehrere </a:t>
            </a:r>
            <a:r>
              <a:rPr lang="de-DE" b="1" dirty="0"/>
              <a:t>Teams </a:t>
            </a:r>
            <a:r>
              <a:rPr lang="de-DE" dirty="0"/>
              <a:t>mit sehr unterschiedlichen Kompetenzprofilen und wechselnden Projektanforderungen.</a:t>
            </a:r>
          </a:p>
          <a:p>
            <a:r>
              <a:rPr lang="de-DE" dirty="0"/>
              <a:t>Das </a:t>
            </a:r>
            <a:r>
              <a:rPr lang="de-DE" b="1" dirty="0"/>
              <a:t>Ziel</a:t>
            </a:r>
            <a:r>
              <a:rPr lang="de-DE" dirty="0"/>
              <a:t> meines Projekts war es daher, eine Lösung zu schaffen, die Skills </a:t>
            </a:r>
            <a:r>
              <a:rPr lang="de-DE" b="1" dirty="0"/>
              <a:t>strukturiert erfasst </a:t>
            </a:r>
            <a:r>
              <a:rPr lang="de-DE" dirty="0"/>
              <a:t>und </a:t>
            </a:r>
            <a:r>
              <a:rPr lang="de-DE" b="1" dirty="0"/>
              <a:t>teamübergreifend transparent</a:t>
            </a:r>
            <a:r>
              <a:rPr lang="de-DE" dirty="0"/>
              <a:t> macht.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5D2936-FC73-657C-30E0-28D0ABAF9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95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2314-D874-B572-59AC-BDFAE5A1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14D315-E77B-820D-DDB4-1BA0827F1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C0A144F-18CE-3E46-3587-E89121157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 Basis des definierten Projektkontexts wurden klare Ziele festgelegt.</a:t>
            </a:r>
            <a:br>
              <a:rPr lang="de-DE" dirty="0"/>
            </a:br>
            <a:r>
              <a:rPr lang="de-DE" dirty="0"/>
              <a:t>Ein zentrales Ziel war es, </a:t>
            </a:r>
            <a:r>
              <a:rPr lang="de-DE" dirty="0" err="1"/>
              <a:t>Skill</a:t>
            </a:r>
            <a:r>
              <a:rPr lang="de-DE" dirty="0"/>
              <a:t>-Transparenz zu schaffen, damit relevante Kompetenzen teamübergreifend sichtbar werden.</a:t>
            </a:r>
            <a:br>
              <a:rPr lang="de-DE" dirty="0"/>
            </a:br>
            <a:r>
              <a:rPr lang="de-DE" dirty="0"/>
              <a:t>Gleichzeitig sollte die </a:t>
            </a:r>
            <a:r>
              <a:rPr lang="de-DE" dirty="0" err="1"/>
              <a:t>Skill</a:t>
            </a:r>
            <a:r>
              <a:rPr lang="de-DE" dirty="0"/>
              <a:t>-Suche deutlich beschleunigt werden, sodass passende Mitarbeitende in wenigen Sekunden gefunden werden können.</a:t>
            </a:r>
            <a:br>
              <a:rPr lang="de-DE" dirty="0"/>
            </a:br>
            <a:r>
              <a:rPr lang="de-DE" dirty="0"/>
              <a:t>Um eine verlässliche Datenbasis zu schaffen, wurde außerdem ein einheitliches </a:t>
            </a:r>
            <a:r>
              <a:rPr lang="de-DE" dirty="0" err="1"/>
              <a:t>Skill-Datenmodell</a:t>
            </a:r>
            <a:r>
              <a:rPr lang="de-DE" dirty="0"/>
              <a:t> benötigt.</a:t>
            </a:r>
            <a:br>
              <a:rPr lang="de-DE" dirty="0"/>
            </a:br>
            <a:r>
              <a:rPr lang="de-DE" dirty="0"/>
              <a:t>Die Lösung sollte als moderne Webanwendung umgesetzt werden und über eine sichere Authentifizierung mit rollenbasierten Berechtigungen verfügen.</a:t>
            </a:r>
            <a:br>
              <a:rPr lang="de-DE" dirty="0"/>
            </a:br>
            <a:r>
              <a:rPr lang="de-DE" dirty="0"/>
              <a:t>Diese Ziele bildeten die Grundlage für die technische Architektur und die weitere Umsetzung des Projekts.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DF1451-4A12-9C58-DBDB-5AFAD5264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762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030F-89F7-1A2C-A3F6-B5EB8986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94A849-2475-CAEE-E7B0-9E3AFA19B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DBD422-97B1-CB37-317E-864BFB54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Alle Nutzer greifen zunächst über den Ingress-Controller auf das System zu.</a:t>
            </a:r>
            <a:br>
              <a:rPr lang="de-DE" dirty="0"/>
            </a:br>
            <a:r>
              <a:rPr lang="de-DE" dirty="0"/>
              <a:t>Von dort werden die Anfragen an das Frontend weitergeleitet – eine moderne Web-App auf Basis von Next.js.</a:t>
            </a:r>
            <a:br>
              <a:rPr lang="de-DE" dirty="0"/>
            </a:br>
            <a:r>
              <a:rPr lang="de-DE" dirty="0"/>
              <a:t>Das Frontend kommuniziert über eine REST-API mit dem Backend, in dem die komplette Geschäftslogik umgesetzt wurde.</a:t>
            </a:r>
            <a:br>
              <a:rPr lang="de-DE" dirty="0"/>
            </a:br>
            <a:r>
              <a:rPr lang="de-DE" dirty="0"/>
              <a:t>Für die Authentifizierung ist das Backend an </a:t>
            </a:r>
            <a:r>
              <a:rPr lang="de-DE" dirty="0" err="1"/>
              <a:t>Keycloak</a:t>
            </a:r>
            <a:r>
              <a:rPr lang="de-DE" dirty="0"/>
              <a:t> angebunden, der den Login, die Rollen und die Token-Überprüfung übernimmt.</a:t>
            </a:r>
            <a:br>
              <a:rPr lang="de-DE" dirty="0"/>
            </a:br>
            <a:r>
              <a:rPr lang="de-DE" dirty="0"/>
              <a:t>Sobald ein Nutzer erfolgreich authentifiziert ist, kann das Backend auf die Datenbank zugreifen, in der alle relevanten </a:t>
            </a:r>
            <a:r>
              <a:rPr lang="de-DE" dirty="0" err="1"/>
              <a:t>Skill</a:t>
            </a:r>
            <a:r>
              <a:rPr lang="de-DE" dirty="0"/>
              <a:t>- und Mitarbeiterdaten gespeichert sind.</a:t>
            </a:r>
            <a:br>
              <a:rPr lang="de-DE" dirty="0"/>
            </a:br>
            <a:r>
              <a:rPr lang="de-DE" dirty="0"/>
              <a:t>Die Bereitstellung erfolgt über eine CI/CD-Pipeline, die die Komponenten automatisiert baut, testet und anschließend in das </a:t>
            </a:r>
            <a:r>
              <a:rPr lang="de-DE" dirty="0" err="1"/>
              <a:t>Kubernetes</a:t>
            </a:r>
            <a:r>
              <a:rPr lang="de-DE" dirty="0"/>
              <a:t>-Cluster deployt.</a:t>
            </a:r>
            <a:br>
              <a:rPr lang="de-DE" dirty="0"/>
            </a:br>
            <a:r>
              <a:rPr lang="de-DE" dirty="0"/>
              <a:t>Dadurch entsteht eine skalierbare, sichere und vollständig automatisierte Systemarchitektur.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6F684E-28CC-C51A-CF66-1EAF44599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065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A208-795F-792F-2302-4D2B02A9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5471D6-E686-6E80-E83A-973058975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B16D3A4-DCD2-7B90-13C1-109AE2962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CI/CD-Pipeline basiert auf </a:t>
            </a:r>
            <a:r>
              <a:rPr lang="de-DE" dirty="0" err="1"/>
              <a:t>Bitbucket</a:t>
            </a:r>
            <a:r>
              <a:rPr lang="de-DE" dirty="0"/>
              <a:t>, Jenkins und </a:t>
            </a:r>
            <a:r>
              <a:rPr lang="de-DE" dirty="0" err="1"/>
              <a:t>SonarQube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Deployment</a:t>
            </a:r>
            <a:r>
              <a:rPr lang="de-DE" dirty="0"/>
              <a:t> erfolgt containerisiert mit Docker und </a:t>
            </a:r>
            <a:r>
              <a:rPr lang="de-DE" dirty="0" err="1"/>
              <a:t>Kubernetes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Authentifizierung übernimmt </a:t>
            </a:r>
            <a:r>
              <a:rPr lang="de-DE" dirty="0" err="1"/>
              <a:t>Keycloak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Daten werden in PostgreSQL gespeichert und mit </a:t>
            </a:r>
            <a:r>
              <a:rPr lang="de-DE" dirty="0" err="1"/>
              <a:t>Flyway</a:t>
            </a:r>
            <a:r>
              <a:rPr lang="de-DE" dirty="0"/>
              <a:t> versioniert.</a:t>
            </a:r>
            <a:br>
              <a:rPr lang="de-DE" dirty="0"/>
            </a:br>
            <a:r>
              <a:rPr lang="de-DE" dirty="0"/>
              <a:t>Das Backend nutzt Spring Boot, das Frontend Next.js mit React und </a:t>
            </a:r>
            <a:r>
              <a:rPr lang="de-DE" dirty="0" err="1"/>
              <a:t>TypeScript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1F8C96-2765-D00B-D039-908223AB9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62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21FE-988D-A2F4-BD66-F4175363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21AF49-0534-F267-AADA-C6747F1D6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EE0C6EC-FE82-97EE-00CC-166E09B82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 nächsten Schritt zeige ich die Umsetzung des </a:t>
            </a:r>
            <a:r>
              <a:rPr lang="de-DE" dirty="0" err="1"/>
              <a:t>Backends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Das Backend bildet den Kern des Systems und besteht aus drei zentralen Bereichen:</a:t>
            </a:r>
          </a:p>
          <a:p>
            <a:r>
              <a:rPr lang="de-DE" dirty="0"/>
              <a:t>Erstens die Backend-Architektur, in der ich die Schichtenstruktur und den technischen Aufbau vorstelle.</a:t>
            </a:r>
            <a:br>
              <a:rPr lang="de-DE" dirty="0"/>
            </a:br>
            <a:r>
              <a:rPr lang="de-DE" dirty="0"/>
              <a:t>Zweitens die REST-API, über die das Frontend mit dem System kommuniziert.</a:t>
            </a:r>
            <a:br>
              <a:rPr lang="de-DE" dirty="0"/>
            </a:br>
            <a:r>
              <a:rPr lang="de-DE" dirty="0"/>
              <a:t>Und drittens die Security-Komponente, die über </a:t>
            </a:r>
            <a:r>
              <a:rPr lang="de-DE" dirty="0" err="1"/>
              <a:t>Keycloak</a:t>
            </a:r>
            <a:r>
              <a:rPr lang="de-DE" dirty="0"/>
              <a:t> den Zugriffsschutz übernimmt.</a:t>
            </a:r>
          </a:p>
          <a:p>
            <a:r>
              <a:rPr lang="de-DE" dirty="0"/>
              <a:t>Auf den folgenden Folien gehe ich auf jeden dieser Bereiche im Detail ein.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6B894F-EA83-FC90-F5F4-72F7C04FD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452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3D9D-1014-7D13-9B93-27CB6984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5B6784-F40A-2FF0-9A5F-D27E9B041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E0E8FE-3DE5-79B1-CCF5-0A008BCC9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Backend ist nach dem </a:t>
            </a:r>
            <a:r>
              <a:rPr lang="de-DE" b="1" dirty="0"/>
              <a:t>Hexagonal-Architekturprinzip</a:t>
            </a:r>
            <a:r>
              <a:rPr lang="de-DE" dirty="0"/>
              <a:t> aufgebaut.</a:t>
            </a:r>
          </a:p>
          <a:p>
            <a:r>
              <a:rPr lang="de-DE" dirty="0"/>
              <a:t>Im Zentrum steht die </a:t>
            </a:r>
            <a:r>
              <a:rPr lang="de-DE" b="1" dirty="0"/>
              <a:t>Domain</a:t>
            </a:r>
            <a:r>
              <a:rPr lang="de-DE" dirty="0"/>
              <a:t>. Sie enthält die fachlichen </a:t>
            </a:r>
            <a:r>
              <a:rPr lang="de-DE" b="1" dirty="0"/>
              <a:t>Kernmodelle</a:t>
            </a:r>
            <a:r>
              <a:rPr lang="de-DE" dirty="0"/>
              <a:t>, </a:t>
            </a:r>
            <a:r>
              <a:rPr lang="de-DE" b="1" dirty="0"/>
              <a:t>Ports</a:t>
            </a:r>
            <a:r>
              <a:rPr lang="de-DE" dirty="0"/>
              <a:t> sowie </a:t>
            </a:r>
            <a:r>
              <a:rPr lang="de-DE" b="1" dirty="0"/>
              <a:t>fachliche </a:t>
            </a:r>
            <a:r>
              <a:rPr lang="de-DE" b="1" dirty="0" err="1"/>
              <a:t>Exceptions</a:t>
            </a:r>
            <a:r>
              <a:rPr lang="de-DE" dirty="0"/>
              <a:t>, aber </a:t>
            </a:r>
            <a:r>
              <a:rPr lang="de-DE" b="1" dirty="0"/>
              <a:t>keine technische Logik</a:t>
            </a:r>
            <a:r>
              <a:rPr lang="de-DE" dirty="0"/>
              <a:t>.</a:t>
            </a:r>
          </a:p>
          <a:p>
            <a:r>
              <a:rPr lang="de-DE" dirty="0"/>
              <a:t>Die eigentliche </a:t>
            </a:r>
            <a:r>
              <a:rPr lang="de-DE" b="1" dirty="0"/>
              <a:t>Business-Logik</a:t>
            </a:r>
            <a:r>
              <a:rPr lang="de-DE" dirty="0"/>
              <a:t> liegt im </a:t>
            </a:r>
            <a:r>
              <a:rPr lang="de-DE" b="1" dirty="0" err="1"/>
              <a:t>Application</a:t>
            </a:r>
            <a:r>
              <a:rPr lang="de-DE" b="1" dirty="0"/>
              <a:t> Layer</a:t>
            </a:r>
            <a:r>
              <a:rPr lang="de-DE" dirty="0"/>
              <a:t>. Dieser steuert die fachlichen Abläufe und nutzt die Ports der Domain, um mit der Außenwelt zu interagieren.</a:t>
            </a:r>
          </a:p>
          <a:p>
            <a:r>
              <a:rPr lang="de-DE" dirty="0"/>
              <a:t>Technische Details wie </a:t>
            </a:r>
            <a:r>
              <a:rPr lang="de-DE" b="1" dirty="0"/>
              <a:t>HTTP</a:t>
            </a:r>
            <a:r>
              <a:rPr lang="de-DE" dirty="0"/>
              <a:t>, </a:t>
            </a:r>
            <a:r>
              <a:rPr lang="de-DE" b="1" dirty="0"/>
              <a:t>Datenzugriffe</a:t>
            </a:r>
            <a:r>
              <a:rPr lang="de-DE" dirty="0"/>
              <a:t> oder </a:t>
            </a:r>
            <a:r>
              <a:rPr lang="de-DE" b="1" dirty="0"/>
              <a:t>Authentifizierung</a:t>
            </a:r>
            <a:r>
              <a:rPr lang="de-DE" dirty="0"/>
              <a:t> sind in </a:t>
            </a:r>
            <a:r>
              <a:rPr lang="de-DE" b="1" dirty="0"/>
              <a:t>Adaptern</a:t>
            </a:r>
            <a:r>
              <a:rPr lang="de-DE" dirty="0"/>
              <a:t> gekapselt – zum Beispiel im </a:t>
            </a:r>
            <a:r>
              <a:rPr lang="de-DE" b="1" dirty="0"/>
              <a:t>Web Adapter</a:t>
            </a:r>
            <a:r>
              <a:rPr lang="de-DE" dirty="0"/>
              <a:t>, </a:t>
            </a:r>
            <a:r>
              <a:rPr lang="de-DE" b="1" dirty="0" err="1"/>
              <a:t>Persistence</a:t>
            </a:r>
            <a:r>
              <a:rPr lang="de-DE" b="1" dirty="0"/>
              <a:t> Adapter</a:t>
            </a:r>
            <a:r>
              <a:rPr lang="de-DE" dirty="0"/>
              <a:t> oder </a:t>
            </a:r>
            <a:r>
              <a:rPr lang="de-DE" b="1" dirty="0" err="1"/>
              <a:t>Keycloak</a:t>
            </a:r>
            <a:r>
              <a:rPr lang="de-DE" b="1" dirty="0"/>
              <a:t> Adapter</a:t>
            </a:r>
            <a:r>
              <a:rPr lang="de-DE" dirty="0"/>
              <a:t>.</a:t>
            </a:r>
          </a:p>
          <a:p>
            <a:r>
              <a:rPr lang="de-DE" dirty="0"/>
              <a:t>Dadurch bleibt der fachliche Kern klar strukturiert und unabhängig von technischen Implementierungen. Das genaue Zusammenspiel dieser Komponenten zeige ich im nächsten Schritt anhand des </a:t>
            </a:r>
            <a:r>
              <a:rPr lang="de-DE" b="1" dirty="0"/>
              <a:t>REST-API-Flows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B2B9B3-5CA4-6672-3284-FCF28FD12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2262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B021-0373-C00D-6A5B-5AC77C5B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611811E-8D33-C607-1086-C2FF04FD6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0234F5-D465-AE3D-9BE3-95DF5F71B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 dieser Folie sehen Sie </a:t>
            </a:r>
            <a:r>
              <a:rPr lang="de-DE" b="1" dirty="0"/>
              <a:t>Marvin</a:t>
            </a:r>
            <a:r>
              <a:rPr lang="de-DE" dirty="0"/>
              <a:t> – also mich.</a:t>
            </a:r>
          </a:p>
          <a:p>
            <a:r>
              <a:rPr lang="de-DE" dirty="0"/>
              <a:t>Marvin hat der </a:t>
            </a:r>
            <a:r>
              <a:rPr lang="de-DE" b="1" dirty="0"/>
              <a:t>DSGVO selbstverständlich zugestimmt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deshalb darf sein Bild verwendet werden und er darf REST-</a:t>
            </a:r>
            <a:r>
              <a:rPr lang="de-DE" dirty="0" err="1"/>
              <a:t>Requests</a:t>
            </a:r>
            <a:r>
              <a:rPr lang="de-DE" dirty="0"/>
              <a:t> auslösen.</a:t>
            </a:r>
          </a:p>
          <a:p>
            <a:r>
              <a:rPr lang="de-DE" dirty="0"/>
              <a:t>Marvin ist bereits </a:t>
            </a:r>
            <a:r>
              <a:rPr lang="de-DE" b="1" dirty="0"/>
              <a:t>eingeloggt</a:t>
            </a:r>
            <a:r>
              <a:rPr lang="de-DE" dirty="0"/>
              <a:t> und repräsentiert damit einen ganz normalen Benutzer im System.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CADE39-B737-72F0-346D-4B7BEA436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879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6EA4-7E07-5794-DC9C-4471FF92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AD60D4-4469-E761-4327-9DCB4BE9B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024D1D-980A-F21B-F911-A3A5EDEDE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Anhand von Marvin zeige ich im nächsten Schritt,</a:t>
            </a:r>
            <a:br>
              <a:rPr lang="de-DE" dirty="0"/>
            </a:br>
            <a:r>
              <a:rPr lang="de-DE" dirty="0"/>
              <a:t>wie ein Request durch die einzelnen Schichten des Systems läuft</a:t>
            </a:r>
            <a:br>
              <a:rPr lang="de-DE" dirty="0"/>
            </a:br>
            <a:r>
              <a:rPr lang="de-DE" dirty="0"/>
              <a:t>– vom Frontend bis zur Datenbank und wieder zurück.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8DF5F0-7829-BAAC-9EFB-194460CE7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521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0B930-4198-0095-2C07-411A431E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A90408-8732-C4BF-D479-CE9DAD03D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79D188-0691-FA75-1BBD-66A9B1D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Wir starten im </a:t>
            </a:r>
            <a:r>
              <a:rPr lang="de-DE" b="1" dirty="0"/>
              <a:t>Frontend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Marvin sucht einen Mitarbeiter und setzt zwei Filter:</a:t>
            </a:r>
            <a:br>
              <a:rPr lang="de-DE" dirty="0"/>
            </a:br>
            <a:r>
              <a:rPr lang="de-DE" i="1" dirty="0"/>
              <a:t>Teilweise verfügbar</a:t>
            </a:r>
            <a:r>
              <a:rPr lang="de-DE" dirty="0"/>
              <a:t> und </a:t>
            </a:r>
            <a:r>
              <a:rPr lang="de-DE" i="1" dirty="0"/>
              <a:t>Frontend Development</a:t>
            </a:r>
            <a:r>
              <a:rPr lang="de-DE" dirty="0"/>
              <a:t>.</a:t>
            </a:r>
          </a:p>
          <a:p>
            <a:r>
              <a:rPr lang="de-DE" dirty="0"/>
              <a:t>Dadurch findet er einen passenden Kandidaten – hier </a:t>
            </a:r>
            <a:r>
              <a:rPr lang="de-DE" b="1" dirty="0" err="1"/>
              <a:t>Hansgert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Alle Namen sind </a:t>
            </a:r>
            <a:r>
              <a:rPr lang="de-DE" b="1" dirty="0"/>
              <a:t>rein simuliert</a:t>
            </a:r>
            <a:r>
              <a:rPr lang="de-DE" dirty="0"/>
              <a:t>. Das Frontend erstellt daraufhin einen </a:t>
            </a:r>
            <a:r>
              <a:rPr lang="de-DE" b="1" dirty="0"/>
              <a:t>REST-Request</a:t>
            </a:r>
            <a:br>
              <a:rPr lang="de-DE" dirty="0"/>
            </a:br>
            <a:r>
              <a:rPr lang="de-DE" dirty="0"/>
              <a:t>an das Backend über </a:t>
            </a:r>
            <a:r>
              <a:rPr lang="de-DE" b="1" dirty="0"/>
              <a:t>/</a:t>
            </a:r>
            <a:r>
              <a:rPr lang="de-DE" b="1" dirty="0" err="1"/>
              <a:t>api</a:t>
            </a:r>
            <a:r>
              <a:rPr lang="de-DE" b="1" dirty="0"/>
              <a:t>/v1/</a:t>
            </a:r>
            <a:r>
              <a:rPr lang="de-DE" b="1" dirty="0" err="1"/>
              <a:t>employees</a:t>
            </a:r>
            <a:r>
              <a:rPr lang="de-DE" b="1" dirty="0"/>
              <a:t>/</a:t>
            </a:r>
            <a:r>
              <a:rPr lang="de-DE" b="1" dirty="0" err="1"/>
              <a:t>search</a:t>
            </a:r>
            <a:r>
              <a:rPr lang="de-DE" dirty="0"/>
              <a:t>.</a:t>
            </a:r>
          </a:p>
          <a:p>
            <a:r>
              <a:rPr lang="de-DE" dirty="0"/>
              <a:t>Mitgeschickt werden </a:t>
            </a:r>
            <a:r>
              <a:rPr lang="de-DE" b="1" dirty="0"/>
              <a:t>Filter-, </a:t>
            </a:r>
            <a:r>
              <a:rPr lang="de-DE" b="1" dirty="0" err="1"/>
              <a:t>Pagination</a:t>
            </a:r>
            <a:r>
              <a:rPr lang="de-DE" b="1" dirty="0"/>
              <a:t>- und </a:t>
            </a:r>
            <a:r>
              <a:rPr lang="de-DE" b="1" dirty="0" err="1"/>
              <a:t>Sorting</a:t>
            </a:r>
            <a:r>
              <a:rPr lang="de-DE" b="1" dirty="0"/>
              <a:t>-Parameter</a:t>
            </a:r>
            <a:r>
              <a:rPr lang="de-DE" dirty="0"/>
              <a:t>, umgesetzt nach gängigen </a:t>
            </a:r>
            <a:r>
              <a:rPr lang="de-DE" b="1" dirty="0"/>
              <a:t>REST-Best-Practices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400895-BBAC-465A-7570-50B81462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646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12A7-8574-B89D-BC46-65E7E05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ACCB5A-AD80-3D01-71EC-9E5292BF0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1973EE-E277-E1D0-5112-EFAD7FFFC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Als Nächstes landen wir im </a:t>
            </a:r>
            <a:r>
              <a:rPr lang="de-DE" b="1" dirty="0"/>
              <a:t>Controller</a:t>
            </a:r>
            <a:r>
              <a:rPr lang="de-DE" dirty="0"/>
              <a:t> – das ist der </a:t>
            </a:r>
            <a:r>
              <a:rPr lang="de-DE" b="1" dirty="0"/>
              <a:t>Einstiegspunkt</a:t>
            </a:r>
            <a:r>
              <a:rPr lang="de-DE" dirty="0"/>
              <a:t> ins Backend.</a:t>
            </a:r>
          </a:p>
          <a:p>
            <a:r>
              <a:rPr lang="de-DE" dirty="0"/>
              <a:t>Hier gibt es zwei DTOs: </a:t>
            </a:r>
            <a:r>
              <a:rPr lang="de-DE" b="1" dirty="0"/>
              <a:t>Request-DTO</a:t>
            </a:r>
            <a:r>
              <a:rPr lang="de-DE" dirty="0"/>
              <a:t> für die Filter und </a:t>
            </a:r>
            <a:r>
              <a:rPr lang="de-DE" b="1" dirty="0"/>
              <a:t>Response-DTO</a:t>
            </a:r>
            <a:r>
              <a:rPr lang="de-DE" dirty="0"/>
              <a:t> für die Ergebnisliste.</a:t>
            </a:r>
          </a:p>
          <a:p>
            <a:r>
              <a:rPr lang="de-DE" dirty="0"/>
              <a:t>Der Request wird direkt in ein </a:t>
            </a:r>
            <a:r>
              <a:rPr lang="de-DE" b="1" dirty="0"/>
              <a:t>Domain-Search-</a:t>
            </a:r>
            <a:r>
              <a:rPr lang="de-DE" b="1" dirty="0" err="1"/>
              <a:t>Criteria</a:t>
            </a:r>
            <a:r>
              <a:rPr lang="de-DE" dirty="0"/>
              <a:t> gemappt, damit der Service nur mit Domain-Objekten arbeitet.</a:t>
            </a:r>
          </a:p>
          <a:p>
            <a:r>
              <a:rPr lang="de-DE" dirty="0"/>
              <a:t>Danach ruft der Controller den </a:t>
            </a:r>
            <a:r>
              <a:rPr lang="de-DE" b="1" dirty="0" err="1"/>
              <a:t>EmployeeDiscoveryService</a:t>
            </a:r>
            <a:r>
              <a:rPr lang="de-DE" dirty="0"/>
              <a:t> auf – über einen </a:t>
            </a:r>
            <a:r>
              <a:rPr lang="de-DE" b="1" dirty="0"/>
              <a:t>Inbound Port</a:t>
            </a:r>
            <a:r>
              <a:rPr lang="de-DE" dirty="0"/>
              <a:t>.</a:t>
            </a:r>
          </a:p>
          <a:p>
            <a:r>
              <a:rPr lang="de-DE" dirty="0"/>
              <a:t>Und ganz am Ende wird das Ergebnis – eine </a:t>
            </a:r>
            <a:r>
              <a:rPr lang="de-DE" b="1" dirty="0"/>
              <a:t>Page von </a:t>
            </a:r>
            <a:r>
              <a:rPr lang="de-DE" b="1" dirty="0" err="1"/>
              <a:t>Employees</a:t>
            </a:r>
            <a:r>
              <a:rPr lang="de-DE" dirty="0"/>
              <a:t> – wieder ins </a:t>
            </a:r>
            <a:r>
              <a:rPr lang="de-DE" b="1" dirty="0"/>
              <a:t>Response-DTO</a:t>
            </a:r>
            <a:r>
              <a:rPr lang="de-DE" dirty="0"/>
              <a:t> gemappt und zurückgegeben.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29B853-1379-3573-D8A8-E513E08C8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26972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BEA1-2F48-1C1E-1FA9-65D6887F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9709FD-CD9E-5567-751F-A415B82AA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64E3A1B-8F62-0CB1-20FA-691EE5479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 dieser Stelle kommt der </a:t>
            </a:r>
            <a:r>
              <a:rPr lang="de-DE" b="1" dirty="0"/>
              <a:t>Mapper</a:t>
            </a:r>
            <a:r>
              <a:rPr lang="de-DE" dirty="0"/>
              <a:t> ins Spiel.</a:t>
            </a:r>
          </a:p>
          <a:p>
            <a:r>
              <a:rPr lang="de-DE" dirty="0"/>
              <a:t>Die Web-Schicht arbeitet mit </a:t>
            </a:r>
            <a:r>
              <a:rPr lang="de-DE" b="1" dirty="0"/>
              <a:t>eigenen DTOs</a:t>
            </a:r>
            <a:r>
              <a:rPr lang="de-DE" dirty="0"/>
              <a:t>, die Domain dagegen mit </a:t>
            </a:r>
            <a:r>
              <a:rPr lang="de-DE" b="1" dirty="0"/>
              <a:t>Domain-Modellen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Deshalb wird hier </a:t>
            </a:r>
            <a:r>
              <a:rPr lang="de-DE" b="1" dirty="0"/>
              <a:t>klar getrennt</a:t>
            </a:r>
            <a:r>
              <a:rPr lang="de-DE" dirty="0"/>
              <a:t>. Der Request wird vom </a:t>
            </a:r>
            <a:r>
              <a:rPr lang="de-DE" b="1" dirty="0"/>
              <a:t>Web-DTO</a:t>
            </a:r>
            <a:r>
              <a:rPr lang="de-DE" dirty="0"/>
              <a:t> in ein </a:t>
            </a:r>
            <a:r>
              <a:rPr lang="de-DE" b="1" dirty="0"/>
              <a:t>Domain-Model</a:t>
            </a:r>
            <a:r>
              <a:rPr lang="de-DE" dirty="0"/>
              <a:t> übersetzt,</a:t>
            </a:r>
            <a:br>
              <a:rPr lang="de-DE" dirty="0"/>
            </a:br>
            <a:r>
              <a:rPr lang="de-DE" dirty="0"/>
              <a:t>damit die </a:t>
            </a:r>
            <a:r>
              <a:rPr lang="de-DE" dirty="0" err="1"/>
              <a:t>Application</a:t>
            </a:r>
            <a:r>
              <a:rPr lang="de-DE" dirty="0"/>
              <a:t>-Logik ausschließlich mit fachlichen Objekten arbeitet.</a:t>
            </a:r>
          </a:p>
          <a:p>
            <a:r>
              <a:rPr lang="de-DE" dirty="0"/>
              <a:t>Nach der Verarbeitung passiert das Ganze </a:t>
            </a:r>
            <a:r>
              <a:rPr lang="de-DE" b="1" dirty="0"/>
              <a:t>umgekehrt</a:t>
            </a:r>
            <a:r>
              <a:rPr lang="de-DE" dirty="0"/>
              <a:t>: Das Domain-Ergebnis wird wieder in ein </a:t>
            </a:r>
            <a:r>
              <a:rPr lang="de-DE" b="1" dirty="0"/>
              <a:t>Response-DTO</a:t>
            </a:r>
            <a:r>
              <a:rPr lang="de-DE" dirty="0"/>
              <a:t> gemappt –</a:t>
            </a:r>
            <a:br>
              <a:rPr lang="de-DE" dirty="0"/>
            </a:br>
            <a:r>
              <a:rPr lang="de-DE" dirty="0"/>
              <a:t>bereit für die Rückgabe an das Frontend.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636463-568F-3F6A-F045-3871D5F49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855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7B52-6B01-6822-2477-1F140D8C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5CC4A3-0645-47B1-7C4D-F4E713924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667ACDE-3B4D-D1F0-5608-AA4B73CBA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Als Nächstes landet der Request im </a:t>
            </a:r>
            <a:r>
              <a:rPr lang="de-DE" b="1" dirty="0"/>
              <a:t>Service</a:t>
            </a:r>
            <a:r>
              <a:rPr lang="de-DE" dirty="0"/>
              <a:t>, angesprochen über den </a:t>
            </a:r>
            <a:r>
              <a:rPr lang="de-DE" b="1" dirty="0"/>
              <a:t>Inbound Port</a:t>
            </a:r>
            <a:r>
              <a:rPr lang="de-DE" dirty="0"/>
              <a:t> </a:t>
            </a:r>
            <a:r>
              <a:rPr lang="de-DE" i="1" dirty="0" err="1"/>
              <a:t>EmployeeDiscoveryService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Der Service ist bei mir vor allem der </a:t>
            </a:r>
            <a:r>
              <a:rPr lang="de-DE" b="1" dirty="0" err="1"/>
              <a:t>Orchestrator</a:t>
            </a:r>
            <a:r>
              <a:rPr lang="de-DE" dirty="0"/>
              <a:t>: Er nimmt die Suchkriterien entgegen, prüft Basis-Regeln und steuert den Ablauf.</a:t>
            </a:r>
            <a:br>
              <a:rPr lang="de-DE" dirty="0"/>
            </a:br>
            <a:r>
              <a:rPr lang="de-DE" dirty="0"/>
              <a:t>In diesem Fall ist es bewusst </a:t>
            </a:r>
            <a:r>
              <a:rPr lang="de-DE" b="1" dirty="0"/>
              <a:t>nicht fehlerhaft</a:t>
            </a:r>
            <a:r>
              <a:rPr lang="de-DE" dirty="0"/>
              <a:t>, wenn nichts gefunden wird – dann kommt einfach eine </a:t>
            </a:r>
            <a:r>
              <a:rPr lang="de-DE" b="1" dirty="0"/>
              <a:t>leere Page</a:t>
            </a:r>
            <a:r>
              <a:rPr lang="de-DE" dirty="0"/>
              <a:t> zurück.</a:t>
            </a:r>
            <a:br>
              <a:rPr lang="de-DE" dirty="0"/>
            </a:br>
            <a:r>
              <a:rPr lang="de-DE" dirty="0"/>
              <a:t>Anschließend delegiert der Service die eigentliche Abfrage an das </a:t>
            </a:r>
            <a:r>
              <a:rPr lang="de-DE" b="1" dirty="0"/>
              <a:t>Repository</a:t>
            </a:r>
            <a:r>
              <a:rPr lang="de-DE" dirty="0"/>
              <a:t>, hier über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findByCriteria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98139E-CFD3-7B52-40E6-E7C6ACD0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746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1F9F-6AB0-FB41-BF5B-7ED2AE95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BAC542-6BC7-C3F3-2307-EF1C2452F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493646-1EB0-4CF5-B908-351EF0DC6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Jetzt sind wir im </a:t>
            </a:r>
            <a:r>
              <a:rPr lang="de-DE" b="1" dirty="0"/>
              <a:t>Repository-Teil</a:t>
            </a:r>
            <a:r>
              <a:rPr lang="de-DE" dirty="0"/>
              <a:t> – und hier sieht man das Hexagonal-Prinzip nochmal gut:</a:t>
            </a:r>
            <a:br>
              <a:rPr lang="de-DE" dirty="0"/>
            </a:br>
            <a:r>
              <a:rPr lang="de-DE" dirty="0"/>
              <a:t>Der Service spricht </a:t>
            </a:r>
            <a:r>
              <a:rPr lang="de-DE" b="1" dirty="0"/>
              <a:t>nicht direkt JPA</a:t>
            </a:r>
            <a:r>
              <a:rPr lang="de-DE" dirty="0"/>
              <a:t>, sondern über den </a:t>
            </a:r>
            <a:r>
              <a:rPr lang="de-DE" b="1" dirty="0"/>
              <a:t>Outbound Port</a:t>
            </a:r>
            <a:r>
              <a:rPr lang="de-DE" dirty="0"/>
              <a:t> </a:t>
            </a:r>
            <a:r>
              <a:rPr lang="de-DE" i="1" dirty="0" err="1"/>
              <a:t>EmployeeRepository</a:t>
            </a:r>
            <a:r>
              <a:rPr lang="de-DE" dirty="0"/>
              <a:t>.</a:t>
            </a:r>
          </a:p>
          <a:p>
            <a:r>
              <a:rPr lang="de-DE" dirty="0"/>
              <a:t>In der Implementierung baue ich aus den Kriterien eine </a:t>
            </a:r>
            <a:r>
              <a:rPr lang="de-DE" b="1" dirty="0"/>
              <a:t>JPA </a:t>
            </a:r>
            <a:r>
              <a:rPr lang="de-DE" b="1" dirty="0" err="1"/>
              <a:t>Specification</a:t>
            </a:r>
            <a:r>
              <a:rPr lang="de-DE" dirty="0"/>
              <a:t> – damit kann ich viele Filter </a:t>
            </a:r>
            <a:r>
              <a:rPr lang="de-DE" b="1" dirty="0"/>
              <a:t>dynamisch</a:t>
            </a:r>
            <a:r>
              <a:rPr lang="de-DE" dirty="0"/>
              <a:t> und trotzdem sauber strukturiert kombinieren.</a:t>
            </a:r>
            <a:br>
              <a:rPr lang="de-DE" dirty="0"/>
            </a:br>
            <a:r>
              <a:rPr lang="de-DE" dirty="0"/>
              <a:t>In unserem Beispiel sind das genau die drei Bausteine: </a:t>
            </a:r>
            <a:r>
              <a:rPr lang="de-DE" b="1" dirty="0" err="1"/>
              <a:t>Complete</a:t>
            </a:r>
            <a:r>
              <a:rPr lang="de-DE" b="1" dirty="0"/>
              <a:t> Profile</a:t>
            </a:r>
            <a:r>
              <a:rPr lang="de-DE" dirty="0"/>
              <a:t>, </a:t>
            </a:r>
            <a:r>
              <a:rPr lang="de-DE" b="1" dirty="0"/>
              <a:t>Skills/Kategorie</a:t>
            </a:r>
            <a:r>
              <a:rPr lang="de-DE" dirty="0"/>
              <a:t> und </a:t>
            </a:r>
            <a:r>
              <a:rPr lang="de-DE" b="1" dirty="0" err="1"/>
              <a:t>Availability</a:t>
            </a:r>
            <a:r>
              <a:rPr lang="de-DE" dirty="0"/>
              <a:t>.</a:t>
            </a:r>
          </a:p>
          <a:p>
            <a:r>
              <a:rPr lang="de-DE" dirty="0"/>
              <a:t>Diese </a:t>
            </a:r>
            <a:r>
              <a:rPr lang="de-DE" dirty="0" err="1"/>
              <a:t>Specification</a:t>
            </a:r>
            <a:r>
              <a:rPr lang="de-DE" dirty="0"/>
              <a:t> geht dann in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findAll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de-DE" dirty="0"/>
              <a:t>, dadurch bekomme ich eine </a:t>
            </a:r>
            <a:r>
              <a:rPr lang="de-DE" b="1" dirty="0"/>
              <a:t>Page von </a:t>
            </a:r>
            <a:r>
              <a:rPr lang="de-DE" b="1" dirty="0" err="1"/>
              <a:t>EmployeeEntity</a:t>
            </a:r>
            <a:r>
              <a:rPr lang="de-DE" dirty="0"/>
              <a:t> aus der Datenbank.</a:t>
            </a:r>
            <a:br>
              <a:rPr lang="de-DE" dirty="0"/>
            </a:br>
            <a:r>
              <a:rPr lang="de-DE" dirty="0"/>
              <a:t>Bevor es zurück nach oben geht, wird die Entity wieder </a:t>
            </a:r>
            <a:r>
              <a:rPr lang="de-DE" b="1" dirty="0"/>
              <a:t>auf das Domain-Model gemappt</a:t>
            </a:r>
            <a:r>
              <a:rPr lang="de-DE" dirty="0"/>
              <a:t> – und erst dann wandert das Ergebnis zurück Richtung Service, Controller und ins Response-DTO.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02E8B2-099C-1E73-A557-91FB2DCCD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834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DADA-F978-6CA1-096D-5EAACB7C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399B070-80CB-1E2C-1998-50B0425DA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70F982-55BC-DBA4-D7B2-990C164D8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 die beteiligten Datenbank-</a:t>
            </a:r>
            <a:r>
              <a:rPr lang="de-DE" dirty="0" err="1"/>
              <a:t>Entities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Der </a:t>
            </a:r>
            <a:r>
              <a:rPr lang="de-DE" b="1" dirty="0"/>
              <a:t>User</a:t>
            </a:r>
            <a:r>
              <a:rPr lang="de-DE" dirty="0"/>
              <a:t> kommt aus </a:t>
            </a:r>
            <a:r>
              <a:rPr lang="de-DE" dirty="0" err="1"/>
              <a:t>Keycloak</a:t>
            </a:r>
            <a:r>
              <a:rPr lang="de-DE" dirty="0"/>
              <a:t> und bildet die Basis.</a:t>
            </a:r>
            <a:br>
              <a:rPr lang="de-DE" dirty="0"/>
            </a:br>
            <a:r>
              <a:rPr lang="de-DE" dirty="0"/>
              <a:t>Darauf aufbauend gibt es das </a:t>
            </a:r>
            <a:r>
              <a:rPr lang="de-DE" b="1" dirty="0" err="1"/>
              <a:t>EmployeeProfile</a:t>
            </a:r>
            <a:r>
              <a:rPr lang="de-DE" dirty="0"/>
              <a:t> mit Position und Standort.</a:t>
            </a:r>
            <a:br>
              <a:rPr lang="de-DE" dirty="0"/>
            </a:br>
            <a:r>
              <a:rPr lang="de-DE" dirty="0"/>
              <a:t>Die </a:t>
            </a:r>
            <a:r>
              <a:rPr lang="de-DE" b="1" dirty="0"/>
              <a:t>Skills</a:t>
            </a:r>
            <a:r>
              <a:rPr lang="de-DE" dirty="0"/>
              <a:t> sind bewusst ausgelagert und über </a:t>
            </a:r>
            <a:r>
              <a:rPr lang="de-DE" b="1" dirty="0" err="1"/>
              <a:t>EmployeeSkill</a:t>
            </a:r>
            <a:r>
              <a:rPr lang="de-DE" dirty="0"/>
              <a:t> verknüpft,</a:t>
            </a:r>
            <a:br>
              <a:rPr lang="de-DE" dirty="0"/>
            </a:br>
            <a:r>
              <a:rPr lang="de-DE" dirty="0"/>
              <a:t>damit ein Mitarbeiter mehrere Skills performant abbilden kann.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B25F19-4D90-8509-2461-65C7F1F31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527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1275-B992-15D8-6B7C-F1054962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1B78C3-ACC2-ABB2-2931-0F9871633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02E71A-FCF7-A8E9-AF28-C8BFBD1A4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ein Request überhaupt im Backend ankommt, spielt Security eine zentrale Rolle.</a:t>
            </a:r>
            <a:br>
              <a:rPr lang="de-DE" dirty="0"/>
            </a:br>
            <a:r>
              <a:rPr lang="de-DE" dirty="0"/>
              <a:t>Dafür nutze ich </a:t>
            </a:r>
            <a:r>
              <a:rPr lang="de-DE" b="1" dirty="0" err="1"/>
              <a:t>Keycloak</a:t>
            </a:r>
            <a:r>
              <a:rPr lang="de-DE" dirty="0"/>
              <a:t> – nach dem </a:t>
            </a:r>
            <a:r>
              <a:rPr lang="de-DE" b="1" dirty="0"/>
              <a:t>OAuth2-/</a:t>
            </a:r>
            <a:r>
              <a:rPr lang="de-DE" b="1" dirty="0" err="1"/>
              <a:t>OpenID</a:t>
            </a:r>
            <a:r>
              <a:rPr lang="de-DE" b="1" dirty="0"/>
              <a:t>-Connect-Prinzip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Das heißt: Login läuft zentral, und das Frontend bekommt ein </a:t>
            </a:r>
            <a:r>
              <a:rPr lang="de-DE" b="1" dirty="0"/>
              <a:t>JWT</a:t>
            </a:r>
            <a:r>
              <a:rPr lang="de-DE" dirty="0"/>
              <a:t>, das bei jedem Request mitgeschickt wird.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25C913-EE61-9A32-D339-ADBEB0F60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865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FD41-809A-04A5-E81B-836DF17A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8EC2B94-255E-C6AA-9F51-279865F86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B31A40-D808-9248-055C-8563A9007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Marvin loggt sich ein, </a:t>
            </a:r>
            <a:r>
              <a:rPr lang="de-DE" dirty="0" err="1"/>
              <a:t>Keycloak</a:t>
            </a:r>
            <a:r>
              <a:rPr lang="de-DE" dirty="0"/>
              <a:t> prüft die Identität und gibt ein signiertes JWT zurück –</a:t>
            </a:r>
            <a:br>
              <a:rPr lang="de-DE" dirty="0"/>
            </a:br>
            <a:r>
              <a:rPr lang="de-DE" dirty="0"/>
              <a:t>mit allen Infos, die das Backend braucht, um den Nutzer eindeutig zu erkennen.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B10A90-3D4F-1351-F4E0-58CDDDFDB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244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EFDA-64DD-53FB-5FF0-8D8F7DBF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B7F3D3-B1E7-5937-89E5-4BB938235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B353036-6866-8A44-4CD6-B7C454CB5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man, wie so ein </a:t>
            </a:r>
            <a:r>
              <a:rPr lang="de-DE" b="1" dirty="0"/>
              <a:t>JWT</a:t>
            </a:r>
            <a:r>
              <a:rPr lang="de-DE" dirty="0"/>
              <a:t> aufgebaut ist: </a:t>
            </a:r>
            <a:r>
              <a:rPr lang="de-DE" b="1" dirty="0"/>
              <a:t>Header, Payload und </a:t>
            </a:r>
            <a:r>
              <a:rPr lang="de-DE" b="1" dirty="0" err="1"/>
              <a:t>Signature</a:t>
            </a:r>
            <a:r>
              <a:rPr lang="de-DE" dirty="0"/>
              <a:t>.</a:t>
            </a:r>
          </a:p>
          <a:p>
            <a:r>
              <a:rPr lang="de-DE" dirty="0"/>
              <a:t>Im </a:t>
            </a:r>
            <a:r>
              <a:rPr lang="de-DE" b="1" dirty="0"/>
              <a:t>Header</a:t>
            </a:r>
            <a:r>
              <a:rPr lang="de-DE" dirty="0"/>
              <a:t> steht z. B. der Algorithmus und die Key-ID, also womit das Token signiert wurde.</a:t>
            </a:r>
            <a:br>
              <a:rPr lang="de-DE" dirty="0"/>
            </a:br>
            <a:r>
              <a:rPr lang="de-DE" dirty="0"/>
              <a:t>Im </a:t>
            </a:r>
            <a:r>
              <a:rPr lang="de-DE" b="1" dirty="0"/>
              <a:t>Payload</a:t>
            </a:r>
            <a:r>
              <a:rPr lang="de-DE" dirty="0"/>
              <a:t> stecken die eigentlichen Infos – bei uns zum Beispiel </a:t>
            </a:r>
            <a:r>
              <a:rPr lang="de-DE" b="1" dirty="0" err="1"/>
              <a:t>sub</a:t>
            </a:r>
            <a:r>
              <a:rPr lang="de-DE" dirty="0"/>
              <a:t> (die User-ID) und ganz wichtig </a:t>
            </a:r>
            <a:r>
              <a:rPr lang="de-DE" b="1" dirty="0" err="1"/>
              <a:t>role</a:t>
            </a:r>
            <a:r>
              <a:rPr lang="de-DE" dirty="0"/>
              <a:t>.</a:t>
            </a:r>
          </a:p>
          <a:p>
            <a:r>
              <a:rPr lang="de-DE" dirty="0"/>
              <a:t>Diese </a:t>
            </a:r>
            <a:r>
              <a:rPr lang="de-DE" b="1" dirty="0" err="1"/>
              <a:t>role</a:t>
            </a:r>
            <a:r>
              <a:rPr lang="de-DE" dirty="0"/>
              <a:t> nutzt Spring Boot dann für die </a:t>
            </a:r>
            <a:r>
              <a:rPr lang="de-DE" b="1" dirty="0"/>
              <a:t>Autorisierung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Je nach Rolle darf man bestimmte Endpunkte aufrufen – oder eben nicht.</a:t>
            </a:r>
          </a:p>
          <a:p>
            <a:r>
              <a:rPr lang="de-DE" dirty="0"/>
              <a:t>Und die </a:t>
            </a:r>
            <a:r>
              <a:rPr lang="de-DE" b="1" dirty="0" err="1"/>
              <a:t>Signature</a:t>
            </a:r>
            <a:r>
              <a:rPr lang="de-DE" dirty="0"/>
              <a:t> sorgt dafür, dass das Token nicht manipuliert wurde:</a:t>
            </a:r>
            <a:br>
              <a:rPr lang="de-DE" dirty="0"/>
            </a:br>
            <a:r>
              <a:rPr lang="de-DE" dirty="0"/>
              <a:t>Wenn Header oder Payload verändert werden, passt die Signatur nicht mehr und der Request wird abgelehnt.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FEDED0-6DA0-C931-A8B8-AFC7FD883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859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F6A9-F983-75E8-A8DE-F8CFF62B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D7E70B-EC60-2953-9282-FE1A1E014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C6CCA3-0D83-CECA-4588-2CB2BEFD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 nächsten Schritt zeige ich die Umsetzung des </a:t>
            </a:r>
            <a:r>
              <a:rPr lang="de-DE" b="1" dirty="0" err="1"/>
              <a:t>Frontends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Das Frontend ist die Schnittstelle für die Nutzer und legt den Fokus auf Bedienbarkeit und Performance.</a:t>
            </a:r>
          </a:p>
          <a:p>
            <a:r>
              <a:rPr lang="de-DE" dirty="0"/>
              <a:t>Es besteht aus drei zentralen Bereichen:</a:t>
            </a:r>
            <a:br>
              <a:rPr lang="de-DE" dirty="0"/>
            </a:br>
            <a:r>
              <a:rPr lang="de-DE" dirty="0"/>
              <a:t>Erstens die </a:t>
            </a:r>
            <a:r>
              <a:rPr lang="de-DE" b="1" dirty="0"/>
              <a:t>UI-Struktur</a:t>
            </a:r>
            <a:r>
              <a:rPr lang="de-DE" dirty="0"/>
              <a:t>, also der Aufbau der Seiten und Komponenten.</a:t>
            </a:r>
            <a:br>
              <a:rPr lang="de-DE" dirty="0"/>
            </a:br>
            <a:r>
              <a:rPr lang="de-DE" dirty="0"/>
              <a:t>Zweitens </a:t>
            </a:r>
            <a:r>
              <a:rPr lang="de-DE" b="1" dirty="0"/>
              <a:t>State und Datenfluss</a:t>
            </a:r>
            <a:r>
              <a:rPr lang="de-DE" dirty="0"/>
              <a:t>, die steuern, wie Daten geladen, gefiltert und im UI dargestellt werden.</a:t>
            </a:r>
            <a:br>
              <a:rPr lang="de-DE" dirty="0"/>
            </a:br>
            <a:r>
              <a:rPr lang="de-DE" dirty="0"/>
              <a:t>Und drittens </a:t>
            </a:r>
            <a:r>
              <a:rPr lang="de-DE" b="1" dirty="0"/>
              <a:t>UX und Performance</a:t>
            </a:r>
            <a:r>
              <a:rPr lang="de-DE" dirty="0"/>
              <a:t>, um eine schnelle und intuitive Nutzung sicherzustellen.</a:t>
            </a:r>
          </a:p>
          <a:p>
            <a:r>
              <a:rPr lang="de-DE" dirty="0"/>
              <a:t>Auf den folgenden Folien gehe ich auf diese Punkte Schritt für Schritt ein.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C412C2-F63A-C9CB-22B9-1D7EB8E35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362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B360E-7669-57DD-DDA0-AB458557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78B915-B46D-B048-C195-A31776C31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74B321-F9F4-E9FB-1C07-A87174CF0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UI ist klar in drei Bereiche strukturiert.</a:t>
            </a:r>
            <a:br>
              <a:rPr lang="de-DE" dirty="0"/>
            </a:br>
            <a:r>
              <a:rPr lang="de-DE" dirty="0"/>
              <a:t>Oben der </a:t>
            </a:r>
            <a:r>
              <a:rPr lang="de-DE" b="1" dirty="0"/>
              <a:t>Header</a:t>
            </a:r>
            <a:r>
              <a:rPr lang="de-DE" dirty="0"/>
              <a:t> mit Navigation, Suche und Aktionen.</a:t>
            </a:r>
            <a:br>
              <a:rPr lang="de-DE" dirty="0"/>
            </a:br>
            <a:r>
              <a:rPr lang="de-DE" dirty="0"/>
              <a:t>Links die </a:t>
            </a:r>
            <a:r>
              <a:rPr lang="de-DE" b="1" dirty="0"/>
              <a:t>Filter</a:t>
            </a:r>
            <a:r>
              <a:rPr lang="de-DE" dirty="0"/>
              <a:t>, um Projekte gezielt einzugrenzen.</a:t>
            </a:r>
            <a:br>
              <a:rPr lang="de-DE" dirty="0"/>
            </a:br>
            <a:r>
              <a:rPr lang="de-DE" dirty="0"/>
              <a:t>Und im Zentrum der </a:t>
            </a:r>
            <a:r>
              <a:rPr lang="de-DE" b="1" dirty="0"/>
              <a:t>Content-Bereich</a:t>
            </a:r>
            <a:r>
              <a:rPr lang="de-DE" dirty="0"/>
              <a:t>, in dem die eigentlichen Daten dargestellt werden.</a:t>
            </a:r>
          </a:p>
          <a:p>
            <a:r>
              <a:rPr lang="de-DE" dirty="0"/>
              <a:t>Zusätzlich ist die Ansicht </a:t>
            </a:r>
            <a:r>
              <a:rPr lang="de-DE" b="1" dirty="0"/>
              <a:t>rollenbasiert</a:t>
            </a:r>
            <a:r>
              <a:rPr lang="de-DE" dirty="0"/>
              <a:t> – diese Projektübersicht ist zum Beispiel nur für Nutzer mit der Rolle </a:t>
            </a:r>
            <a:r>
              <a:rPr lang="de-DE" i="1" dirty="0"/>
              <a:t>Manager</a:t>
            </a:r>
            <a:r>
              <a:rPr lang="de-DE" dirty="0"/>
              <a:t> sichtbar.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D742BB-E05A-17B7-F650-B2C1C248E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90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9D-649C-872D-A9A1-70A7BA2C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D1CF146-513C-F0E7-6278-C7030645C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6493950-4E71-2506-A9E5-AD355B2EF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Besonders interessant ist hier der Header, genauer gesagt </a:t>
            </a:r>
            <a:r>
              <a:rPr lang="de-DE" i="1" dirty="0"/>
              <a:t>‚Projekt erstellen‘</a:t>
            </a:r>
            <a:r>
              <a:rPr lang="de-DE" dirty="0"/>
              <a:t> – daran erkläre ich gleich den weiteren Ablauf.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92B244-A568-6E72-D07D-17F68D409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786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4C07-CCE7-8507-E62D-D8461616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DD7FF69-7CB6-6E7C-2847-A7F5647FE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1CCD4A-5EA6-EBB9-AFFC-0BEEA5095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der UI ist das Projekt-Erstellen als zentrales Formular umgesetzt.</a:t>
            </a:r>
            <a:br>
              <a:rPr lang="de-DE" dirty="0"/>
            </a:br>
            <a:r>
              <a:rPr lang="de-DE" dirty="0"/>
              <a:t>Hier werden alle projektrelevanten Daten strukturiert erfasst – wie Name, Laufzeit, Status, Kunde und Technologien.</a:t>
            </a:r>
            <a:br>
              <a:rPr lang="de-DE" dirty="0"/>
            </a:br>
            <a:r>
              <a:rPr lang="de-DE" dirty="0"/>
              <a:t>Das Formular ist bewusst klar gehalten und beinhaltet </a:t>
            </a:r>
            <a:r>
              <a:rPr lang="de-DE" dirty="0" err="1"/>
              <a:t>Recommendation</a:t>
            </a:r>
            <a:r>
              <a:rPr lang="de-DE" dirty="0"/>
              <a:t> Felder, um den Prozess schnell und fehlerfrei zu machen.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4A35EF-B52B-77E9-FF2F-0291E2F44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6808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06E7-B06B-EB58-EB98-11FA0CA5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E5961D-E771-A142-69DE-A95D4EFCB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E99445-6165-54C8-F830-419E65C1C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besonderer Fokus liegt auf der Auswahl der Teammitglieder.</a:t>
            </a:r>
            <a:br>
              <a:rPr lang="de-DE" dirty="0"/>
            </a:br>
            <a:r>
              <a:rPr lang="de-DE" dirty="0"/>
              <a:t>Diese ist direkt mit der Mitarbeitersuche verknüpft, sodass passende Personen sofort übernommen werden können und besser gefunden werden können.</a:t>
            </a:r>
            <a:br>
              <a:rPr lang="de-DE" dirty="0"/>
            </a:br>
            <a:r>
              <a:rPr lang="de-DE" dirty="0"/>
              <a:t>Die Auswahl wird in der Session zwischengespeichert, wodurch der Nutzer den Flow nicht verliert.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DBBF5-6361-780A-9158-E4D00D042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199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597D-DB37-D104-AA27-589806C6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773FD0-1F38-BF2B-938B-5E1BAC9F1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A13319-611A-379E-D216-41414A38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Mitarbeitersuche ist bewusst ähnlich zur Projektsuche aufgebaut.</a:t>
            </a:r>
            <a:br>
              <a:rPr lang="de-DE" dirty="0"/>
            </a:br>
            <a:r>
              <a:rPr lang="de-DE" dirty="0"/>
              <a:t>Header, Filter und Content folgen dem gleichen UI-Konzept, damit sich Nutzer schnell orientieren können.</a:t>
            </a:r>
            <a:br>
              <a:rPr lang="de-DE" dirty="0"/>
            </a:br>
            <a:r>
              <a:rPr lang="de-DE" dirty="0"/>
              <a:t>Die dahinterliegende Logik haben wir bereits im Backend an der REST-API gesehen – mit Filtern, </a:t>
            </a:r>
            <a:r>
              <a:rPr lang="de-DE" dirty="0" err="1"/>
              <a:t>Pagination</a:t>
            </a:r>
            <a:r>
              <a:rPr lang="de-DE" dirty="0"/>
              <a:t> und dynamischer Suche.</a:t>
            </a:r>
            <a:br>
              <a:rPr lang="de-DE" dirty="0"/>
            </a:br>
            <a:r>
              <a:rPr lang="de-DE" dirty="0"/>
              <a:t>Im Frontend wird diese Logik nun nutzerfreundlich visualisiert und bedienbar gemacht.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92F97D-79E7-2F34-A350-1ED38AAEB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462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3FFB-54DB-193E-FBC3-F5941734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DDB6F6-AC44-C222-A3C3-117FF567A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7C02C0-1C70-7EA1-B026-3EC3C326B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Marvin wählt nun einen Mitarbeiter aus – und entscheidet sich kurzerhand für sich selbst. </a:t>
            </a:r>
          </a:p>
          <a:p>
            <a:r>
              <a:rPr lang="de-DE" dirty="0"/>
              <a:t>Mit einem Klick wird der Mitarbeiter markiert, und oben erscheint direkt die Auswahl-Info zur Bestätigung oder zum Abbrechen.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C4D255-239F-B9B1-7A4C-EF77144C1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2333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CF03-8073-7618-35F3-3AA4EED1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4562AF2-4B5B-A867-28D7-C1E981245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C6BD26-2EF8-283E-684F-1D7BC7C41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 dieser Stelle stellt sich die Frage, wie das System unterscheidet,</a:t>
            </a:r>
            <a:br>
              <a:rPr lang="de-DE" dirty="0"/>
            </a:br>
            <a:r>
              <a:rPr lang="de-DE" dirty="0"/>
              <a:t>ob ein Nutzer Mitarbeiter nur entdecken möchte oder sie konkret einem Projekt hinzufügen will.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CB444C-9127-4517-D5A2-98F7356B0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3117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7D71-5F5D-8E8D-10DF-4F1BFF0F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B6A9B5-FAD8-95F2-4EF5-F5B8A6A76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940765-BF00-9C94-4AA1-86B98FEFF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 zwei URL-Parameter erkennt das Frontend den Kontext:</a:t>
            </a:r>
            <a:br>
              <a:rPr lang="de-DE" dirty="0"/>
            </a:br>
            <a:r>
              <a:rPr lang="de-DE" i="1" dirty="0" err="1"/>
              <a:t>mode</a:t>
            </a:r>
            <a:r>
              <a:rPr lang="de-DE" i="1" dirty="0"/>
              <a:t>=</a:t>
            </a:r>
            <a:r>
              <a:rPr lang="de-DE" i="1" dirty="0" err="1"/>
              <a:t>select</a:t>
            </a:r>
            <a:r>
              <a:rPr lang="de-DE" dirty="0"/>
              <a:t> aktiviert die Auswahlfunktion und </a:t>
            </a:r>
            <a:r>
              <a:rPr lang="de-DE" i="1" dirty="0" err="1"/>
              <a:t>returnTo</a:t>
            </a:r>
            <a:r>
              <a:rPr lang="de-DE" i="1" dirty="0"/>
              <a:t>=</a:t>
            </a:r>
            <a:r>
              <a:rPr lang="de-DE" i="1" dirty="0" err="1"/>
              <a:t>projects</a:t>
            </a:r>
            <a:r>
              <a:rPr lang="de-DE" dirty="0"/>
              <a:t> steuert, wohin der Nutzer danach zurückgeführt wird.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8946-6812-C077-947A-2C574F595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559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78254-05F0-AE58-7087-4480760D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96847E-C45F-2255-44C5-79BD365EE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5F540C-22D2-7B56-83F0-EAFD729B3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Für den State- und Datenfluss im Frontend habe ich mich für </a:t>
            </a:r>
            <a:r>
              <a:rPr lang="de-DE" b="1" dirty="0" err="1"/>
              <a:t>Redux</a:t>
            </a:r>
            <a:r>
              <a:rPr lang="de-DE" b="1" dirty="0"/>
              <a:t> Toolkit Query</a:t>
            </a:r>
            <a:r>
              <a:rPr lang="de-DE" dirty="0"/>
              <a:t> entschieden.</a:t>
            </a:r>
            <a:br>
              <a:rPr lang="de-DE" dirty="0"/>
            </a:br>
            <a:r>
              <a:rPr lang="de-DE" dirty="0"/>
              <a:t>RTK Query dient als </a:t>
            </a:r>
            <a:r>
              <a:rPr lang="de-DE" b="1" dirty="0"/>
              <a:t>zentrale Datenquelle</a:t>
            </a:r>
            <a:r>
              <a:rPr lang="de-DE" dirty="0"/>
              <a:t> und kümmert sich automatisch um </a:t>
            </a:r>
            <a:r>
              <a:rPr lang="de-DE" b="1" dirty="0"/>
              <a:t>API-Kommunikation, Caching und Synchronisation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Dadurch werden unnötige </a:t>
            </a:r>
            <a:r>
              <a:rPr lang="de-DE" dirty="0" err="1"/>
              <a:t>Requests</a:t>
            </a:r>
            <a:r>
              <a:rPr lang="de-DE" dirty="0"/>
              <a:t> vermieden, die Performance verbessert und der Datenfluss bleibt </a:t>
            </a:r>
            <a:r>
              <a:rPr lang="de-DE" b="1" dirty="0"/>
              <a:t>klar und vorhersehbar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Das erleichtert sowohl die Weiterentwicklung als auch die Wartung der Anwendung.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652A0C-0771-7976-CF37-F63B6DE27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13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78E1-A8E3-713C-D239-377B960A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062144-580A-6647-2174-51F36E934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DF32B1B-863D-D233-583B-7F07971F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 beispielhaft einen API-Call mit </a:t>
            </a:r>
            <a:r>
              <a:rPr lang="de-DE" dirty="0" err="1"/>
              <a:t>Redux</a:t>
            </a:r>
            <a:r>
              <a:rPr lang="de-DE" dirty="0"/>
              <a:t> Toolkit Query.</a:t>
            </a:r>
            <a:br>
              <a:rPr lang="de-DE" dirty="0"/>
            </a:br>
            <a:r>
              <a:rPr lang="de-DE" dirty="0"/>
              <a:t>Der Request ruft Profildaten über einen versionierten REST-Endpunkt ab.</a:t>
            </a:r>
            <a:br>
              <a:rPr lang="de-DE" dirty="0"/>
            </a:br>
            <a:r>
              <a:rPr lang="de-DE" dirty="0" err="1"/>
              <a:t>Fetching</a:t>
            </a:r>
            <a:r>
              <a:rPr lang="de-DE" dirty="0"/>
              <a:t> und Caching übernimmt RTK Query automatisch. Caching über die Tags.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C0429A-C093-6813-7C7C-857585389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5964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5717-D922-2EE0-4DF6-12B72766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B48CB6-C681-3D0E-9B5B-802F6C7B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03D7B3-1E6F-2FAE-068A-B8C17135C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 die Custom Hook </a:t>
            </a:r>
            <a:r>
              <a:rPr lang="de-DE" b="1" dirty="0" err="1"/>
              <a:t>useProfile</a:t>
            </a:r>
            <a:r>
              <a:rPr lang="de-DE" dirty="0"/>
              <a:t> als zentralen Einstiegspunkt für Profildaten.</a:t>
            </a:r>
            <a:br>
              <a:rPr lang="de-DE" dirty="0"/>
            </a:br>
            <a:r>
              <a:rPr lang="de-DE" dirty="0"/>
              <a:t>Standardmäßig lädt sie das </a:t>
            </a:r>
            <a:r>
              <a:rPr lang="de-DE" b="1" dirty="0"/>
              <a:t>eigene Profil</a:t>
            </a:r>
            <a:r>
              <a:rPr lang="de-DE" dirty="0"/>
              <a:t> über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"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de-DE" dirty="0"/>
              <a:t> – bei Bedarf aber auch jedes andere Profil über eine ID.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8B9FEE-085B-0DD2-8C83-5D1741419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3739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83F5-207D-A10A-9A41-6FC86A9B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97A9AF-450E-0A78-DAB7-2A74664F1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DA0F84C-D459-131F-9839-265B7A384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der Hook wird dann die </a:t>
            </a:r>
            <a:r>
              <a:rPr lang="de-DE" b="1" dirty="0"/>
              <a:t>RTK-Query</a:t>
            </a:r>
            <a:r>
              <a:rPr lang="de-DE" dirty="0"/>
              <a:t>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useGetProfileQuery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de-DE" dirty="0"/>
              <a:t> aufgerufen.</a:t>
            </a:r>
            <a:br>
              <a:rPr lang="de-DE" dirty="0"/>
            </a:br>
            <a:r>
              <a:rPr lang="de-DE" dirty="0"/>
              <a:t>Dadurch bekommt die UI sauber gebündelt </a:t>
            </a:r>
            <a:r>
              <a:rPr lang="de-DE" b="1" dirty="0" err="1"/>
              <a:t>data</a:t>
            </a:r>
            <a:r>
              <a:rPr lang="de-DE" dirty="0"/>
              <a:t>, </a:t>
            </a:r>
            <a:r>
              <a:rPr lang="de-DE" b="1" dirty="0" err="1"/>
              <a:t>Loading</a:t>
            </a:r>
            <a:r>
              <a:rPr lang="de-DE" b="1" dirty="0"/>
              <a:t>-/Error-States</a:t>
            </a:r>
            <a:r>
              <a:rPr lang="de-DE" dirty="0"/>
              <a:t> und eine </a:t>
            </a:r>
            <a:r>
              <a:rPr lang="de-DE" b="1" dirty="0" err="1"/>
              <a:t>refetch</a:t>
            </a:r>
            <a:r>
              <a:rPr lang="de-DE" dirty="0"/>
              <a:t>-Funktion – ohne dass jede Komponente den API-Call selbst bauen muss.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28339B-CF11-2A0A-2EC9-9C3F44D6D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8520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72810-0653-46BF-7A0A-08B61483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D0FAAA-65F9-D5E8-5972-730917220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6722E1-E93B-9327-9DA7-1623A87B4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Hook kapselt Profildaten </a:t>
            </a:r>
            <a:r>
              <a:rPr lang="de-DE" b="1" dirty="0"/>
              <a:t>inklusive aller Status-Informationen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384BE4-F0EF-74E0-E41C-51D302BEB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1068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45531-495F-4D79-4998-76AA1AB8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96D305-FC36-2F3F-B492-BFBEFAFA4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53440F-8C4B-796C-5CDB-B3DA93764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Mit genau diesen Daten wird anschließend die UI aufgebaut.</a:t>
            </a:r>
            <a:br>
              <a:rPr lang="de-DE" dirty="0"/>
            </a:br>
            <a:r>
              <a:rPr lang="de-DE" dirty="0"/>
              <a:t>Die Komponenten greifen direkt auf die Werte aus der </a:t>
            </a:r>
            <a:r>
              <a:rPr lang="de-DE" b="1" dirty="0" err="1"/>
              <a:t>useProfile</a:t>
            </a:r>
            <a:r>
              <a:rPr lang="de-DE" b="1" dirty="0"/>
              <a:t>-Hook</a:t>
            </a:r>
            <a:r>
              <a:rPr lang="de-DE" dirty="0"/>
              <a:t> zu und entscheiden anhand der Zustände, was angezeigt wird.</a:t>
            </a:r>
            <a:br>
              <a:rPr lang="de-DE" dirty="0"/>
            </a:br>
            <a:r>
              <a:rPr lang="de-DE" dirty="0"/>
              <a:t>So bleibt die Darstellung sauber von der Datenlogik getrennt und die Oberfläche reagiert automatisch auf Änderungen.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239678-9331-B2F6-C55B-8B18F9D76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715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0FD9-585C-FE7B-0549-427EFFE3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6CF7FE-A90D-EA89-6EB9-1BA549C6B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63BA2B-3CC9-A098-A7F6-FC5686F61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Zum Abschluss der Frontend-Umsetzung noch ein kurzer Blick auf </a:t>
            </a:r>
            <a:r>
              <a:rPr lang="de-DE" b="1" dirty="0"/>
              <a:t>UX und Performance</a:t>
            </a:r>
            <a:r>
              <a:rPr lang="de-DE" dirty="0"/>
              <a:t>.</a:t>
            </a:r>
          </a:p>
          <a:p>
            <a:r>
              <a:rPr lang="de-DE" dirty="0"/>
              <a:t>Mit </a:t>
            </a:r>
            <a:r>
              <a:rPr lang="de-DE" b="1" dirty="0"/>
              <a:t>Next.js</a:t>
            </a:r>
            <a:r>
              <a:rPr lang="de-DE" dirty="0"/>
              <a:t> nutze ich Server-Side Rendering. Dadurch werden Seiten schneller ausgeliefert und sind gleichzeitig besser für SEO geeignet.</a:t>
            </a:r>
          </a:p>
          <a:p>
            <a:r>
              <a:rPr lang="de-DE" dirty="0"/>
              <a:t>Für die Benutzeroberfläche setze ich auf </a:t>
            </a:r>
            <a:r>
              <a:rPr lang="de-DE" b="1" dirty="0" err="1"/>
              <a:t>shadcn</a:t>
            </a:r>
            <a:r>
              <a:rPr lang="de-DE" b="1" dirty="0"/>
              <a:t>/ui</a:t>
            </a:r>
            <a:r>
              <a:rPr lang="de-DE" dirty="0"/>
              <a:t> als </a:t>
            </a:r>
            <a:r>
              <a:rPr lang="de-DE" dirty="0" err="1"/>
              <a:t>Component</a:t>
            </a:r>
            <a:r>
              <a:rPr lang="de-DE" dirty="0"/>
              <a:t> Library.</a:t>
            </a:r>
            <a:br>
              <a:rPr lang="de-DE" dirty="0"/>
            </a:br>
            <a:r>
              <a:rPr lang="de-DE" dirty="0"/>
              <a:t>Sie sorgt für ein einheitliches Design, gute Bedienbarkeit und bringt Barrierefreiheit – etwa durch ARIA-Labels – bereits standardmäßig mit.</a:t>
            </a:r>
          </a:p>
          <a:p>
            <a:r>
              <a:rPr lang="de-DE" dirty="0"/>
              <a:t>Und mit </a:t>
            </a:r>
            <a:r>
              <a:rPr lang="de-DE" b="1" dirty="0" err="1"/>
              <a:t>Redux</a:t>
            </a:r>
            <a:r>
              <a:rPr lang="de-DE" b="1" dirty="0"/>
              <a:t> Toolkit Query</a:t>
            </a:r>
            <a:r>
              <a:rPr lang="de-DE" dirty="0"/>
              <a:t> verbessere ich Ladezeiten durch intelligentes Caching.</a:t>
            </a:r>
            <a:br>
              <a:rPr lang="de-DE" dirty="0"/>
            </a:br>
            <a:r>
              <a:rPr lang="de-DE" dirty="0"/>
              <a:t>Daten werden nur dann neu geladen, wenn es wirklich nötig ist – das macht die Anwendung spürbar schneller und stabiler.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B9073B-484B-E577-2517-0469BE24F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4793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2FE8-AF79-EC81-3307-1C285FF0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9189AB-BF51-846B-32BE-D7929F36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4E5E2F-86BD-8B7A-8036-1B189D302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Während der Umsetzung sind mehrere Herausforderungen aufgetreten.</a:t>
            </a:r>
          </a:p>
          <a:p>
            <a:r>
              <a:rPr lang="de-DE" dirty="0"/>
              <a:t>Zum einen die </a:t>
            </a:r>
            <a:r>
              <a:rPr lang="de-DE" b="1" dirty="0"/>
              <a:t>Integration</a:t>
            </a:r>
            <a:r>
              <a:rPr lang="de-DE" dirty="0"/>
              <a:t> in bestehende Systeme wie Authentifizierung und Infrastruktur.</a:t>
            </a:r>
            <a:br>
              <a:rPr lang="de-DE" dirty="0"/>
            </a:br>
            <a:r>
              <a:rPr lang="de-DE" dirty="0"/>
              <a:t>Dann die </a:t>
            </a:r>
            <a:r>
              <a:rPr lang="de-DE" b="1" dirty="0"/>
              <a:t>Bereitstellung</a:t>
            </a:r>
            <a:r>
              <a:rPr lang="de-DE" dirty="0"/>
              <a:t>, also wie Backend und Frontend zuverlässig gebaut und ausgeliefert werden.</a:t>
            </a:r>
          </a:p>
          <a:p>
            <a:r>
              <a:rPr lang="de-DE" dirty="0"/>
              <a:t>Ein weiterer Punkt war die </a:t>
            </a:r>
            <a:r>
              <a:rPr lang="de-DE" b="1" dirty="0"/>
              <a:t>Performance</a:t>
            </a:r>
            <a:r>
              <a:rPr lang="de-DE" dirty="0"/>
              <a:t>, vor allem bei komplexen Suchanfragen und großen Datenmengen.</a:t>
            </a:r>
          </a:p>
          <a:p>
            <a:r>
              <a:rPr lang="de-DE" dirty="0"/>
              <a:t>Und zuletzt der </a:t>
            </a:r>
            <a:r>
              <a:rPr lang="de-DE" b="1" dirty="0"/>
              <a:t>Datenfluss</a:t>
            </a:r>
            <a:r>
              <a:rPr lang="de-DE" dirty="0"/>
              <a:t>: Frontend und Backend mussten sauber, nachvollziehbar und wartbar zusammenspielen.</a:t>
            </a:r>
          </a:p>
          <a:p>
            <a:r>
              <a:rPr lang="de-DE" dirty="0"/>
              <a:t>Genau diese Punkte haben die technische Architektur maßgeblich beeinflusst.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B34A20-5C81-4F38-6788-809137B3C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5599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FA61D-5D17-1AF0-D316-F9DEAD1B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4223C56-BBD0-6A2F-110F-809134EB6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B8048B-ABB3-97BC-FFB7-881546DF6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Herausforderungen konnten gezielt gelöst werden.</a:t>
            </a:r>
          </a:p>
          <a:p>
            <a:r>
              <a:rPr lang="de-DE" dirty="0"/>
              <a:t>Die </a:t>
            </a:r>
            <a:r>
              <a:rPr lang="de-DE" b="1" dirty="0"/>
              <a:t>Integration</a:t>
            </a:r>
            <a:r>
              <a:rPr lang="de-DE" dirty="0"/>
              <a:t> erfolgt über </a:t>
            </a:r>
            <a:r>
              <a:rPr lang="de-DE" dirty="0" err="1"/>
              <a:t>Keycloak</a:t>
            </a:r>
            <a:r>
              <a:rPr lang="de-DE" dirty="0"/>
              <a:t> und </a:t>
            </a:r>
            <a:r>
              <a:rPr lang="de-DE" dirty="0" err="1"/>
              <a:t>Kubernetes</a:t>
            </a:r>
            <a:r>
              <a:rPr lang="de-DE" dirty="0"/>
              <a:t>, sauber getrennt vom Anwendungscode.</a:t>
            </a:r>
            <a:br>
              <a:rPr lang="de-DE" dirty="0"/>
            </a:br>
            <a:r>
              <a:rPr lang="de-DE" dirty="0"/>
              <a:t>Die </a:t>
            </a:r>
            <a:r>
              <a:rPr lang="de-DE" b="1" dirty="0"/>
              <a:t>Bereitstellung</a:t>
            </a:r>
            <a:r>
              <a:rPr lang="de-DE" dirty="0"/>
              <a:t> läuft automatisiert über Jenkins und </a:t>
            </a:r>
            <a:r>
              <a:rPr lang="de-DE" dirty="0" err="1"/>
              <a:t>Bitbucket</a:t>
            </a:r>
            <a:r>
              <a:rPr lang="de-DE" dirty="0"/>
              <a:t>.</a:t>
            </a:r>
          </a:p>
          <a:p>
            <a:r>
              <a:rPr lang="de-DE" dirty="0"/>
              <a:t>Für die </a:t>
            </a:r>
            <a:r>
              <a:rPr lang="de-DE" b="1" dirty="0"/>
              <a:t>Performance</a:t>
            </a:r>
            <a:r>
              <a:rPr lang="de-DE" dirty="0"/>
              <a:t> sorgen Caching-Strategien und gezielt aufgebaute JPA-</a:t>
            </a:r>
            <a:r>
              <a:rPr lang="de-DE" dirty="0" err="1"/>
              <a:t>Queries</a:t>
            </a:r>
            <a:r>
              <a:rPr lang="de-DE" dirty="0"/>
              <a:t>.</a:t>
            </a:r>
          </a:p>
          <a:p>
            <a:r>
              <a:rPr lang="de-DE" dirty="0"/>
              <a:t>Und der </a:t>
            </a:r>
            <a:r>
              <a:rPr lang="de-DE" b="1" dirty="0"/>
              <a:t>Datenfluss</a:t>
            </a:r>
            <a:r>
              <a:rPr lang="de-DE" dirty="0"/>
              <a:t> ist klar strukturiert über eine REST-API in Kombination mit RTK Query im Frontend.</a:t>
            </a:r>
          </a:p>
          <a:p>
            <a:r>
              <a:rPr lang="de-DE" dirty="0"/>
              <a:t>Das Ergebnis ist ein stabiles, wartbares und performantes System.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BDC9BD-B85D-121D-E8FC-64F96A764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2649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F328-7989-1421-E1E2-376F3DFB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4ED1A5-1C06-33C3-ACD5-566F76DF9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3D53B8-A2AD-A953-0171-7DD0D2ED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Herausforderungen konnten gezielt gelöst werden.</a:t>
            </a:r>
          </a:p>
          <a:p>
            <a:r>
              <a:rPr lang="de-DE" dirty="0"/>
              <a:t>Die </a:t>
            </a:r>
            <a:r>
              <a:rPr lang="de-DE" b="1" dirty="0"/>
              <a:t>Integration</a:t>
            </a:r>
            <a:r>
              <a:rPr lang="de-DE" dirty="0"/>
              <a:t> erfolgt über </a:t>
            </a:r>
            <a:r>
              <a:rPr lang="de-DE" dirty="0" err="1"/>
              <a:t>Keycloak</a:t>
            </a:r>
            <a:r>
              <a:rPr lang="de-DE" dirty="0"/>
              <a:t> und </a:t>
            </a:r>
            <a:r>
              <a:rPr lang="de-DE" dirty="0" err="1"/>
              <a:t>Kubernetes</a:t>
            </a:r>
            <a:r>
              <a:rPr lang="de-DE" dirty="0"/>
              <a:t>, sauber getrennt vom Anwendungscode.</a:t>
            </a:r>
            <a:br>
              <a:rPr lang="de-DE" dirty="0"/>
            </a:br>
            <a:r>
              <a:rPr lang="de-DE" dirty="0"/>
              <a:t>Die </a:t>
            </a:r>
            <a:r>
              <a:rPr lang="de-DE" b="1" dirty="0"/>
              <a:t>Bereitstellung</a:t>
            </a:r>
            <a:r>
              <a:rPr lang="de-DE" dirty="0"/>
              <a:t> läuft automatisiert über Jenkins und </a:t>
            </a:r>
            <a:r>
              <a:rPr lang="de-DE" dirty="0" err="1"/>
              <a:t>Bitbucket</a:t>
            </a:r>
            <a:r>
              <a:rPr lang="de-DE" dirty="0"/>
              <a:t>.</a:t>
            </a:r>
          </a:p>
          <a:p>
            <a:r>
              <a:rPr lang="de-DE" dirty="0"/>
              <a:t>Für die </a:t>
            </a:r>
            <a:r>
              <a:rPr lang="de-DE" b="1" dirty="0"/>
              <a:t>Performance</a:t>
            </a:r>
            <a:r>
              <a:rPr lang="de-DE" dirty="0"/>
              <a:t> sorgen Caching-Strategien und gezielt aufgebaute JPA-</a:t>
            </a:r>
            <a:r>
              <a:rPr lang="de-DE" dirty="0" err="1"/>
              <a:t>Queries</a:t>
            </a:r>
            <a:r>
              <a:rPr lang="de-DE" dirty="0"/>
              <a:t>.</a:t>
            </a:r>
          </a:p>
          <a:p>
            <a:r>
              <a:rPr lang="de-DE" dirty="0"/>
              <a:t>Und der </a:t>
            </a:r>
            <a:r>
              <a:rPr lang="de-DE" b="1" dirty="0"/>
              <a:t>Datenfluss</a:t>
            </a:r>
            <a:r>
              <a:rPr lang="de-DE" dirty="0"/>
              <a:t> ist klar strukturiert über eine REST-API in Kombination mit RTK Query im Frontend.</a:t>
            </a:r>
          </a:p>
          <a:p>
            <a:r>
              <a:rPr lang="de-DE" dirty="0"/>
              <a:t>Das Ergebnis ist ein stabiles, wartbares und performantes System.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4BBA43-9CA5-D809-6ACD-2E7B125B8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12223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76CE-86F4-2CB3-7FBE-B7785C89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4DE170-8762-C564-60BC-B96872C39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681FD16-C98E-9EA4-1539-33C24156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Das Projekt zeigt eine praxisnahe Umsetzung moderner Webarchitekturen mit Fokus auf Wartbarkeit, Skalierbarkeit und Automatisierung.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94FB29-6739-2701-59BC-271635515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174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D77A-ADCE-A36C-FDEE-4B0EA7C5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00D58B-666F-6CE7-18DA-1622EE5A3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818FE8-8043-40F7-35AF-AA8DCF734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/>
              <a:t>Lessons</a:t>
            </a:r>
            <a:r>
              <a:rPr lang="de-DE" b="1" dirty="0"/>
              <a:t> </a:t>
            </a:r>
            <a:r>
              <a:rPr lang="de-DE" b="1" dirty="0" err="1"/>
              <a:t>Learned</a:t>
            </a:r>
            <a:endParaRPr lang="de-DE" dirty="0"/>
          </a:p>
          <a:p>
            <a:r>
              <a:rPr lang="de-DE" dirty="0"/>
              <a:t>Ein zentrales Learning war, wie wichtig klare Architekturentscheidungen</a:t>
            </a:r>
            <a:br>
              <a:rPr lang="de-DE" dirty="0"/>
            </a:br>
            <a:r>
              <a:rPr lang="de-DE" dirty="0"/>
              <a:t>und saubere Schnittstellen zwischen Frontend, Backend und Infrastruktur sind.</a:t>
            </a:r>
          </a:p>
          <a:p>
            <a:r>
              <a:rPr lang="de-DE" b="1" dirty="0"/>
              <a:t>Saubere Prozesse</a:t>
            </a:r>
            <a:endParaRPr lang="de-DE" dirty="0"/>
          </a:p>
          <a:p>
            <a:r>
              <a:rPr lang="de-DE" dirty="0"/>
              <a:t>Durch klare Prozesse, Automatisierung und Standards</a:t>
            </a:r>
            <a:br>
              <a:rPr lang="de-DE" dirty="0"/>
            </a:br>
            <a:r>
              <a:rPr lang="de-DE" dirty="0"/>
              <a:t>konnte die Entwicklung strukturiert, stabil und nachvollziehbar umgesetzt werden.</a:t>
            </a:r>
          </a:p>
          <a:p>
            <a:r>
              <a:rPr lang="de-DE" b="1" dirty="0"/>
              <a:t>Nächste Schritte</a:t>
            </a:r>
            <a:endParaRPr lang="de-DE" dirty="0"/>
          </a:p>
          <a:p>
            <a:r>
              <a:rPr lang="de-DE" dirty="0"/>
              <a:t>Mögliche nächste Schritte wären der Ausbau der Funktionen,</a:t>
            </a:r>
            <a:br>
              <a:rPr lang="de-DE" dirty="0"/>
            </a:br>
            <a:r>
              <a:rPr lang="de-DE" dirty="0"/>
              <a:t>weitere Optimierungen in der Suche</a:t>
            </a:r>
            <a:br>
              <a:rPr lang="de-DE" dirty="0"/>
            </a:br>
            <a:r>
              <a:rPr lang="de-DE" dirty="0"/>
              <a:t>und eine schrittweise Einführung in weiteren Projektbereichen.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A310A0-1780-B528-CC5F-FE154662C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4212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83571-3136-3CD8-3887-493E7550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197F1FB-5584-BFA4-35DA-F3F558DBA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817C76-24E9-FD7C-DCD3-0FC5E9D10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5F70C0-3544-8351-A7FE-268511184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8891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D9C2-1074-5919-C5B6-E5446956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D087FF3-D60D-F3F2-5380-2C867BC0A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082CD6-04CB-2A58-E1EB-9C1130148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C0D2EE-C34F-E10D-0FB0-C43F5A49B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762B1-AAAD-4623-8450-0A1ADD61A08D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514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5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01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38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070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97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1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31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4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7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16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783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Mode/Grau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Ersteller: Group Marketing     Version: 8.0     Freigabe: Felix Schuster     Geltungsbereich: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97439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14B4542-1C81-42BA-8428-274AED4648B5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21B1F0-B3C9-49B6-9466-FBFF1946EE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70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svg"/><Relationship Id="rId18" Type="http://schemas.openxmlformats.org/officeDocument/2006/relationships/image" Target="../media/image18.png"/><Relationship Id="rId3" Type="http://schemas.openxmlformats.org/officeDocument/2006/relationships/image" Target="../media/image20.png"/><Relationship Id="rId21" Type="http://schemas.openxmlformats.org/officeDocument/2006/relationships/image" Target="../media/image17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5.svg"/><Relationship Id="rId5" Type="http://schemas.openxmlformats.org/officeDocument/2006/relationships/image" Target="../media/image3.svg"/><Relationship Id="rId15" Type="http://schemas.openxmlformats.org/officeDocument/2006/relationships/image" Target="../media/image7.svg"/><Relationship Id="rId10" Type="http://schemas.openxmlformats.org/officeDocument/2006/relationships/image" Target="../media/image14.png"/><Relationship Id="rId19" Type="http://schemas.openxmlformats.org/officeDocument/2006/relationships/image" Target="../media/image19.svg"/><Relationship Id="rId4" Type="http://schemas.openxmlformats.org/officeDocument/2006/relationships/image" Target="../media/image2.png"/><Relationship Id="rId9" Type="http://schemas.openxmlformats.org/officeDocument/2006/relationships/image" Target="../media/image9.svg"/><Relationship Id="rId14" Type="http://schemas.openxmlformats.org/officeDocument/2006/relationships/image" Target="../media/image6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23.svg"/><Relationship Id="rId7" Type="http://schemas.openxmlformats.org/officeDocument/2006/relationships/image" Target="../media/image14.png"/><Relationship Id="rId12" Type="http://schemas.openxmlformats.org/officeDocument/2006/relationships/image" Target="../media/image7.svg"/><Relationship Id="rId17" Type="http://schemas.openxmlformats.org/officeDocument/2006/relationships/image" Target="../media/image16.png"/><Relationship Id="rId2" Type="http://schemas.openxmlformats.org/officeDocument/2006/relationships/video" Target="../media/media1.mp4"/><Relationship Id="rId16" Type="http://schemas.openxmlformats.org/officeDocument/2006/relationships/image" Target="../media/image19.svg"/><Relationship Id="rId20" Type="http://schemas.openxmlformats.org/officeDocument/2006/relationships/image" Target="../media/image22.png"/><Relationship Id="rId1" Type="http://schemas.microsoft.com/office/2007/relationships/media" Target="../media/media1.mp4"/><Relationship Id="rId6" Type="http://schemas.openxmlformats.org/officeDocument/2006/relationships/image" Target="../media/image9.svg"/><Relationship Id="rId11" Type="http://schemas.openxmlformats.org/officeDocument/2006/relationships/image" Target="../media/image6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1.svg"/><Relationship Id="rId19" Type="http://schemas.openxmlformats.org/officeDocument/2006/relationships/image" Target="../media/image21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0.png"/><Relationship Id="rId14" Type="http://schemas.openxmlformats.org/officeDocument/2006/relationships/image" Target="../media/image13.sv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7.sv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8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10" Type="http://schemas.openxmlformats.org/officeDocument/2006/relationships/image" Target="../media/image34.svg"/><Relationship Id="rId4" Type="http://schemas.openxmlformats.org/officeDocument/2006/relationships/image" Target="../media/image30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33.png"/><Relationship Id="rId18" Type="http://schemas.openxmlformats.org/officeDocument/2006/relationships/image" Target="../media/image42.svg"/><Relationship Id="rId26" Type="http://schemas.openxmlformats.org/officeDocument/2006/relationships/image" Target="../media/image48.svg"/><Relationship Id="rId3" Type="http://schemas.openxmlformats.org/officeDocument/2006/relationships/image" Target="../media/image29.png"/><Relationship Id="rId21" Type="http://schemas.openxmlformats.org/officeDocument/2006/relationships/image" Target="../media/image43.png"/><Relationship Id="rId7" Type="http://schemas.openxmlformats.org/officeDocument/2006/relationships/image" Target="../media/image8.png"/><Relationship Id="rId12" Type="http://schemas.openxmlformats.org/officeDocument/2006/relationships/image" Target="../media/image40.svg"/><Relationship Id="rId17" Type="http://schemas.openxmlformats.org/officeDocument/2006/relationships/image" Target="../media/image41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6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11" Type="http://schemas.openxmlformats.org/officeDocument/2006/relationships/image" Target="../media/image39.png"/><Relationship Id="rId24" Type="http://schemas.openxmlformats.org/officeDocument/2006/relationships/image" Target="../media/image46.svg"/><Relationship Id="rId5" Type="http://schemas.openxmlformats.org/officeDocument/2006/relationships/image" Target="../media/image31.png"/><Relationship Id="rId15" Type="http://schemas.openxmlformats.org/officeDocument/2006/relationships/image" Target="../media/image35.png"/><Relationship Id="rId23" Type="http://schemas.openxmlformats.org/officeDocument/2006/relationships/image" Target="../media/image45.png"/><Relationship Id="rId10" Type="http://schemas.openxmlformats.org/officeDocument/2006/relationships/image" Target="../media/image38.svg"/><Relationship Id="rId19" Type="http://schemas.openxmlformats.org/officeDocument/2006/relationships/image" Target="../media/image22.png"/><Relationship Id="rId4" Type="http://schemas.openxmlformats.org/officeDocument/2006/relationships/image" Target="../media/image30.svg"/><Relationship Id="rId9" Type="http://schemas.openxmlformats.org/officeDocument/2006/relationships/image" Target="../media/image37.png"/><Relationship Id="rId14" Type="http://schemas.openxmlformats.org/officeDocument/2006/relationships/image" Target="../media/image34.svg"/><Relationship Id="rId22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22.png"/><Relationship Id="rId18" Type="http://schemas.openxmlformats.org/officeDocument/2006/relationships/image" Target="../media/image46.svg"/><Relationship Id="rId3" Type="http://schemas.openxmlformats.org/officeDocument/2006/relationships/image" Target="../media/image37.png"/><Relationship Id="rId21" Type="http://schemas.openxmlformats.org/officeDocument/2006/relationships/image" Target="../media/image49.png"/><Relationship Id="rId7" Type="http://schemas.openxmlformats.org/officeDocument/2006/relationships/image" Target="../media/image33.png"/><Relationship Id="rId12" Type="http://schemas.openxmlformats.org/officeDocument/2006/relationships/image" Target="../media/image42.sv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41.png"/><Relationship Id="rId24" Type="http://schemas.openxmlformats.org/officeDocument/2006/relationships/image" Target="../media/image52.svg"/><Relationship Id="rId5" Type="http://schemas.openxmlformats.org/officeDocument/2006/relationships/image" Target="../media/image39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6.svg"/><Relationship Id="rId19" Type="http://schemas.openxmlformats.org/officeDocument/2006/relationships/image" Target="../media/image47.png"/><Relationship Id="rId4" Type="http://schemas.openxmlformats.org/officeDocument/2006/relationships/image" Target="../media/image38.svg"/><Relationship Id="rId9" Type="http://schemas.openxmlformats.org/officeDocument/2006/relationships/image" Target="../media/image35.png"/><Relationship Id="rId14" Type="http://schemas.openxmlformats.org/officeDocument/2006/relationships/image" Target="../media/image23.svg"/><Relationship Id="rId22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47.png"/><Relationship Id="rId5" Type="http://schemas.openxmlformats.org/officeDocument/2006/relationships/image" Target="../media/image22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7.png"/><Relationship Id="rId18" Type="http://schemas.openxmlformats.org/officeDocument/2006/relationships/image" Target="../media/image62.svg"/><Relationship Id="rId26" Type="http://schemas.openxmlformats.org/officeDocument/2006/relationships/image" Target="../media/image70.svg"/><Relationship Id="rId3" Type="http://schemas.openxmlformats.org/officeDocument/2006/relationships/image" Target="../media/image49.png"/><Relationship Id="rId21" Type="http://schemas.openxmlformats.org/officeDocument/2006/relationships/image" Target="../media/image65.png"/><Relationship Id="rId7" Type="http://schemas.openxmlformats.org/officeDocument/2006/relationships/image" Target="../media/image53.png"/><Relationship Id="rId12" Type="http://schemas.openxmlformats.org/officeDocument/2006/relationships/image" Target="../media/image48.sv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0.svg"/><Relationship Id="rId20" Type="http://schemas.openxmlformats.org/officeDocument/2006/relationships/image" Target="../media/image6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11" Type="http://schemas.openxmlformats.org/officeDocument/2006/relationships/image" Target="../media/image47.png"/><Relationship Id="rId24" Type="http://schemas.openxmlformats.org/officeDocument/2006/relationships/image" Target="../media/image68.sv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6.svg"/><Relationship Id="rId19" Type="http://schemas.openxmlformats.org/officeDocument/2006/relationships/image" Target="../media/image63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58.svg"/><Relationship Id="rId22" Type="http://schemas.openxmlformats.org/officeDocument/2006/relationships/image" Target="../media/image6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76.svg"/><Relationship Id="rId3" Type="http://schemas.openxmlformats.org/officeDocument/2006/relationships/image" Target="../media/image55.png"/><Relationship Id="rId21" Type="http://schemas.openxmlformats.org/officeDocument/2006/relationships/image" Target="../media/image71.png"/><Relationship Id="rId34" Type="http://schemas.openxmlformats.org/officeDocument/2006/relationships/image" Target="../media/image35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1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6.svg"/><Relationship Id="rId20" Type="http://schemas.openxmlformats.org/officeDocument/2006/relationships/image" Target="../media/image70.svg"/><Relationship Id="rId29" Type="http://schemas.openxmlformats.org/officeDocument/2006/relationships/image" Target="../media/image7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11" Type="http://schemas.openxmlformats.org/officeDocument/2006/relationships/image" Target="../media/image61.png"/><Relationship Id="rId24" Type="http://schemas.openxmlformats.org/officeDocument/2006/relationships/image" Target="../media/image74.svg"/><Relationship Id="rId32" Type="http://schemas.openxmlformats.org/officeDocument/2006/relationships/image" Target="../media/image80.png"/><Relationship Id="rId37" Type="http://schemas.openxmlformats.org/officeDocument/2006/relationships/image" Target="../media/image84.svg"/><Relationship Id="rId5" Type="http://schemas.openxmlformats.org/officeDocument/2006/relationships/image" Target="../media/image47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svg"/><Relationship Id="rId36" Type="http://schemas.openxmlformats.org/officeDocument/2006/relationships/image" Target="../media/image83.png"/><Relationship Id="rId10" Type="http://schemas.openxmlformats.org/officeDocument/2006/relationships/image" Target="../media/image60.svg"/><Relationship Id="rId19" Type="http://schemas.openxmlformats.org/officeDocument/2006/relationships/image" Target="../media/image69.png"/><Relationship Id="rId31" Type="http://schemas.openxmlformats.org/officeDocument/2006/relationships/image" Target="../media/image52.svg"/><Relationship Id="rId4" Type="http://schemas.openxmlformats.org/officeDocument/2006/relationships/image" Target="../media/image56.sv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72.svg"/><Relationship Id="rId27" Type="http://schemas.openxmlformats.org/officeDocument/2006/relationships/image" Target="../media/image77.png"/><Relationship Id="rId30" Type="http://schemas.openxmlformats.org/officeDocument/2006/relationships/image" Target="../media/image51.png"/><Relationship Id="rId35" Type="http://schemas.openxmlformats.org/officeDocument/2006/relationships/image" Target="../media/image8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75.png"/><Relationship Id="rId18" Type="http://schemas.openxmlformats.org/officeDocument/2006/relationships/image" Target="../media/image51.png"/><Relationship Id="rId3" Type="http://schemas.openxmlformats.org/officeDocument/2006/relationships/image" Target="../media/image65.png"/><Relationship Id="rId21" Type="http://schemas.openxmlformats.org/officeDocument/2006/relationships/image" Target="../media/image81.sv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svg"/><Relationship Id="rId25" Type="http://schemas.openxmlformats.org/officeDocument/2006/relationships/image" Target="../media/image84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8.sv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24" Type="http://schemas.openxmlformats.org/officeDocument/2006/relationships/image" Target="../media/image8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2.svg"/><Relationship Id="rId10" Type="http://schemas.openxmlformats.org/officeDocument/2006/relationships/image" Target="../media/image72.svg"/><Relationship Id="rId19" Type="http://schemas.openxmlformats.org/officeDocument/2006/relationships/image" Target="../media/image52.svg"/><Relationship Id="rId4" Type="http://schemas.openxmlformats.org/officeDocument/2006/relationships/image" Target="../media/image66.svg"/><Relationship Id="rId9" Type="http://schemas.openxmlformats.org/officeDocument/2006/relationships/image" Target="../media/image71.png"/><Relationship Id="rId14" Type="http://schemas.openxmlformats.org/officeDocument/2006/relationships/image" Target="../media/image76.svg"/><Relationship Id="rId22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83.png"/><Relationship Id="rId18" Type="http://schemas.microsoft.com/office/2007/relationships/hdphoto" Target="../media/hdphoto2.wdp"/><Relationship Id="rId26" Type="http://schemas.openxmlformats.org/officeDocument/2006/relationships/image" Target="../media/image94.png"/><Relationship Id="rId3" Type="http://schemas.openxmlformats.org/officeDocument/2006/relationships/image" Target="../media/image77.png"/><Relationship Id="rId21" Type="http://schemas.openxmlformats.org/officeDocument/2006/relationships/image" Target="../media/image89.svg"/><Relationship Id="rId7" Type="http://schemas.openxmlformats.org/officeDocument/2006/relationships/image" Target="../media/image51.png"/><Relationship Id="rId12" Type="http://schemas.openxmlformats.org/officeDocument/2006/relationships/image" Target="../media/image82.svg"/><Relationship Id="rId17" Type="http://schemas.openxmlformats.org/officeDocument/2006/relationships/image" Target="../media/image86.png"/><Relationship Id="rId25" Type="http://schemas.openxmlformats.org/officeDocument/2006/relationships/image" Target="../media/image93.svg"/><Relationship Id="rId2" Type="http://schemas.openxmlformats.org/officeDocument/2006/relationships/notesSlide" Target="../notesSlides/notesSlide15.xml"/><Relationship Id="rId16" Type="http://schemas.microsoft.com/office/2007/relationships/hdphoto" Target="../media/hdphoto1.wdp"/><Relationship Id="rId20" Type="http://schemas.openxmlformats.org/officeDocument/2006/relationships/image" Target="../media/image88.png"/><Relationship Id="rId29" Type="http://schemas.openxmlformats.org/officeDocument/2006/relationships/image" Target="../media/image9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svg"/><Relationship Id="rId11" Type="http://schemas.openxmlformats.org/officeDocument/2006/relationships/image" Target="../media/image35.png"/><Relationship Id="rId24" Type="http://schemas.openxmlformats.org/officeDocument/2006/relationships/image" Target="../media/image92.png"/><Relationship Id="rId5" Type="http://schemas.openxmlformats.org/officeDocument/2006/relationships/image" Target="../media/image69.png"/><Relationship Id="rId15" Type="http://schemas.openxmlformats.org/officeDocument/2006/relationships/image" Target="../media/image85.png"/><Relationship Id="rId23" Type="http://schemas.openxmlformats.org/officeDocument/2006/relationships/image" Target="../media/image91.svg"/><Relationship Id="rId28" Type="http://schemas.openxmlformats.org/officeDocument/2006/relationships/image" Target="../media/image96.png"/><Relationship Id="rId10" Type="http://schemas.openxmlformats.org/officeDocument/2006/relationships/image" Target="../media/image81.svg"/><Relationship Id="rId19" Type="http://schemas.openxmlformats.org/officeDocument/2006/relationships/image" Target="../media/image87.png"/><Relationship Id="rId4" Type="http://schemas.openxmlformats.org/officeDocument/2006/relationships/image" Target="../media/image78.svg"/><Relationship Id="rId9" Type="http://schemas.openxmlformats.org/officeDocument/2006/relationships/image" Target="../media/image80.png"/><Relationship Id="rId14" Type="http://schemas.openxmlformats.org/officeDocument/2006/relationships/image" Target="../media/image84.svg"/><Relationship Id="rId22" Type="http://schemas.openxmlformats.org/officeDocument/2006/relationships/image" Target="../media/image90.png"/><Relationship Id="rId27" Type="http://schemas.openxmlformats.org/officeDocument/2006/relationships/image" Target="../media/image95.svg"/><Relationship Id="rId30" Type="http://schemas.openxmlformats.org/officeDocument/2006/relationships/image" Target="../media/image9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3" Type="http://schemas.openxmlformats.org/officeDocument/2006/relationships/image" Target="../media/image88.png"/><Relationship Id="rId7" Type="http://schemas.openxmlformats.org/officeDocument/2006/relationships/image" Target="../media/image91.sv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svg"/><Relationship Id="rId5" Type="http://schemas.openxmlformats.org/officeDocument/2006/relationships/image" Target="../media/image99.png"/><Relationship Id="rId15" Type="http://schemas.openxmlformats.org/officeDocument/2006/relationships/image" Target="../media/image98.svg"/><Relationship Id="rId10" Type="http://schemas.openxmlformats.org/officeDocument/2006/relationships/image" Target="../media/image94.png"/><Relationship Id="rId4" Type="http://schemas.openxmlformats.org/officeDocument/2006/relationships/image" Target="../media/image89.svg"/><Relationship Id="rId9" Type="http://schemas.openxmlformats.org/officeDocument/2006/relationships/image" Target="../media/image93.svg"/><Relationship Id="rId1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3" Type="http://schemas.openxmlformats.org/officeDocument/2006/relationships/image" Target="../media/image100.png"/><Relationship Id="rId21" Type="http://schemas.openxmlformats.org/officeDocument/2006/relationships/image" Target="../media/image107.png"/><Relationship Id="rId7" Type="http://schemas.openxmlformats.org/officeDocument/2006/relationships/image" Target="../media/image103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95.svg"/><Relationship Id="rId20" Type="http://schemas.openxmlformats.org/officeDocument/2006/relationships/image" Target="../media/image9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11" Type="http://schemas.openxmlformats.org/officeDocument/2006/relationships/image" Target="../media/image90.png"/><Relationship Id="rId5" Type="http://schemas.openxmlformats.org/officeDocument/2006/relationships/image" Target="../media/image99.png"/><Relationship Id="rId15" Type="http://schemas.openxmlformats.org/officeDocument/2006/relationships/image" Target="../media/image94.png"/><Relationship Id="rId10" Type="http://schemas.openxmlformats.org/officeDocument/2006/relationships/image" Target="../media/image106.svg"/><Relationship Id="rId19" Type="http://schemas.openxmlformats.org/officeDocument/2006/relationships/image" Target="../media/image51.png"/><Relationship Id="rId4" Type="http://schemas.openxmlformats.org/officeDocument/2006/relationships/image" Target="../media/image101.svg"/><Relationship Id="rId9" Type="http://schemas.openxmlformats.org/officeDocument/2006/relationships/image" Target="../media/image105.png"/><Relationship Id="rId14" Type="http://schemas.openxmlformats.org/officeDocument/2006/relationships/image" Target="../media/image9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18" Type="http://schemas.openxmlformats.org/officeDocument/2006/relationships/image" Target="../media/image107.png"/><Relationship Id="rId3" Type="http://schemas.openxmlformats.org/officeDocument/2006/relationships/image" Target="../media/image88.png"/><Relationship Id="rId21" Type="http://schemas.openxmlformats.org/officeDocument/2006/relationships/image" Target="../media/image106.svg"/><Relationship Id="rId7" Type="http://schemas.openxmlformats.org/officeDocument/2006/relationships/image" Target="../media/image103.png"/><Relationship Id="rId12" Type="http://schemas.openxmlformats.org/officeDocument/2006/relationships/image" Target="../media/image96.png"/><Relationship Id="rId17" Type="http://schemas.openxmlformats.org/officeDocument/2006/relationships/image" Target="../media/image108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00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11" Type="http://schemas.openxmlformats.org/officeDocument/2006/relationships/image" Target="../media/image95.svg"/><Relationship Id="rId5" Type="http://schemas.openxmlformats.org/officeDocument/2006/relationships/image" Target="../media/image99.png"/><Relationship Id="rId15" Type="http://schemas.openxmlformats.org/officeDocument/2006/relationships/image" Target="../media/image98.svg"/><Relationship Id="rId10" Type="http://schemas.openxmlformats.org/officeDocument/2006/relationships/image" Target="../media/image94.png"/><Relationship Id="rId19" Type="http://schemas.openxmlformats.org/officeDocument/2006/relationships/image" Target="../media/image104.png"/><Relationship Id="rId4" Type="http://schemas.openxmlformats.org/officeDocument/2006/relationships/image" Target="../media/image89.svg"/><Relationship Id="rId9" Type="http://schemas.openxmlformats.org/officeDocument/2006/relationships/image" Target="../media/image93.svg"/><Relationship Id="rId1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13" Type="http://schemas.openxmlformats.org/officeDocument/2006/relationships/image" Target="../media/image107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8.sv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svg"/><Relationship Id="rId11" Type="http://schemas.openxmlformats.org/officeDocument/2006/relationships/image" Target="../media/image51.png"/><Relationship Id="rId5" Type="http://schemas.openxmlformats.org/officeDocument/2006/relationships/image" Target="../media/image88.png"/><Relationship Id="rId15" Type="http://schemas.openxmlformats.org/officeDocument/2006/relationships/image" Target="../media/image109.svg"/><Relationship Id="rId10" Type="http://schemas.openxmlformats.org/officeDocument/2006/relationships/image" Target="../media/image97.svg"/><Relationship Id="rId19" Type="http://schemas.openxmlformats.org/officeDocument/2006/relationships/image" Target="../media/image106.svg"/><Relationship Id="rId4" Type="http://schemas.openxmlformats.org/officeDocument/2006/relationships/image" Target="../media/image91.sv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100.png"/><Relationship Id="rId18" Type="http://schemas.openxmlformats.org/officeDocument/2006/relationships/image" Target="../media/image104.png"/><Relationship Id="rId3" Type="http://schemas.openxmlformats.org/officeDocument/2006/relationships/image" Target="../media/image88.png"/><Relationship Id="rId21" Type="http://schemas.openxmlformats.org/officeDocument/2006/relationships/image" Target="../media/image114.png"/><Relationship Id="rId7" Type="http://schemas.openxmlformats.org/officeDocument/2006/relationships/image" Target="../media/image92.png"/><Relationship Id="rId12" Type="http://schemas.openxmlformats.org/officeDocument/2006/relationships/image" Target="../media/image98.svg"/><Relationship Id="rId17" Type="http://schemas.openxmlformats.org/officeDocument/2006/relationships/image" Target="../media/image113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12.png"/><Relationship Id="rId20" Type="http://schemas.openxmlformats.org/officeDocument/2006/relationships/image" Target="../media/image10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11" Type="http://schemas.openxmlformats.org/officeDocument/2006/relationships/image" Target="../media/image51.png"/><Relationship Id="rId5" Type="http://schemas.openxmlformats.org/officeDocument/2006/relationships/image" Target="../media/image90.png"/><Relationship Id="rId15" Type="http://schemas.openxmlformats.org/officeDocument/2006/relationships/image" Target="../media/image110.png"/><Relationship Id="rId10" Type="http://schemas.openxmlformats.org/officeDocument/2006/relationships/image" Target="../media/image97.svg"/><Relationship Id="rId19" Type="http://schemas.openxmlformats.org/officeDocument/2006/relationships/image" Target="../media/image105.png"/><Relationship Id="rId4" Type="http://schemas.openxmlformats.org/officeDocument/2006/relationships/image" Target="../media/image89.svg"/><Relationship Id="rId9" Type="http://schemas.openxmlformats.org/officeDocument/2006/relationships/image" Target="../media/image96.png"/><Relationship Id="rId14" Type="http://schemas.openxmlformats.org/officeDocument/2006/relationships/image" Target="../media/image11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8.svg"/><Relationship Id="rId18" Type="http://schemas.openxmlformats.org/officeDocument/2006/relationships/image" Target="../media/image113.svg"/><Relationship Id="rId3" Type="http://schemas.openxmlformats.org/officeDocument/2006/relationships/image" Target="../media/image94.png"/><Relationship Id="rId21" Type="http://schemas.openxmlformats.org/officeDocument/2006/relationships/image" Target="../media/image106.svg"/><Relationship Id="rId7" Type="http://schemas.openxmlformats.org/officeDocument/2006/relationships/image" Target="../media/image89.svg"/><Relationship Id="rId12" Type="http://schemas.openxmlformats.org/officeDocument/2006/relationships/image" Target="../media/image51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14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8.png"/><Relationship Id="rId11" Type="http://schemas.openxmlformats.org/officeDocument/2006/relationships/image" Target="../media/image93.svg"/><Relationship Id="rId5" Type="http://schemas.openxmlformats.org/officeDocument/2006/relationships/image" Target="../media/image110.png"/><Relationship Id="rId15" Type="http://schemas.openxmlformats.org/officeDocument/2006/relationships/image" Target="../media/image115.svg"/><Relationship Id="rId10" Type="http://schemas.openxmlformats.org/officeDocument/2006/relationships/image" Target="../media/image92.png"/><Relationship Id="rId19" Type="http://schemas.openxmlformats.org/officeDocument/2006/relationships/image" Target="../media/image104.png"/><Relationship Id="rId4" Type="http://schemas.openxmlformats.org/officeDocument/2006/relationships/image" Target="../media/image95.svg"/><Relationship Id="rId9" Type="http://schemas.openxmlformats.org/officeDocument/2006/relationships/image" Target="../media/image91.svg"/><Relationship Id="rId14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51.png"/><Relationship Id="rId18" Type="http://schemas.openxmlformats.org/officeDocument/2006/relationships/image" Target="../media/image104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svg"/><Relationship Id="rId17" Type="http://schemas.openxmlformats.org/officeDocument/2006/relationships/image" Target="../media/image113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12.png"/><Relationship Id="rId20" Type="http://schemas.openxmlformats.org/officeDocument/2006/relationships/image" Target="../media/image10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14.png"/><Relationship Id="rId10" Type="http://schemas.openxmlformats.org/officeDocument/2006/relationships/image" Target="../media/image95.svg"/><Relationship Id="rId19" Type="http://schemas.openxmlformats.org/officeDocument/2006/relationships/image" Target="../media/image105.png"/><Relationship Id="rId4" Type="http://schemas.openxmlformats.org/officeDocument/2006/relationships/image" Target="../media/image89.svg"/><Relationship Id="rId9" Type="http://schemas.openxmlformats.org/officeDocument/2006/relationships/image" Target="../media/image94.png"/><Relationship Id="rId14" Type="http://schemas.openxmlformats.org/officeDocument/2006/relationships/image" Target="../media/image9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16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svg"/><Relationship Id="rId5" Type="http://schemas.openxmlformats.org/officeDocument/2006/relationships/image" Target="../media/image51.png"/><Relationship Id="rId10" Type="http://schemas.openxmlformats.org/officeDocument/2006/relationships/image" Target="../media/image106.svg"/><Relationship Id="rId4" Type="http://schemas.openxmlformats.org/officeDocument/2006/relationships/image" Target="../media/image117.svg"/><Relationship Id="rId9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microsoft.com/office/2007/relationships/hdphoto" Target="../media/hdphoto2.wd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7.svg"/><Relationship Id="rId9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13" Type="http://schemas.microsoft.com/office/2007/relationships/hdphoto" Target="../media/hdphoto2.wdp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svg"/><Relationship Id="rId11" Type="http://schemas.openxmlformats.org/officeDocument/2006/relationships/image" Target="../media/image119.png"/><Relationship Id="rId5" Type="http://schemas.openxmlformats.org/officeDocument/2006/relationships/image" Target="../media/image124.png"/><Relationship Id="rId15" Type="http://schemas.microsoft.com/office/2007/relationships/hdphoto" Target="../media/hdphoto1.wdp"/><Relationship Id="rId10" Type="http://schemas.openxmlformats.org/officeDocument/2006/relationships/image" Target="../media/image117.svg"/><Relationship Id="rId4" Type="http://schemas.openxmlformats.org/officeDocument/2006/relationships/image" Target="../media/image123.sv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13" Type="http://schemas.openxmlformats.org/officeDocument/2006/relationships/image" Target="../media/image132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sv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svg"/><Relationship Id="rId4" Type="http://schemas.openxmlformats.org/officeDocument/2006/relationships/image" Target="../media/image123.svg"/><Relationship Id="rId9" Type="http://schemas.openxmlformats.org/officeDocument/2006/relationships/image" Target="../media/image128.png"/><Relationship Id="rId14" Type="http://schemas.openxmlformats.org/officeDocument/2006/relationships/image" Target="../media/image13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svg"/><Relationship Id="rId13" Type="http://schemas.openxmlformats.org/officeDocument/2006/relationships/image" Target="../media/image132.png"/><Relationship Id="rId18" Type="http://schemas.openxmlformats.org/officeDocument/2006/relationships/image" Target="../media/image104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1.svg"/><Relationship Id="rId17" Type="http://schemas.openxmlformats.org/officeDocument/2006/relationships/image" Target="../media/image136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35.png"/><Relationship Id="rId20" Type="http://schemas.openxmlformats.org/officeDocument/2006/relationships/image" Target="../media/image10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sv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svg"/><Relationship Id="rId19" Type="http://schemas.openxmlformats.org/officeDocument/2006/relationships/image" Target="../media/image105.png"/><Relationship Id="rId4" Type="http://schemas.openxmlformats.org/officeDocument/2006/relationships/image" Target="../media/image123.svg"/><Relationship Id="rId9" Type="http://schemas.openxmlformats.org/officeDocument/2006/relationships/image" Target="../media/image128.png"/><Relationship Id="rId14" Type="http://schemas.openxmlformats.org/officeDocument/2006/relationships/image" Target="../media/image13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0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0.png"/><Relationship Id="rId5" Type="http://schemas.openxmlformats.org/officeDocument/2006/relationships/image" Target="../media/image139.svg"/><Relationship Id="rId4" Type="http://schemas.openxmlformats.org/officeDocument/2006/relationships/image" Target="../media/image1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37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0.png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9" Type="http://schemas.openxmlformats.org/officeDocument/2006/relationships/image" Target="../media/image10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4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06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145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5" Type="http://schemas.openxmlformats.org/officeDocument/2006/relationships/image" Target="../media/image140.png"/><Relationship Id="rId4" Type="http://schemas.openxmlformats.org/officeDocument/2006/relationships/image" Target="../media/image146.png"/><Relationship Id="rId9" Type="http://schemas.openxmlformats.org/officeDocument/2006/relationships/image" Target="../media/image1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10" Type="http://schemas.openxmlformats.org/officeDocument/2006/relationships/image" Target="../media/image145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52.png"/><Relationship Id="rId7" Type="http://schemas.openxmlformats.org/officeDocument/2006/relationships/image" Target="../media/image155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4.png"/><Relationship Id="rId11" Type="http://schemas.openxmlformats.org/officeDocument/2006/relationships/image" Target="../media/image150.svg"/><Relationship Id="rId5" Type="http://schemas.openxmlformats.org/officeDocument/2006/relationships/image" Target="../media/image145.png"/><Relationship Id="rId10" Type="http://schemas.openxmlformats.org/officeDocument/2006/relationships/image" Target="../media/image149.png"/><Relationship Id="rId4" Type="http://schemas.openxmlformats.org/officeDocument/2006/relationships/image" Target="../media/image153.png"/><Relationship Id="rId9" Type="http://schemas.openxmlformats.org/officeDocument/2006/relationships/image" Target="../media/image1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7" Type="http://schemas.openxmlformats.org/officeDocument/2006/relationships/image" Target="../media/image15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4.png"/><Relationship Id="rId5" Type="http://schemas.openxmlformats.org/officeDocument/2006/relationships/image" Target="../media/image145.png"/><Relationship Id="rId4" Type="http://schemas.openxmlformats.org/officeDocument/2006/relationships/image" Target="../media/image153.png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56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2.png"/><Relationship Id="rId5" Type="http://schemas.openxmlformats.org/officeDocument/2006/relationships/image" Target="../media/image158.svg"/><Relationship Id="rId10" Type="http://schemas.openxmlformats.org/officeDocument/2006/relationships/image" Target="../media/image161.png"/><Relationship Id="rId4" Type="http://schemas.openxmlformats.org/officeDocument/2006/relationships/image" Target="../media/image157.svg"/><Relationship Id="rId9" Type="http://schemas.openxmlformats.org/officeDocument/2006/relationships/image" Target="../media/image160.png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56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2.png"/><Relationship Id="rId5" Type="http://schemas.openxmlformats.org/officeDocument/2006/relationships/image" Target="../media/image158.svg"/><Relationship Id="rId10" Type="http://schemas.openxmlformats.org/officeDocument/2006/relationships/image" Target="../media/image161.png"/><Relationship Id="rId4" Type="http://schemas.openxmlformats.org/officeDocument/2006/relationships/image" Target="../media/image157.svg"/><Relationship Id="rId9" Type="http://schemas.openxmlformats.org/officeDocument/2006/relationships/image" Target="../media/image1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svg"/><Relationship Id="rId3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9.png"/><Relationship Id="rId11" Type="http://schemas.openxmlformats.org/officeDocument/2006/relationships/image" Target="../media/image163.svg"/><Relationship Id="rId5" Type="http://schemas.openxmlformats.org/officeDocument/2006/relationships/image" Target="../media/image152.png"/><Relationship Id="rId10" Type="http://schemas.openxmlformats.org/officeDocument/2006/relationships/image" Target="../media/image162.png"/><Relationship Id="rId4" Type="http://schemas.openxmlformats.org/officeDocument/2006/relationships/image" Target="../media/image58.svg"/><Relationship Id="rId9" Type="http://schemas.openxmlformats.org/officeDocument/2006/relationships/image" Target="../media/image16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svg"/><Relationship Id="rId3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9.png"/><Relationship Id="rId11" Type="http://schemas.openxmlformats.org/officeDocument/2006/relationships/image" Target="../media/image163.svg"/><Relationship Id="rId5" Type="http://schemas.openxmlformats.org/officeDocument/2006/relationships/image" Target="../media/image152.png"/><Relationship Id="rId10" Type="http://schemas.openxmlformats.org/officeDocument/2006/relationships/image" Target="../media/image162.png"/><Relationship Id="rId4" Type="http://schemas.openxmlformats.org/officeDocument/2006/relationships/image" Target="../media/image58.svg"/><Relationship Id="rId9" Type="http://schemas.openxmlformats.org/officeDocument/2006/relationships/image" Target="../media/image1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0.png"/><Relationship Id="rId5" Type="http://schemas.microsoft.com/office/2007/relationships/hdphoto" Target="../media/hdphoto3.wdp"/><Relationship Id="rId4" Type="http://schemas.openxmlformats.org/officeDocument/2006/relationships/image" Target="../media/image1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7.svg"/><Relationship Id="rId4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>
            <a:extLst>
              <a:ext uri="{FF2B5EF4-FFF2-40B4-BE49-F238E27FC236}">
                <a16:creationId xmlns:a16="http://schemas.microsoft.com/office/drawing/2014/main" id="{76170427-A8C9-D3E7-934E-D9F5F560FD57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rgbClr val="FB96A0">
                  <a:alpha val="20000"/>
                </a:srgbClr>
              </a:gs>
              <a:gs pos="0">
                <a:srgbClr val="FB8A95">
                  <a:alpha val="50196"/>
                </a:srgbClr>
              </a:gs>
              <a:gs pos="37000">
                <a:srgbClr val="FBB9BF">
                  <a:alpha val="10196"/>
                </a:srgbClr>
              </a:gs>
              <a:gs pos="100000">
                <a:srgbClr val="FFFFFF">
                  <a:alpha val="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1" name="!!SubTitel">
            <a:extLst>
              <a:ext uri="{FF2B5EF4-FFF2-40B4-BE49-F238E27FC236}">
                <a16:creationId xmlns:a16="http://schemas.microsoft.com/office/drawing/2014/main" id="{63947C97-9F7D-9A56-CC9A-E514376C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318" y="3339791"/>
            <a:ext cx="6673364" cy="1012886"/>
          </a:xfrm>
        </p:spPr>
        <p:txBody>
          <a:bodyPr>
            <a:noAutofit/>
          </a:bodyPr>
          <a:lstStyle/>
          <a:p>
            <a:pPr algn="ctr"/>
            <a:r>
              <a:rPr lang="de-DE" sz="2400" cap="none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Effiziente projektbezogene Ressourcenplanung bei EDAG-Engineering</a:t>
            </a:r>
          </a:p>
        </p:txBody>
      </p:sp>
      <p:sp>
        <p:nvSpPr>
          <p:cNvPr id="10" name="!!Titel">
            <a:extLst>
              <a:ext uri="{FF2B5EF4-FFF2-40B4-BE49-F238E27FC236}">
                <a16:creationId xmlns:a16="http://schemas.microsoft.com/office/drawing/2014/main" id="{02738A00-EE43-D8FF-DAAE-164FEC4D4B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42540" y="2833348"/>
            <a:ext cx="8306918" cy="101288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de-DE" sz="4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</a:t>
            </a:r>
            <a:r>
              <a:rPr lang="de-DE" sz="4800" dirty="0">
                <a:solidFill>
                  <a:schemeClr val="tx1"/>
                </a:solidFill>
              </a:rPr>
              <a:t> Management System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1CC9D7F-8A8D-EA66-2821-FEEBBE58C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652" y="1455909"/>
            <a:ext cx="2386694" cy="590043"/>
          </a:xfrm>
          <a:prstGeom prst="rect">
            <a:avLst/>
          </a:prstGeom>
        </p:spPr>
      </p:pic>
      <p:pic>
        <p:nvPicPr>
          <p:cNvPr id="27" name="Grafik 26" descr="Künstliche Intelligenz mit einfarbiger Füllung">
            <a:extLst>
              <a:ext uri="{FF2B5EF4-FFF2-40B4-BE49-F238E27FC236}">
                <a16:creationId xmlns:a16="http://schemas.microsoft.com/office/drawing/2014/main" id="{9018B432-8831-5730-FE28-143700F49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0501" y="3494315"/>
            <a:ext cx="3695472" cy="3695472"/>
          </a:xfrm>
          <a:prstGeom prst="rect">
            <a:avLst/>
          </a:prstGeom>
        </p:spPr>
      </p:pic>
      <p:pic>
        <p:nvPicPr>
          <p:cNvPr id="33" name="Grafik 32" descr="Bewertung 3 Sterne mit einfarbiger Füllung">
            <a:extLst>
              <a:ext uri="{FF2B5EF4-FFF2-40B4-BE49-F238E27FC236}">
                <a16:creationId xmlns:a16="http://schemas.microsoft.com/office/drawing/2014/main" id="{4944179F-1B44-0756-FFE9-D8F998C52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799" y="1979553"/>
            <a:ext cx="914400" cy="914400"/>
          </a:xfrm>
          <a:prstGeom prst="rect">
            <a:avLst/>
          </a:prstGeom>
        </p:spPr>
      </p:pic>
      <p:pic>
        <p:nvPicPr>
          <p:cNvPr id="3" name="Grafik 2" descr="Folgen mit einfarbiger Füllung">
            <a:extLst>
              <a:ext uri="{FF2B5EF4-FFF2-40B4-BE49-F238E27FC236}">
                <a16:creationId xmlns:a16="http://schemas.microsoft.com/office/drawing/2014/main" id="{99AD9880-0444-EEAC-3698-63D69FD17C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691912" y="0"/>
            <a:ext cx="914400" cy="914400"/>
          </a:xfrm>
          <a:prstGeom prst="rect">
            <a:avLst/>
          </a:prstGeom>
        </p:spPr>
      </p:pic>
      <p:pic>
        <p:nvPicPr>
          <p:cNvPr id="4" name="Grafik 3" descr="Stoppuhr 66% mit einfarbiger Füllung">
            <a:extLst>
              <a:ext uri="{FF2B5EF4-FFF2-40B4-BE49-F238E27FC236}">
                <a16:creationId xmlns:a16="http://schemas.microsoft.com/office/drawing/2014/main" id="{6E8C736F-04FD-B602-DB3D-86862B8840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97615" y="-1786522"/>
            <a:ext cx="914400" cy="914400"/>
          </a:xfrm>
          <a:prstGeom prst="rect">
            <a:avLst/>
          </a:prstGeom>
        </p:spPr>
      </p:pic>
      <p:pic>
        <p:nvPicPr>
          <p:cNvPr id="5" name="Grafik 4" descr="Ordnersuche mit einfarbiger Füllung">
            <a:extLst>
              <a:ext uri="{FF2B5EF4-FFF2-40B4-BE49-F238E27FC236}">
                <a16:creationId xmlns:a16="http://schemas.microsoft.com/office/drawing/2014/main" id="{7F9111A8-A59A-CA87-09A2-BA25954FBC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77600" y="7980964"/>
            <a:ext cx="914400" cy="914400"/>
          </a:xfrm>
          <a:prstGeom prst="rect">
            <a:avLst/>
          </a:prstGeom>
        </p:spPr>
      </p:pic>
      <p:pic>
        <p:nvPicPr>
          <p:cNvPr id="6" name="Grafik 5" descr="Freisprechanlage mit einfarbiger Füllung">
            <a:extLst>
              <a:ext uri="{FF2B5EF4-FFF2-40B4-BE49-F238E27FC236}">
                <a16:creationId xmlns:a16="http://schemas.microsoft.com/office/drawing/2014/main" id="{F00D2E26-74AF-4F8F-7431-CB80AEBD892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47165" y="7168064"/>
            <a:ext cx="914400" cy="914400"/>
          </a:xfrm>
          <a:prstGeom prst="rect">
            <a:avLst/>
          </a:prstGeom>
        </p:spPr>
      </p:pic>
      <p:pic>
        <p:nvPicPr>
          <p:cNvPr id="7" name="Grafik 6" descr="Geld mit einfarbiger Füllung">
            <a:extLst>
              <a:ext uri="{FF2B5EF4-FFF2-40B4-BE49-F238E27FC236}">
                <a16:creationId xmlns:a16="http://schemas.microsoft.com/office/drawing/2014/main" id="{D3800C31-6E80-A1B6-74E6-EA48C4B44D1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44381" y="8438164"/>
            <a:ext cx="914400" cy="914400"/>
          </a:xfrm>
          <a:prstGeom prst="rect">
            <a:avLst/>
          </a:prstGeom>
        </p:spPr>
      </p:pic>
      <p:pic>
        <p:nvPicPr>
          <p:cNvPr id="8" name="Grafik 7" descr="Pfeil Kreis mit einfarbiger Füllung">
            <a:extLst>
              <a:ext uri="{FF2B5EF4-FFF2-40B4-BE49-F238E27FC236}">
                <a16:creationId xmlns:a16="http://schemas.microsoft.com/office/drawing/2014/main" id="{5BFE97EE-5320-0A48-FE63-9C0ED3AA017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5087066" y="5320328"/>
            <a:ext cx="914400" cy="914400"/>
          </a:xfrm>
          <a:prstGeom prst="rect">
            <a:avLst/>
          </a:prstGeom>
        </p:spPr>
      </p:pic>
      <p:pic>
        <p:nvPicPr>
          <p:cNvPr id="9" name="Grafik 8" descr="Untertitel Silhouette">
            <a:extLst>
              <a:ext uri="{FF2B5EF4-FFF2-40B4-BE49-F238E27FC236}">
                <a16:creationId xmlns:a16="http://schemas.microsoft.com/office/drawing/2014/main" id="{D966B07B-30E1-A015-780B-60B01533458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057771" y="-4185299"/>
            <a:ext cx="914400" cy="914400"/>
          </a:xfrm>
          <a:prstGeom prst="rect">
            <a:avLst/>
          </a:prstGeom>
        </p:spPr>
      </p:pic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F337F15F-429E-A118-0BC0-7103F154E672}"/>
              </a:ext>
            </a:extLst>
          </p:cNvPr>
          <p:cNvSpPr txBox="1">
            <a:spLocks/>
          </p:cNvSpPr>
          <p:nvPr/>
        </p:nvSpPr>
        <p:spPr>
          <a:xfrm>
            <a:off x="-7569534" y="3116770"/>
            <a:ext cx="679373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Wer hat die Skills?</a:t>
            </a:r>
          </a:p>
        </p:txBody>
      </p:sp>
    </p:spTree>
    <p:extLst>
      <p:ext uri="{BB962C8B-B14F-4D97-AF65-F5344CB8AC3E}">
        <p14:creationId xmlns:p14="http://schemas.microsoft.com/office/powerpoint/2010/main" val="14246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DF9D-F473-3B8F-0136-190AC245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>
            <a:extLst>
              <a:ext uri="{FF2B5EF4-FFF2-40B4-BE49-F238E27FC236}">
                <a16:creationId xmlns:a16="http://schemas.microsoft.com/office/drawing/2014/main" id="{2499AAE5-5FF1-CA51-4D73-B64A15A4D4F0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rgbClr val="FB96A0">
                  <a:alpha val="20000"/>
                </a:srgbClr>
              </a:gs>
              <a:gs pos="0">
                <a:srgbClr val="FB8A95">
                  <a:alpha val="50196"/>
                </a:srgbClr>
              </a:gs>
              <a:gs pos="37000">
                <a:srgbClr val="FBB9BF">
                  <a:alpha val="10196"/>
                </a:srgbClr>
              </a:gs>
              <a:gs pos="100000">
                <a:srgbClr val="FFFFFF">
                  <a:alpha val="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12" name="Grafik 11" descr="Ein Bild, das Schrift, Screenshot, Grafiken, Logo enthält.">
            <a:extLst>
              <a:ext uri="{FF2B5EF4-FFF2-40B4-BE49-F238E27FC236}">
                <a16:creationId xmlns:a16="http://schemas.microsoft.com/office/drawing/2014/main" id="{A9EAAF16-ECF4-4829-1A5D-D97EE13221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653" y="-6250160"/>
            <a:ext cx="2386694" cy="590044"/>
          </a:xfrm>
          <a:prstGeom prst="rect">
            <a:avLst/>
          </a:prstGeom>
        </p:spPr>
      </p:pic>
      <p:pic>
        <p:nvPicPr>
          <p:cNvPr id="27" name="Grafik 26" descr="Künstliche Intelligenz mit einfarbiger Füllung">
            <a:extLst>
              <a:ext uri="{FF2B5EF4-FFF2-40B4-BE49-F238E27FC236}">
                <a16:creationId xmlns:a16="http://schemas.microsoft.com/office/drawing/2014/main" id="{C4028EDF-CCA8-70D1-67EB-163BD8828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53558" y="11280498"/>
            <a:ext cx="3695472" cy="3695472"/>
          </a:xfrm>
          <a:prstGeom prst="rect">
            <a:avLst/>
          </a:prstGeom>
        </p:spPr>
      </p:pic>
      <p:pic>
        <p:nvPicPr>
          <p:cNvPr id="33" name="Grafik 32" descr="Bewertung 3 Sterne mit einfarbiger Füllung">
            <a:extLst>
              <a:ext uri="{FF2B5EF4-FFF2-40B4-BE49-F238E27FC236}">
                <a16:creationId xmlns:a16="http://schemas.microsoft.com/office/drawing/2014/main" id="{3EAFA1F2-3D22-ECE4-6404-858BF4E4E8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799" y="-5744671"/>
            <a:ext cx="914400" cy="9144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9C0C93-DBED-3758-B60D-9563F3B46377}"/>
              </a:ext>
            </a:extLst>
          </p:cNvPr>
          <p:cNvSpPr txBox="1">
            <a:spLocks/>
          </p:cNvSpPr>
          <p:nvPr/>
        </p:nvSpPr>
        <p:spPr>
          <a:xfrm>
            <a:off x="2699131" y="3116770"/>
            <a:ext cx="679373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Wer hat die Skills?</a:t>
            </a:r>
          </a:p>
        </p:txBody>
      </p:sp>
      <p:pic>
        <p:nvPicPr>
          <p:cNvPr id="7" name="Grafik 6" descr="Stoppuhr 66% mit einfarbiger Füllung">
            <a:extLst>
              <a:ext uri="{FF2B5EF4-FFF2-40B4-BE49-F238E27FC236}">
                <a16:creationId xmlns:a16="http://schemas.microsoft.com/office/drawing/2014/main" id="{1F9F0A3C-5348-9E38-E1FC-652B762347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3115" y="890036"/>
            <a:ext cx="914400" cy="914400"/>
          </a:xfrm>
          <a:prstGeom prst="rect">
            <a:avLst/>
          </a:prstGeom>
        </p:spPr>
      </p:pic>
      <p:pic>
        <p:nvPicPr>
          <p:cNvPr id="9" name="Grafik 8" descr="Geld mit einfarbiger Füllung">
            <a:extLst>
              <a:ext uri="{FF2B5EF4-FFF2-40B4-BE49-F238E27FC236}">
                <a16:creationId xmlns:a16="http://schemas.microsoft.com/office/drawing/2014/main" id="{906B5C97-80C7-BBC9-4DEE-F67652AC9E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88253" y="4133024"/>
            <a:ext cx="914400" cy="914400"/>
          </a:xfrm>
          <a:prstGeom prst="rect">
            <a:avLst/>
          </a:prstGeom>
        </p:spPr>
      </p:pic>
      <p:pic>
        <p:nvPicPr>
          <p:cNvPr id="14" name="Grafik 13" descr="Ordnersuche mit einfarbiger Füllung">
            <a:extLst>
              <a:ext uri="{FF2B5EF4-FFF2-40B4-BE49-F238E27FC236}">
                <a16:creationId xmlns:a16="http://schemas.microsoft.com/office/drawing/2014/main" id="{E97E1ECD-C0CB-5F8D-1E09-5AF5E0F4B6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92001" y="4290707"/>
            <a:ext cx="914400" cy="914400"/>
          </a:xfrm>
          <a:prstGeom prst="rect">
            <a:avLst/>
          </a:prstGeom>
        </p:spPr>
      </p:pic>
      <p:pic>
        <p:nvPicPr>
          <p:cNvPr id="16" name="Grafik 15" descr="Folgen mit einfarbiger Füllung">
            <a:extLst>
              <a:ext uri="{FF2B5EF4-FFF2-40B4-BE49-F238E27FC236}">
                <a16:creationId xmlns:a16="http://schemas.microsoft.com/office/drawing/2014/main" id="{DCD5D8AB-DE49-58F3-B792-EFB0639DAF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7959" y="1773361"/>
            <a:ext cx="914400" cy="914400"/>
          </a:xfrm>
          <a:prstGeom prst="rect">
            <a:avLst/>
          </a:prstGeom>
        </p:spPr>
      </p:pic>
      <p:pic>
        <p:nvPicPr>
          <p:cNvPr id="18" name="Grafik 17" descr="Freisprechanlage mit einfarbiger Füllung">
            <a:extLst>
              <a:ext uri="{FF2B5EF4-FFF2-40B4-BE49-F238E27FC236}">
                <a16:creationId xmlns:a16="http://schemas.microsoft.com/office/drawing/2014/main" id="{D94C3553-3AF6-7CE2-CE1D-C064133FD8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29061" y="5136253"/>
            <a:ext cx="914400" cy="914400"/>
          </a:xfrm>
          <a:prstGeom prst="rect">
            <a:avLst/>
          </a:prstGeom>
        </p:spPr>
      </p:pic>
      <p:pic>
        <p:nvPicPr>
          <p:cNvPr id="20" name="Grafik 19" descr="Untertitel Silhouette">
            <a:extLst>
              <a:ext uri="{FF2B5EF4-FFF2-40B4-BE49-F238E27FC236}">
                <a16:creationId xmlns:a16="http://schemas.microsoft.com/office/drawing/2014/main" id="{CF5C82DE-DA7A-8339-AA8C-4390F1CE0CC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74400" y="1039239"/>
            <a:ext cx="914400" cy="914400"/>
          </a:xfrm>
          <a:prstGeom prst="rect">
            <a:avLst/>
          </a:prstGeom>
        </p:spPr>
      </p:pic>
      <p:pic>
        <p:nvPicPr>
          <p:cNvPr id="22" name="Grafik 21" descr="Pfeil Kreis mit einfarbiger Füllung">
            <a:extLst>
              <a:ext uri="{FF2B5EF4-FFF2-40B4-BE49-F238E27FC236}">
                <a16:creationId xmlns:a16="http://schemas.microsoft.com/office/drawing/2014/main" id="{34E3BFBE-00DF-27E0-B9A1-A6641FF017F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76808" y="4614428"/>
            <a:ext cx="914400" cy="914400"/>
          </a:xfrm>
          <a:prstGeom prst="rect">
            <a:avLst/>
          </a:prstGeom>
        </p:spPr>
      </p:pic>
      <p:pic>
        <p:nvPicPr>
          <p:cNvPr id="24" name="Grafik 23" descr="Ein Bild, das Text, Zahl, Schrift enthält.">
            <a:extLst>
              <a:ext uri="{FF2B5EF4-FFF2-40B4-BE49-F238E27FC236}">
                <a16:creationId xmlns:a16="http://schemas.microsoft.com/office/drawing/2014/main" id="{CF39877C-C3F0-F377-8A4D-D8E54E6E5AD3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7718" y="847528"/>
            <a:ext cx="5162943" cy="5162943"/>
          </a:xfrm>
          <a:prstGeom prst="rect">
            <a:avLst/>
          </a:prstGeom>
        </p:spPr>
      </p:pic>
      <p:sp>
        <p:nvSpPr>
          <p:cNvPr id="15" name="!!SubTitel">
            <a:extLst>
              <a:ext uri="{FF2B5EF4-FFF2-40B4-BE49-F238E27FC236}">
                <a16:creationId xmlns:a16="http://schemas.microsoft.com/office/drawing/2014/main" id="{4046E959-91FE-3287-4488-A14D6C49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725" y="3339791"/>
            <a:ext cx="6673364" cy="1012886"/>
          </a:xfrm>
        </p:spPr>
        <p:txBody>
          <a:bodyPr>
            <a:noAutofit/>
          </a:bodyPr>
          <a:lstStyle/>
          <a:p>
            <a:pPr algn="ctr"/>
            <a:r>
              <a:rPr lang="de-DE" sz="2400" cap="none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Effiziente projektbezogene Ressourcenplanung bei EDAG-Engineering</a:t>
            </a:r>
          </a:p>
        </p:txBody>
      </p:sp>
      <p:sp>
        <p:nvSpPr>
          <p:cNvPr id="17" name="!!Titel">
            <a:extLst>
              <a:ext uri="{FF2B5EF4-FFF2-40B4-BE49-F238E27FC236}">
                <a16:creationId xmlns:a16="http://schemas.microsoft.com/office/drawing/2014/main" id="{EB290654-47E0-3683-1804-E4ECCF15C7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92947" y="2833348"/>
            <a:ext cx="8306918" cy="101288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de-DE" sz="4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</a:t>
            </a:r>
            <a:r>
              <a:rPr lang="de-DE" sz="4800" dirty="0">
                <a:solidFill>
                  <a:schemeClr val="tx1"/>
                </a:solidFill>
              </a:rPr>
              <a:t>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25663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4F77-30F8-A338-7EBB-2ABA261E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>
            <a:extLst>
              <a:ext uri="{FF2B5EF4-FFF2-40B4-BE49-F238E27FC236}">
                <a16:creationId xmlns:a16="http://schemas.microsoft.com/office/drawing/2014/main" id="{5A4CF281-457E-19D4-FD0C-89B910015F5C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rgbClr val="FB96A0">
                  <a:alpha val="20000"/>
                </a:srgbClr>
              </a:gs>
              <a:gs pos="0">
                <a:srgbClr val="FB8A95">
                  <a:alpha val="50196"/>
                </a:srgbClr>
              </a:gs>
              <a:gs pos="37000">
                <a:srgbClr val="FBB9BF">
                  <a:alpha val="10196"/>
                </a:srgbClr>
              </a:gs>
              <a:gs pos="100000">
                <a:srgbClr val="FFFFFF">
                  <a:alpha val="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7" name="Grafik 6" descr="Stoppuhr 66% mit einfarbiger Füllung">
            <a:extLst>
              <a:ext uri="{FF2B5EF4-FFF2-40B4-BE49-F238E27FC236}">
                <a16:creationId xmlns:a16="http://schemas.microsoft.com/office/drawing/2014/main" id="{3EFE469C-37CC-4C49-A4C5-08C9EBA8D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34800" y="-1828800"/>
            <a:ext cx="914400" cy="914400"/>
          </a:xfrm>
          <a:prstGeom prst="rect">
            <a:avLst/>
          </a:prstGeom>
        </p:spPr>
      </p:pic>
      <p:pic>
        <p:nvPicPr>
          <p:cNvPr id="9" name="Grafik 8" descr="Geld mit einfarbiger Füllung">
            <a:extLst>
              <a:ext uri="{FF2B5EF4-FFF2-40B4-BE49-F238E27FC236}">
                <a16:creationId xmlns:a16="http://schemas.microsoft.com/office/drawing/2014/main" id="{6CDCC9A9-63C8-7999-ACD3-15E23E3D8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9453" y="8821500"/>
            <a:ext cx="914400" cy="914400"/>
          </a:xfrm>
          <a:prstGeom prst="rect">
            <a:avLst/>
          </a:prstGeom>
        </p:spPr>
      </p:pic>
      <p:pic>
        <p:nvPicPr>
          <p:cNvPr id="14" name="Grafik 13" descr="Ordnersuche mit einfarbiger Füllung">
            <a:extLst>
              <a:ext uri="{FF2B5EF4-FFF2-40B4-BE49-F238E27FC236}">
                <a16:creationId xmlns:a16="http://schemas.microsoft.com/office/drawing/2014/main" id="{614FFA0B-140E-82DC-9651-82F2D7712F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20901" y="8797393"/>
            <a:ext cx="914400" cy="914400"/>
          </a:xfrm>
          <a:prstGeom prst="rect">
            <a:avLst/>
          </a:prstGeom>
        </p:spPr>
      </p:pic>
      <p:pic>
        <p:nvPicPr>
          <p:cNvPr id="16" name="Grafik 15" descr="Folgen mit einfarbiger Füllung">
            <a:extLst>
              <a:ext uri="{FF2B5EF4-FFF2-40B4-BE49-F238E27FC236}">
                <a16:creationId xmlns:a16="http://schemas.microsoft.com/office/drawing/2014/main" id="{C16D8F12-34F1-652B-2264-7362BDBB7C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-2743200"/>
            <a:ext cx="914400" cy="914400"/>
          </a:xfrm>
          <a:prstGeom prst="rect">
            <a:avLst/>
          </a:prstGeom>
        </p:spPr>
      </p:pic>
      <p:pic>
        <p:nvPicPr>
          <p:cNvPr id="18" name="Grafik 17" descr="Freisprechanlage mit einfarbiger Füllung">
            <a:extLst>
              <a:ext uri="{FF2B5EF4-FFF2-40B4-BE49-F238E27FC236}">
                <a16:creationId xmlns:a16="http://schemas.microsoft.com/office/drawing/2014/main" id="{46DD2291-B022-E28D-23C1-AFD7B6AB7F5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58993" y="7184661"/>
            <a:ext cx="914400" cy="914400"/>
          </a:xfrm>
          <a:prstGeom prst="rect">
            <a:avLst/>
          </a:prstGeom>
        </p:spPr>
      </p:pic>
      <p:pic>
        <p:nvPicPr>
          <p:cNvPr id="20" name="Grafik 19" descr="Untertitel Silhouette">
            <a:extLst>
              <a:ext uri="{FF2B5EF4-FFF2-40B4-BE49-F238E27FC236}">
                <a16:creationId xmlns:a16="http://schemas.microsoft.com/office/drawing/2014/main" id="{3BA19508-6C88-6C1D-264A-3D3C1F0983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0200" y="-2128503"/>
            <a:ext cx="914400" cy="914400"/>
          </a:xfrm>
          <a:prstGeom prst="rect">
            <a:avLst/>
          </a:prstGeom>
        </p:spPr>
      </p:pic>
      <p:pic>
        <p:nvPicPr>
          <p:cNvPr id="22" name="Grafik 21" descr="Pfeil Kreis mit einfarbiger Füllung">
            <a:extLst>
              <a:ext uri="{FF2B5EF4-FFF2-40B4-BE49-F238E27FC236}">
                <a16:creationId xmlns:a16="http://schemas.microsoft.com/office/drawing/2014/main" id="{615045E5-75A8-2E5C-5865-303F87705F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1763490" y="8821500"/>
            <a:ext cx="914400" cy="914400"/>
          </a:xfrm>
          <a:prstGeom prst="rect">
            <a:avLst/>
          </a:prstGeom>
        </p:spPr>
      </p:pic>
      <p:pic>
        <p:nvPicPr>
          <p:cNvPr id="4" name="Grafik 3" descr="Ein Bild, das Text, Zahl, Schrift enthält.">
            <a:extLst>
              <a:ext uri="{FF2B5EF4-FFF2-40B4-BE49-F238E27FC236}">
                <a16:creationId xmlns:a16="http://schemas.microsoft.com/office/drawing/2014/main" id="{CA1C5B52-EB90-8E97-9CB8-8765AAB7D185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47528"/>
            <a:ext cx="5162943" cy="5162943"/>
          </a:xfrm>
          <a:prstGeom prst="rect">
            <a:avLst/>
          </a:prstGeom>
        </p:spPr>
      </p:pic>
      <p:pic>
        <p:nvPicPr>
          <p:cNvPr id="17" name="Grafik 16" descr="Lupe mit einfarbiger Füllung">
            <a:extLst>
              <a:ext uri="{FF2B5EF4-FFF2-40B4-BE49-F238E27FC236}">
                <a16:creationId xmlns:a16="http://schemas.microsoft.com/office/drawing/2014/main" id="{DB128C5C-9FF6-C465-94C8-72C1B75D70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1097" y="520867"/>
            <a:ext cx="1529443" cy="1529443"/>
          </a:xfrm>
          <a:prstGeom prst="rect">
            <a:avLst/>
          </a:prstGeom>
        </p:spPr>
      </p:pic>
      <p:pic>
        <p:nvPicPr>
          <p:cNvPr id="19" name="1209">
            <a:hlinkClick r:id="" action="ppaction://media"/>
            <a:extLst>
              <a:ext uri="{FF2B5EF4-FFF2-40B4-BE49-F238E27FC236}">
                <a16:creationId xmlns:a16="http://schemas.microsoft.com/office/drawing/2014/main" id="{48425434-ED81-C834-0D5E-82A4519B03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rcRect l="9095" t="2296" r="8272" b="4370"/>
          <a:stretch>
            <a:fillRect/>
          </a:stretch>
        </p:blipFill>
        <p:spPr>
          <a:xfrm>
            <a:off x="3873965" y="333178"/>
            <a:ext cx="6401960" cy="4067372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0D0BE081-E2E6-68DF-25D1-FEE92F6C8E8C}"/>
              </a:ext>
            </a:extLst>
          </p:cNvPr>
          <p:cNvSpPr txBox="1">
            <a:spLocks/>
          </p:cNvSpPr>
          <p:nvPr/>
        </p:nvSpPr>
        <p:spPr>
          <a:xfrm>
            <a:off x="12669097" y="3116770"/>
            <a:ext cx="679373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Wer hat die Skills?</a:t>
            </a:r>
          </a:p>
        </p:txBody>
      </p:sp>
    </p:spTree>
    <p:extLst>
      <p:ext uri="{BB962C8B-B14F-4D97-AF65-F5344CB8AC3E}">
        <p14:creationId xmlns:p14="http://schemas.microsoft.com/office/powerpoint/2010/main" val="166427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.25 L 0.18072 0.2449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3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425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4F77-30F8-A338-7EBB-2ABA261E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come">
            <a:hlinkClick r:id="" action="ppaction://media"/>
            <a:extLst>
              <a:ext uri="{FF2B5EF4-FFF2-40B4-BE49-F238E27FC236}">
                <a16:creationId xmlns:a16="http://schemas.microsoft.com/office/drawing/2014/main" id="{5F323AFF-34E1-D420-51E3-064D0972EA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0238" b="6190"/>
          <a:stretch>
            <a:fillRect/>
          </a:stretch>
        </p:blipFill>
        <p:spPr>
          <a:xfrm>
            <a:off x="0" y="563335"/>
            <a:ext cx="12192000" cy="5731329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FDF9BC54-F307-75F8-EDE4-318756806F79}"/>
              </a:ext>
            </a:extLst>
          </p:cNvPr>
          <p:cNvSpPr/>
          <p:nvPr/>
        </p:nvSpPr>
        <p:spPr>
          <a:xfrm>
            <a:off x="-440871" y="-391886"/>
            <a:ext cx="13226142" cy="7690757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997E67D-376D-4AAF-A0D2-161CE92BD58B}"/>
              </a:ext>
            </a:extLst>
          </p:cNvPr>
          <p:cNvSpPr txBox="1">
            <a:spLocks/>
          </p:cNvSpPr>
          <p:nvPr/>
        </p:nvSpPr>
        <p:spPr>
          <a:xfrm>
            <a:off x="4187603" y="3110462"/>
            <a:ext cx="3969194" cy="637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accent1"/>
                </a:solidFill>
              </a:rPr>
              <a:t>2,5 Stunden</a:t>
            </a:r>
          </a:p>
        </p:txBody>
      </p:sp>
      <p:pic>
        <p:nvPicPr>
          <p:cNvPr id="10" name="Grafik 9" descr="Caretzeichen nach unten mit einfarbiger Füllung">
            <a:extLst>
              <a:ext uri="{FF2B5EF4-FFF2-40B4-BE49-F238E27FC236}">
                <a16:creationId xmlns:a16="http://schemas.microsoft.com/office/drawing/2014/main" id="{BAB91AFF-5265-A5B8-5854-B8DD87E26C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32EEEE01-B6B9-0574-26CC-83E0759FA337}"/>
              </a:ext>
            </a:extLst>
          </p:cNvPr>
          <p:cNvSpPr txBox="1">
            <a:spLocks/>
          </p:cNvSpPr>
          <p:nvPr/>
        </p:nvSpPr>
        <p:spPr>
          <a:xfrm>
            <a:off x="4277954" y="3866603"/>
            <a:ext cx="3636092" cy="637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accent1"/>
                </a:solidFill>
              </a:rPr>
              <a:t>15 Minuten</a:t>
            </a:r>
          </a:p>
        </p:txBody>
      </p:sp>
    </p:spTree>
    <p:extLst>
      <p:ext uri="{BB962C8B-B14F-4D97-AF65-F5344CB8AC3E}">
        <p14:creationId xmlns:p14="http://schemas.microsoft.com/office/powerpoint/2010/main" val="330169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118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60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5" grpId="0" animBg="1"/>
      <p:bldP spid="6" grpId="0"/>
      <p:bldP spid="6" grpId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1104DC3E-6E01-6CC6-844F-C6991B0D6D56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3578101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ÜBER MICH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AF82DF-83B9-4F21-557E-F9C6FEDA1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9" r="11139"/>
          <a:stretch/>
        </p:blipFill>
        <p:spPr>
          <a:xfrm>
            <a:off x="647909" y="2116538"/>
            <a:ext cx="2563586" cy="3298371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AD8E3BA-F425-C6ED-C353-AE59190E1CB9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385D70ED-EC09-060D-6385-FEFC4BD4E8AA}"/>
              </a:ext>
            </a:extLst>
          </p:cNvPr>
          <p:cNvSpPr txBox="1">
            <a:spLocks/>
          </p:cNvSpPr>
          <p:nvPr/>
        </p:nvSpPr>
        <p:spPr>
          <a:xfrm>
            <a:off x="3714224" y="2116538"/>
            <a:ext cx="6673364" cy="1012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cap="none" dirty="0">
                <a:solidFill>
                  <a:schemeClr val="tx2"/>
                </a:solidFill>
              </a:rPr>
              <a:t>Marvin Eschenbach, 21 Jahre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cap="none" dirty="0">
                <a:solidFill>
                  <a:schemeClr val="tx2"/>
                </a:solidFill>
              </a:rPr>
              <a:t>Fachinformatiker für Anwendungsentwicklung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63848A4-C60A-D9D0-741C-D853855D7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4224" y="3765723"/>
            <a:ext cx="2386694" cy="590043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864BE044-B4E4-8C16-911E-3DAC5033CD8A}"/>
              </a:ext>
            </a:extLst>
          </p:cNvPr>
          <p:cNvSpPr txBox="1">
            <a:spLocks/>
          </p:cNvSpPr>
          <p:nvPr/>
        </p:nvSpPr>
        <p:spPr>
          <a:xfrm>
            <a:off x="6603647" y="3765723"/>
            <a:ext cx="3783941" cy="11872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cap="none" dirty="0">
                <a:solidFill>
                  <a:schemeClr val="tx2"/>
                </a:solidFill>
              </a:rPr>
              <a:t>Standort Fulda: Elektrik/Elektronik (EE)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cap="none" dirty="0">
                <a:solidFill>
                  <a:schemeClr val="tx2"/>
                </a:solidFill>
              </a:rPr>
              <a:t>Mobility IT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F561CC3-08E4-48C9-9DB3-BE5AA002DA2D}"/>
              </a:ext>
            </a:extLst>
          </p:cNvPr>
          <p:cNvSpPr txBox="1"/>
          <p:nvPr/>
        </p:nvSpPr>
        <p:spPr>
          <a:xfrm>
            <a:off x="735138" y="-1948686"/>
            <a:ext cx="27436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Einleitung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CA82089-DECB-AAAE-CCDE-2958BFAA6F84}"/>
              </a:ext>
            </a:extLst>
          </p:cNvPr>
          <p:cNvSpPr txBox="1"/>
          <p:nvPr/>
        </p:nvSpPr>
        <p:spPr>
          <a:xfrm>
            <a:off x="6649708" y="-8555118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407E21F-AEB9-3252-C766-59278351AA96}"/>
              </a:ext>
            </a:extLst>
          </p:cNvPr>
          <p:cNvSpPr txBox="1"/>
          <p:nvPr/>
        </p:nvSpPr>
        <p:spPr>
          <a:xfrm>
            <a:off x="2383011" y="11167304"/>
            <a:ext cx="287194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Projektkontext &amp; Ziele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6DEF5E8-AE57-07F2-F12F-C76C83B1D7E2}"/>
              </a:ext>
            </a:extLst>
          </p:cNvPr>
          <p:cNvSpPr txBox="1"/>
          <p:nvPr/>
        </p:nvSpPr>
        <p:spPr>
          <a:xfrm>
            <a:off x="5024329" y="15646084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7C5B18D-D940-4BAF-AA19-CE7BEDA946CD}"/>
              </a:ext>
            </a:extLst>
          </p:cNvPr>
          <p:cNvSpPr txBox="1"/>
          <p:nvPr/>
        </p:nvSpPr>
        <p:spPr>
          <a:xfrm>
            <a:off x="8367159" y="19336139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26FA497-3FB8-97B7-4518-5F85E07D73EF}"/>
              </a:ext>
            </a:extLst>
          </p:cNvPr>
          <p:cNvGrpSpPr/>
          <p:nvPr/>
        </p:nvGrpSpPr>
        <p:grpSpPr>
          <a:xfrm>
            <a:off x="-21732357" y="2833735"/>
            <a:ext cx="10276741" cy="2170351"/>
            <a:chOff x="1834869" y="2833735"/>
            <a:chExt cx="8522259" cy="2170351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FD6EF26F-24A9-D461-A75F-FDB04BD1B913}"/>
                </a:ext>
              </a:extLst>
            </p:cNvPr>
            <p:cNvGrpSpPr/>
            <p:nvPr/>
          </p:nvGrpSpPr>
          <p:grpSpPr>
            <a:xfrm>
              <a:off x="1834869" y="3664455"/>
              <a:ext cx="8522259" cy="504259"/>
              <a:chOff x="1731434" y="3172321"/>
              <a:chExt cx="8522259" cy="504259"/>
            </a:xfrm>
          </p:grpSpPr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E9519330-E3D9-579F-9FFE-EA303148A76A}"/>
                  </a:ext>
                </a:extLst>
              </p:cNvPr>
              <p:cNvGrpSpPr/>
              <p:nvPr/>
            </p:nvGrpSpPr>
            <p:grpSpPr>
              <a:xfrm>
                <a:off x="1731434" y="3175408"/>
                <a:ext cx="1576976" cy="501172"/>
                <a:chOff x="756259" y="3178414"/>
                <a:chExt cx="2723602" cy="501172"/>
              </a:xfrm>
            </p:grpSpPr>
            <p:sp>
              <p:nvSpPr>
                <p:cNvPr id="42" name="Rechteck 41">
                  <a:extLst>
                    <a:ext uri="{FF2B5EF4-FFF2-40B4-BE49-F238E27FC236}">
                      <a16:creationId xmlns:a16="http://schemas.microsoft.com/office/drawing/2014/main" id="{1D43F4B9-E8A7-BA3F-03FB-1E9AFB99CB72}"/>
                    </a:ext>
                  </a:extLst>
                </p:cNvPr>
                <p:cNvSpPr/>
                <p:nvPr/>
              </p:nvSpPr>
              <p:spPr>
                <a:xfrm>
                  <a:off x="1243175" y="3178414"/>
                  <a:ext cx="2236686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89DCA6EF-23C7-CEA5-4B76-83540A540909}"/>
                    </a:ext>
                  </a:extLst>
                </p:cNvPr>
                <p:cNvSpPr/>
                <p:nvPr/>
              </p:nvSpPr>
              <p:spPr>
                <a:xfrm>
                  <a:off x="756259" y="3178414"/>
                  <a:ext cx="842518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F295C01-EDF2-4009-1F94-05956A11A139}"/>
                  </a:ext>
                </a:extLst>
              </p:cNvPr>
              <p:cNvSpPr/>
              <p:nvPr/>
            </p:nvSpPr>
            <p:spPr>
              <a:xfrm>
                <a:off x="3355893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B6C71AC6-B67D-A7D4-33C1-C036E5D5AE94}"/>
                  </a:ext>
                </a:extLst>
              </p:cNvPr>
              <p:cNvSpPr/>
              <p:nvPr/>
            </p:nvSpPr>
            <p:spPr>
              <a:xfrm>
                <a:off x="4698426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EB8C42C9-308A-D1B8-40DB-B7D13FCF272A}"/>
                  </a:ext>
                </a:extLst>
              </p:cNvPr>
              <p:cNvSpPr/>
              <p:nvPr/>
            </p:nvSpPr>
            <p:spPr>
              <a:xfrm>
                <a:off x="6040959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3AD2034F-07C5-F9FA-AD70-A7A7D00B9EC1}"/>
                  </a:ext>
                </a:extLst>
              </p:cNvPr>
              <p:cNvSpPr/>
              <p:nvPr/>
            </p:nvSpPr>
            <p:spPr>
              <a:xfrm>
                <a:off x="7383492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9" name="Gruppieren 38">
                <a:extLst>
                  <a:ext uri="{FF2B5EF4-FFF2-40B4-BE49-F238E27FC236}">
                    <a16:creationId xmlns:a16="http://schemas.microsoft.com/office/drawing/2014/main" id="{468281CE-88C0-0C4F-515D-481EE010B1EF}"/>
                  </a:ext>
                </a:extLst>
              </p:cNvPr>
              <p:cNvGrpSpPr/>
              <p:nvPr/>
            </p:nvGrpSpPr>
            <p:grpSpPr>
              <a:xfrm>
                <a:off x="8726025" y="3172321"/>
                <a:ext cx="1527668" cy="501172"/>
                <a:chOff x="7756613" y="3182906"/>
                <a:chExt cx="1527668" cy="501172"/>
              </a:xfrm>
            </p:grpSpPr>
            <p:sp>
              <p:nvSpPr>
                <p:cNvPr id="40" name="Rechteck 39">
                  <a:extLst>
                    <a:ext uri="{FF2B5EF4-FFF2-40B4-BE49-F238E27FC236}">
                      <a16:creationId xmlns:a16="http://schemas.microsoft.com/office/drawing/2014/main" id="{026DCC39-492A-F443-D19E-7A13263A50F1}"/>
                    </a:ext>
                  </a:extLst>
                </p:cNvPr>
                <p:cNvSpPr/>
                <p:nvPr/>
              </p:nvSpPr>
              <p:spPr>
                <a:xfrm>
                  <a:off x="7756613" y="3182906"/>
                  <a:ext cx="1295050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" name="Ellipse 40">
                  <a:extLst>
                    <a:ext uri="{FF2B5EF4-FFF2-40B4-BE49-F238E27FC236}">
                      <a16:creationId xmlns:a16="http://schemas.microsoft.com/office/drawing/2014/main" id="{4B6E3B99-8939-3BB0-CB3F-731A4FDB8657}"/>
                    </a:ext>
                  </a:extLst>
                </p:cNvPr>
                <p:cNvSpPr/>
                <p:nvPr/>
              </p:nvSpPr>
              <p:spPr>
                <a:xfrm>
                  <a:off x="8796460" y="3184409"/>
                  <a:ext cx="487821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2" name="Gleichschenkliges Dreieck 21">
              <a:extLst>
                <a:ext uri="{FF2B5EF4-FFF2-40B4-BE49-F238E27FC236}">
                  <a16:creationId xmlns:a16="http://schemas.microsoft.com/office/drawing/2014/main" id="{F9F38C09-9AC8-3A55-245B-728FF694958B}"/>
                </a:ext>
              </a:extLst>
            </p:cNvPr>
            <p:cNvSpPr/>
            <p:nvPr/>
          </p:nvSpPr>
          <p:spPr>
            <a:xfrm>
              <a:off x="2505128" y="3421508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3" name="Gleichschenkliges Dreieck 22">
              <a:extLst>
                <a:ext uri="{FF2B5EF4-FFF2-40B4-BE49-F238E27FC236}">
                  <a16:creationId xmlns:a16="http://schemas.microsoft.com/office/drawing/2014/main" id="{56954538-63E6-BC05-1908-C15ADD5994DD}"/>
                </a:ext>
              </a:extLst>
            </p:cNvPr>
            <p:cNvSpPr/>
            <p:nvPr/>
          </p:nvSpPr>
          <p:spPr>
            <a:xfrm>
              <a:off x="5277603" y="3429000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4" name="Gleichschenkliges Dreieck 23">
              <a:extLst>
                <a:ext uri="{FF2B5EF4-FFF2-40B4-BE49-F238E27FC236}">
                  <a16:creationId xmlns:a16="http://schemas.microsoft.com/office/drawing/2014/main" id="{09F9E8EF-00A7-EECB-BDEE-EE3AEE14E8E3}"/>
                </a:ext>
              </a:extLst>
            </p:cNvPr>
            <p:cNvSpPr/>
            <p:nvPr/>
          </p:nvSpPr>
          <p:spPr>
            <a:xfrm>
              <a:off x="7956970" y="341100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Gleichschenkliges Dreieck 24">
              <a:extLst>
                <a:ext uri="{FF2B5EF4-FFF2-40B4-BE49-F238E27FC236}">
                  <a16:creationId xmlns:a16="http://schemas.microsoft.com/office/drawing/2014/main" id="{02E3CD4F-6797-4F15-C942-96A3183F8A8E}"/>
                </a:ext>
              </a:extLst>
            </p:cNvPr>
            <p:cNvSpPr/>
            <p:nvPr/>
          </p:nvSpPr>
          <p:spPr>
            <a:xfrm rot="10800000">
              <a:off x="3925783" y="416412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Gleichschenkliges Dreieck 25">
              <a:extLst>
                <a:ext uri="{FF2B5EF4-FFF2-40B4-BE49-F238E27FC236}">
                  <a16:creationId xmlns:a16="http://schemas.microsoft.com/office/drawing/2014/main" id="{03DC7185-A683-06F1-1962-BDEEA4FA8EDD}"/>
                </a:ext>
              </a:extLst>
            </p:cNvPr>
            <p:cNvSpPr/>
            <p:nvPr/>
          </p:nvSpPr>
          <p:spPr>
            <a:xfrm rot="10800000">
              <a:off x="6610849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7" name="Gleichschenkliges Dreieck 26">
              <a:extLst>
                <a:ext uri="{FF2B5EF4-FFF2-40B4-BE49-F238E27FC236}">
                  <a16:creationId xmlns:a16="http://schemas.microsoft.com/office/drawing/2014/main" id="{F07B15FA-688F-B346-3406-012ECE386610}"/>
                </a:ext>
              </a:extLst>
            </p:cNvPr>
            <p:cNvSpPr/>
            <p:nvPr/>
          </p:nvSpPr>
          <p:spPr>
            <a:xfrm rot="10800000">
              <a:off x="9377625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FA6EF775-5125-1953-7356-2BC63D146884}"/>
                </a:ext>
              </a:extLst>
            </p:cNvPr>
            <p:cNvCxnSpPr/>
            <p:nvPr/>
          </p:nvCxnSpPr>
          <p:spPr>
            <a:xfrm>
              <a:off x="2683515" y="2833735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494E0ED0-CC9C-80BD-E54A-97FC4089BE86}"/>
                </a:ext>
              </a:extLst>
            </p:cNvPr>
            <p:cNvCxnSpPr/>
            <p:nvPr/>
          </p:nvCxnSpPr>
          <p:spPr>
            <a:xfrm>
              <a:off x="5449386" y="286391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EC74A71C-49A7-2EB1-E853-F7DB49F18C5D}"/>
                </a:ext>
              </a:extLst>
            </p:cNvPr>
            <p:cNvCxnSpPr/>
            <p:nvPr/>
          </p:nvCxnSpPr>
          <p:spPr>
            <a:xfrm>
              <a:off x="8134452" y="2839770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40871887-DFD6-2EE4-B1FE-5EAEC60647C9}"/>
                </a:ext>
              </a:extLst>
            </p:cNvPr>
            <p:cNvCxnSpPr/>
            <p:nvPr/>
          </p:nvCxnSpPr>
          <p:spPr>
            <a:xfrm>
              <a:off x="4103431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F8A75A3D-9848-2092-9CAF-092E4B80B4D8}"/>
                </a:ext>
              </a:extLst>
            </p:cNvPr>
            <p:cNvCxnSpPr/>
            <p:nvPr/>
          </p:nvCxnSpPr>
          <p:spPr>
            <a:xfrm>
              <a:off x="6791918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A9D336B0-2919-994B-E722-8B3952891AC7}"/>
                </a:ext>
              </a:extLst>
            </p:cNvPr>
            <p:cNvCxnSpPr/>
            <p:nvPr/>
          </p:nvCxnSpPr>
          <p:spPr>
            <a:xfrm>
              <a:off x="9558694" y="457857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feld 43">
            <a:extLst>
              <a:ext uri="{FF2B5EF4-FFF2-40B4-BE49-F238E27FC236}">
                <a16:creationId xmlns:a16="http://schemas.microsoft.com/office/drawing/2014/main" id="{BE65DA9B-FA24-42BB-8F44-6C34C3EB72FD}"/>
              </a:ext>
            </a:extLst>
          </p:cNvPr>
          <p:cNvSpPr txBox="1"/>
          <p:nvPr/>
        </p:nvSpPr>
        <p:spPr>
          <a:xfrm>
            <a:off x="-21630043" y="3697793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037FE17B-318E-7E94-301C-28BAD886001B}"/>
              </a:ext>
            </a:extLst>
          </p:cNvPr>
          <p:cNvSpPr txBox="1"/>
          <p:nvPr/>
        </p:nvSpPr>
        <p:spPr>
          <a:xfrm>
            <a:off x="-19896423" y="3707775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7202D0B-E58A-AFDC-41CA-B1CBC507B44A}"/>
              </a:ext>
            </a:extLst>
          </p:cNvPr>
          <p:cNvSpPr txBox="1"/>
          <p:nvPr/>
        </p:nvSpPr>
        <p:spPr>
          <a:xfrm>
            <a:off x="-18262178" y="3699536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4DEC1B0-2804-1880-1598-3D4BDEAB1139}"/>
              </a:ext>
            </a:extLst>
          </p:cNvPr>
          <p:cNvSpPr txBox="1"/>
          <p:nvPr/>
        </p:nvSpPr>
        <p:spPr>
          <a:xfrm>
            <a:off x="-16660912" y="3699699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052F165-1CA3-72A1-C4EE-5591A6AE3F03}"/>
              </a:ext>
            </a:extLst>
          </p:cNvPr>
          <p:cNvSpPr txBox="1"/>
          <p:nvPr/>
        </p:nvSpPr>
        <p:spPr>
          <a:xfrm>
            <a:off x="-15018568" y="3701754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F8AAA8D-9380-49FE-EF11-CB75CAF6461B}"/>
              </a:ext>
            </a:extLst>
          </p:cNvPr>
          <p:cNvSpPr txBox="1"/>
          <p:nvPr/>
        </p:nvSpPr>
        <p:spPr>
          <a:xfrm>
            <a:off x="-13318082" y="3711938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25A1366-2A16-F1C9-5F0A-4E4274338CC6}"/>
              </a:ext>
            </a:extLst>
          </p:cNvPr>
          <p:cNvSpPr txBox="1"/>
          <p:nvPr/>
        </p:nvSpPr>
        <p:spPr>
          <a:xfrm>
            <a:off x="4013502" y="-5599739"/>
            <a:ext cx="28570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Architektur &amp; Technologien</a:t>
            </a:r>
          </a:p>
        </p:txBody>
      </p:sp>
    </p:spTree>
    <p:extLst>
      <p:ext uri="{BB962C8B-B14F-4D97-AF65-F5344CB8AC3E}">
        <p14:creationId xmlns:p14="http://schemas.microsoft.com/office/powerpoint/2010/main" val="138128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0190-EC4D-B6FF-4D15-5F0E6A88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63F2852C-23F5-3412-631D-267D801791B8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3578101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39A4883-306C-BBBA-0AA6-011BE33485DE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75BDAC4-0B88-9518-9D3B-DDC707542893}"/>
              </a:ext>
            </a:extLst>
          </p:cNvPr>
          <p:cNvGrpSpPr/>
          <p:nvPr/>
        </p:nvGrpSpPr>
        <p:grpSpPr>
          <a:xfrm>
            <a:off x="1083391" y="2833735"/>
            <a:ext cx="10276741" cy="2170351"/>
            <a:chOff x="1834869" y="2833735"/>
            <a:chExt cx="8522259" cy="2170351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B317AEB3-0799-12D5-9C47-199557E33FA4}"/>
                </a:ext>
              </a:extLst>
            </p:cNvPr>
            <p:cNvGrpSpPr/>
            <p:nvPr/>
          </p:nvGrpSpPr>
          <p:grpSpPr>
            <a:xfrm>
              <a:off x="1834869" y="3664455"/>
              <a:ext cx="8522259" cy="504259"/>
              <a:chOff x="1731434" y="3172321"/>
              <a:chExt cx="8522259" cy="504259"/>
            </a:xfrm>
          </p:grpSpPr>
          <p:grpSp>
            <p:nvGrpSpPr>
              <p:cNvPr id="46" name="Gruppieren 45">
                <a:extLst>
                  <a:ext uri="{FF2B5EF4-FFF2-40B4-BE49-F238E27FC236}">
                    <a16:creationId xmlns:a16="http://schemas.microsoft.com/office/drawing/2014/main" id="{4CCB582A-C6CA-A335-0652-2834F3FEE665}"/>
                  </a:ext>
                </a:extLst>
              </p:cNvPr>
              <p:cNvGrpSpPr/>
              <p:nvPr/>
            </p:nvGrpSpPr>
            <p:grpSpPr>
              <a:xfrm>
                <a:off x="1731434" y="3175408"/>
                <a:ext cx="1576976" cy="501172"/>
                <a:chOff x="756259" y="3178414"/>
                <a:chExt cx="2723602" cy="501172"/>
              </a:xfrm>
            </p:grpSpPr>
            <p:sp>
              <p:nvSpPr>
                <p:cNvPr id="54" name="Rechteck 53">
                  <a:extLst>
                    <a:ext uri="{FF2B5EF4-FFF2-40B4-BE49-F238E27FC236}">
                      <a16:creationId xmlns:a16="http://schemas.microsoft.com/office/drawing/2014/main" id="{684ED35D-F588-641D-E105-006A170FF8FB}"/>
                    </a:ext>
                  </a:extLst>
                </p:cNvPr>
                <p:cNvSpPr/>
                <p:nvPr/>
              </p:nvSpPr>
              <p:spPr>
                <a:xfrm>
                  <a:off x="1243175" y="3178414"/>
                  <a:ext cx="2236686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5BC62479-2CE4-29A9-272F-3EAF9854666F}"/>
                    </a:ext>
                  </a:extLst>
                </p:cNvPr>
                <p:cNvSpPr/>
                <p:nvPr/>
              </p:nvSpPr>
              <p:spPr>
                <a:xfrm>
                  <a:off x="756259" y="3178414"/>
                  <a:ext cx="842518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E7DD54C-BE85-DE1A-3605-4ED78A956B07}"/>
                  </a:ext>
                </a:extLst>
              </p:cNvPr>
              <p:cNvSpPr/>
              <p:nvPr/>
            </p:nvSpPr>
            <p:spPr>
              <a:xfrm>
                <a:off x="3355893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6672AF62-C0C0-540F-848E-71D3098E4959}"/>
                  </a:ext>
                </a:extLst>
              </p:cNvPr>
              <p:cNvSpPr/>
              <p:nvPr/>
            </p:nvSpPr>
            <p:spPr>
              <a:xfrm>
                <a:off x="4698426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F4CCB2EC-8784-6CA8-F17A-73678FB1115B}"/>
                  </a:ext>
                </a:extLst>
              </p:cNvPr>
              <p:cNvSpPr/>
              <p:nvPr/>
            </p:nvSpPr>
            <p:spPr>
              <a:xfrm>
                <a:off x="6040959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EBEAC780-F7DF-B573-E6D1-7D4B7B53A652}"/>
                  </a:ext>
                </a:extLst>
              </p:cNvPr>
              <p:cNvSpPr/>
              <p:nvPr/>
            </p:nvSpPr>
            <p:spPr>
              <a:xfrm>
                <a:off x="7383492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51" name="Gruppieren 50">
                <a:extLst>
                  <a:ext uri="{FF2B5EF4-FFF2-40B4-BE49-F238E27FC236}">
                    <a16:creationId xmlns:a16="http://schemas.microsoft.com/office/drawing/2014/main" id="{A654D2D0-7E65-E303-0014-10B0A69F0910}"/>
                  </a:ext>
                </a:extLst>
              </p:cNvPr>
              <p:cNvGrpSpPr/>
              <p:nvPr/>
            </p:nvGrpSpPr>
            <p:grpSpPr>
              <a:xfrm>
                <a:off x="8726025" y="3172321"/>
                <a:ext cx="1527668" cy="501172"/>
                <a:chOff x="7756613" y="3182906"/>
                <a:chExt cx="1527668" cy="501172"/>
              </a:xfrm>
            </p:grpSpPr>
            <p:sp>
              <p:nvSpPr>
                <p:cNvPr id="52" name="Rechteck 51">
                  <a:extLst>
                    <a:ext uri="{FF2B5EF4-FFF2-40B4-BE49-F238E27FC236}">
                      <a16:creationId xmlns:a16="http://schemas.microsoft.com/office/drawing/2014/main" id="{0FA4E27B-4179-830C-DBF6-C7E37A7BC559}"/>
                    </a:ext>
                  </a:extLst>
                </p:cNvPr>
                <p:cNvSpPr/>
                <p:nvPr/>
              </p:nvSpPr>
              <p:spPr>
                <a:xfrm>
                  <a:off x="7756613" y="3182906"/>
                  <a:ext cx="1295050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53FFEF3D-437B-EAC5-507C-7977E93B0161}"/>
                    </a:ext>
                  </a:extLst>
                </p:cNvPr>
                <p:cNvSpPr/>
                <p:nvPr/>
              </p:nvSpPr>
              <p:spPr>
                <a:xfrm>
                  <a:off x="8796460" y="3184409"/>
                  <a:ext cx="487821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34" name="Gleichschenkliges Dreieck 33">
              <a:extLst>
                <a:ext uri="{FF2B5EF4-FFF2-40B4-BE49-F238E27FC236}">
                  <a16:creationId xmlns:a16="http://schemas.microsoft.com/office/drawing/2014/main" id="{BE3E5957-4077-B644-7482-DA7CA80ABDB3}"/>
                </a:ext>
              </a:extLst>
            </p:cNvPr>
            <p:cNvSpPr/>
            <p:nvPr/>
          </p:nvSpPr>
          <p:spPr>
            <a:xfrm>
              <a:off x="2505128" y="3421508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5" name="Gleichschenkliges Dreieck 34">
              <a:extLst>
                <a:ext uri="{FF2B5EF4-FFF2-40B4-BE49-F238E27FC236}">
                  <a16:creationId xmlns:a16="http://schemas.microsoft.com/office/drawing/2014/main" id="{C86C9327-209E-A48A-3139-92195887D444}"/>
                </a:ext>
              </a:extLst>
            </p:cNvPr>
            <p:cNvSpPr/>
            <p:nvPr/>
          </p:nvSpPr>
          <p:spPr>
            <a:xfrm>
              <a:off x="5277603" y="3429000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Gleichschenkliges Dreieck 35">
              <a:extLst>
                <a:ext uri="{FF2B5EF4-FFF2-40B4-BE49-F238E27FC236}">
                  <a16:creationId xmlns:a16="http://schemas.microsoft.com/office/drawing/2014/main" id="{D4470E61-8BA1-6466-C022-014D4466A287}"/>
                </a:ext>
              </a:extLst>
            </p:cNvPr>
            <p:cNvSpPr/>
            <p:nvPr/>
          </p:nvSpPr>
          <p:spPr>
            <a:xfrm>
              <a:off x="7956970" y="341100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7" name="Gleichschenkliges Dreieck 36">
              <a:extLst>
                <a:ext uri="{FF2B5EF4-FFF2-40B4-BE49-F238E27FC236}">
                  <a16:creationId xmlns:a16="http://schemas.microsoft.com/office/drawing/2014/main" id="{7B5138A0-4C96-0550-831C-ED4C50CFCC5D}"/>
                </a:ext>
              </a:extLst>
            </p:cNvPr>
            <p:cNvSpPr/>
            <p:nvPr/>
          </p:nvSpPr>
          <p:spPr>
            <a:xfrm rot="10800000">
              <a:off x="3925783" y="416412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Gleichschenkliges Dreieck 37">
              <a:extLst>
                <a:ext uri="{FF2B5EF4-FFF2-40B4-BE49-F238E27FC236}">
                  <a16:creationId xmlns:a16="http://schemas.microsoft.com/office/drawing/2014/main" id="{1559913E-1794-E3A2-7A96-12B6E9F3B893}"/>
                </a:ext>
              </a:extLst>
            </p:cNvPr>
            <p:cNvSpPr/>
            <p:nvPr/>
          </p:nvSpPr>
          <p:spPr>
            <a:xfrm rot="10800000">
              <a:off x="6610849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9" name="Gleichschenkliges Dreieck 38">
              <a:extLst>
                <a:ext uri="{FF2B5EF4-FFF2-40B4-BE49-F238E27FC236}">
                  <a16:creationId xmlns:a16="http://schemas.microsoft.com/office/drawing/2014/main" id="{539E87EB-A5F4-F9A6-FFF0-7C217EF3DE19}"/>
                </a:ext>
              </a:extLst>
            </p:cNvPr>
            <p:cNvSpPr/>
            <p:nvPr/>
          </p:nvSpPr>
          <p:spPr>
            <a:xfrm rot="10800000">
              <a:off x="9377625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0930FC3-2AE3-173E-9B77-B32E80B7CD94}"/>
                </a:ext>
              </a:extLst>
            </p:cNvPr>
            <p:cNvCxnSpPr/>
            <p:nvPr/>
          </p:nvCxnSpPr>
          <p:spPr>
            <a:xfrm>
              <a:off x="2683515" y="2833735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73801831-699A-9DE9-F303-956DEF53FF9F}"/>
                </a:ext>
              </a:extLst>
            </p:cNvPr>
            <p:cNvCxnSpPr/>
            <p:nvPr/>
          </p:nvCxnSpPr>
          <p:spPr>
            <a:xfrm>
              <a:off x="5449386" y="286391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F6AF5C93-D856-5CD2-30DA-CDA4F70AB70E}"/>
                </a:ext>
              </a:extLst>
            </p:cNvPr>
            <p:cNvCxnSpPr/>
            <p:nvPr/>
          </p:nvCxnSpPr>
          <p:spPr>
            <a:xfrm>
              <a:off x="8134452" y="2839770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A7AECE52-4CCE-76DB-544D-9AF7B76441A8}"/>
                </a:ext>
              </a:extLst>
            </p:cNvPr>
            <p:cNvCxnSpPr/>
            <p:nvPr/>
          </p:nvCxnSpPr>
          <p:spPr>
            <a:xfrm>
              <a:off x="4103431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916C04A6-07B9-80C9-F6E9-64F66672D482}"/>
                </a:ext>
              </a:extLst>
            </p:cNvPr>
            <p:cNvCxnSpPr/>
            <p:nvPr/>
          </p:nvCxnSpPr>
          <p:spPr>
            <a:xfrm>
              <a:off x="6791918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B7BD01EA-8045-9E74-0E52-DAAEB951ED2D}"/>
                </a:ext>
              </a:extLst>
            </p:cNvPr>
            <p:cNvCxnSpPr/>
            <p:nvPr/>
          </p:nvCxnSpPr>
          <p:spPr>
            <a:xfrm>
              <a:off x="9558694" y="457857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D11A15C8-74D4-34A7-5314-23161BAA2B52}"/>
              </a:ext>
            </a:extLst>
          </p:cNvPr>
          <p:cNvSpPr txBox="1"/>
          <p:nvPr/>
        </p:nvSpPr>
        <p:spPr>
          <a:xfrm>
            <a:off x="735138" y="2495906"/>
            <a:ext cx="27436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Einleitung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F45CD9A0-06C6-A4FF-57A0-688BFE4E5B9D}"/>
              </a:ext>
            </a:extLst>
          </p:cNvPr>
          <p:cNvSpPr txBox="1"/>
          <p:nvPr/>
        </p:nvSpPr>
        <p:spPr>
          <a:xfrm>
            <a:off x="2388556" y="5084634"/>
            <a:ext cx="287194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Projektkontext &amp; Ziele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4AD7C2F-42CD-986F-8D26-2CEF0EA18F6E}"/>
              </a:ext>
            </a:extLst>
          </p:cNvPr>
          <p:cNvSpPr txBox="1"/>
          <p:nvPr/>
        </p:nvSpPr>
        <p:spPr>
          <a:xfrm>
            <a:off x="4013502" y="2219065"/>
            <a:ext cx="28570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Architektur &amp; Technologien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EAB804F3-0DC2-CE3B-F2B5-61B71DF214DD}"/>
              </a:ext>
            </a:extLst>
          </p:cNvPr>
          <p:cNvSpPr txBox="1"/>
          <p:nvPr/>
        </p:nvSpPr>
        <p:spPr>
          <a:xfrm>
            <a:off x="5024329" y="5051567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5FFBC525-867A-73EC-B373-0D7BC4570BC7}"/>
              </a:ext>
            </a:extLst>
          </p:cNvPr>
          <p:cNvSpPr txBox="1"/>
          <p:nvPr/>
        </p:nvSpPr>
        <p:spPr>
          <a:xfrm>
            <a:off x="6649708" y="2507307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F3C9FE40-589C-7C2B-B81E-518EC5B8A465}"/>
              </a:ext>
            </a:extLst>
          </p:cNvPr>
          <p:cNvSpPr txBox="1"/>
          <p:nvPr/>
        </p:nvSpPr>
        <p:spPr>
          <a:xfrm>
            <a:off x="8268629" y="5057384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E09B49F-56D3-19C3-2BAD-3B7CFFFCFDFC}"/>
              </a:ext>
            </a:extLst>
          </p:cNvPr>
          <p:cNvSpPr txBox="1"/>
          <p:nvPr/>
        </p:nvSpPr>
        <p:spPr>
          <a:xfrm>
            <a:off x="1185705" y="3697793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1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366081D3-43A3-744E-A218-6FBF4D10050B}"/>
              </a:ext>
            </a:extLst>
          </p:cNvPr>
          <p:cNvSpPr txBox="1"/>
          <p:nvPr/>
        </p:nvSpPr>
        <p:spPr>
          <a:xfrm>
            <a:off x="2919325" y="3707775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2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6C16B9B-19E6-ECEF-BF02-DB0D27213AE2}"/>
              </a:ext>
            </a:extLst>
          </p:cNvPr>
          <p:cNvSpPr txBox="1"/>
          <p:nvPr/>
        </p:nvSpPr>
        <p:spPr>
          <a:xfrm>
            <a:off x="4553570" y="3699536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3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D909B81F-A31C-5DEA-22F9-8926481BDAA6}"/>
              </a:ext>
            </a:extLst>
          </p:cNvPr>
          <p:cNvSpPr txBox="1"/>
          <p:nvPr/>
        </p:nvSpPr>
        <p:spPr>
          <a:xfrm>
            <a:off x="6154836" y="3699699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4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FA45E8A0-1CDD-3ED9-115C-957B2AEAD4A0}"/>
              </a:ext>
            </a:extLst>
          </p:cNvPr>
          <p:cNvSpPr txBox="1"/>
          <p:nvPr/>
        </p:nvSpPr>
        <p:spPr>
          <a:xfrm>
            <a:off x="7797180" y="3701754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5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DE2604D9-E0BE-0340-A2EE-018A5F738894}"/>
              </a:ext>
            </a:extLst>
          </p:cNvPr>
          <p:cNvSpPr txBox="1"/>
          <p:nvPr/>
        </p:nvSpPr>
        <p:spPr>
          <a:xfrm>
            <a:off x="9497666" y="3711938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6</a:t>
            </a:r>
          </a:p>
        </p:txBody>
      </p:sp>
      <p:sp>
        <p:nvSpPr>
          <p:cNvPr id="83" name="Pfeil: Chevron 82">
            <a:extLst>
              <a:ext uri="{FF2B5EF4-FFF2-40B4-BE49-F238E27FC236}">
                <a16:creationId xmlns:a16="http://schemas.microsoft.com/office/drawing/2014/main" id="{D27A7B30-7E67-9F16-993A-4EA1594D3FA0}"/>
              </a:ext>
            </a:extLst>
          </p:cNvPr>
          <p:cNvSpPr/>
          <p:nvPr/>
        </p:nvSpPr>
        <p:spPr>
          <a:xfrm>
            <a:off x="1033317" y="9911767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+mj-lt"/>
              </a:rPr>
              <a:t>Analyse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180F9FD2-C30E-CE09-77F8-A7CE29322429}"/>
              </a:ext>
            </a:extLst>
          </p:cNvPr>
          <p:cNvSpPr/>
          <p:nvPr/>
        </p:nvSpPr>
        <p:spPr>
          <a:xfrm>
            <a:off x="1006588" y="10979673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Projektumfeld analysiert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Anforderungen definiert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9CBC2EDD-B6CD-9F8A-FAB1-53B0F268D4D5}"/>
              </a:ext>
            </a:extLst>
          </p:cNvPr>
          <p:cNvSpPr/>
          <p:nvPr/>
        </p:nvSpPr>
        <p:spPr>
          <a:xfrm>
            <a:off x="2083211" y="9511582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7" name="Pfeil: Chevron 86">
            <a:extLst>
              <a:ext uri="{FF2B5EF4-FFF2-40B4-BE49-F238E27FC236}">
                <a16:creationId xmlns:a16="http://schemas.microsoft.com/office/drawing/2014/main" id="{2C9D512F-F7A7-45E8-C753-BB579F1BD8A1}"/>
              </a:ext>
            </a:extLst>
          </p:cNvPr>
          <p:cNvSpPr/>
          <p:nvPr/>
        </p:nvSpPr>
        <p:spPr>
          <a:xfrm>
            <a:off x="3498293" y="16270476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32BAD76B-2A39-D30A-167F-6A1828F8FD17}"/>
              </a:ext>
            </a:extLst>
          </p:cNvPr>
          <p:cNvSpPr/>
          <p:nvPr/>
        </p:nvSpPr>
        <p:spPr>
          <a:xfrm>
            <a:off x="3476552" y="173383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Architektur &amp; Datenmodell festgelegt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Zeitplan erstellt</a:t>
            </a:r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F8FF96F1-53AF-AE86-1A1B-B3BF52468374}"/>
              </a:ext>
            </a:extLst>
          </p:cNvPr>
          <p:cNvSpPr/>
          <p:nvPr/>
        </p:nvSpPr>
        <p:spPr>
          <a:xfrm>
            <a:off x="4547732" y="158702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1" name="Pfeil: Chevron 90">
            <a:extLst>
              <a:ext uri="{FF2B5EF4-FFF2-40B4-BE49-F238E27FC236}">
                <a16:creationId xmlns:a16="http://schemas.microsoft.com/office/drawing/2014/main" id="{9DC55C1C-C1CE-282F-D26E-78B943F760FC}"/>
              </a:ext>
            </a:extLst>
          </p:cNvPr>
          <p:cNvSpPr/>
          <p:nvPr/>
        </p:nvSpPr>
        <p:spPr>
          <a:xfrm>
            <a:off x="5967660" y="22675018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Durchführung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F18450ED-C372-B421-4FBC-CBCDAF566504}"/>
              </a:ext>
            </a:extLst>
          </p:cNvPr>
          <p:cNvSpPr/>
          <p:nvPr/>
        </p:nvSpPr>
        <p:spPr>
          <a:xfrm>
            <a:off x="5946516" y="23734021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Datenbank, Backend &amp; Frontend entwickelt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BB9F8BF3-D092-40FA-6B30-7BEC7F1819B4}"/>
              </a:ext>
            </a:extLst>
          </p:cNvPr>
          <p:cNvSpPr/>
          <p:nvPr/>
        </p:nvSpPr>
        <p:spPr>
          <a:xfrm>
            <a:off x="7023736" y="22265930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5" name="Pfeil: Chevron 94">
            <a:extLst>
              <a:ext uri="{FF2B5EF4-FFF2-40B4-BE49-F238E27FC236}">
                <a16:creationId xmlns:a16="http://schemas.microsoft.com/office/drawing/2014/main" id="{636C1B98-B505-0BFB-9EF5-1FD7CCC8CE86}"/>
              </a:ext>
            </a:extLst>
          </p:cNvPr>
          <p:cNvSpPr/>
          <p:nvPr/>
        </p:nvSpPr>
        <p:spPr>
          <a:xfrm>
            <a:off x="8443664" y="29488647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Abschluss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6390A44D-E336-FD6D-6129-ABC56C6D8A4C}"/>
              </a:ext>
            </a:extLst>
          </p:cNvPr>
          <p:cNvSpPr/>
          <p:nvPr/>
        </p:nvSpPr>
        <p:spPr>
          <a:xfrm>
            <a:off x="8416480" y="30547651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Systemtests &amp; Fehlerkorrekturen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Dokumentation erstellt</a:t>
            </a:r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715412B-4A16-10D9-BF26-327AE2B15093}"/>
              </a:ext>
            </a:extLst>
          </p:cNvPr>
          <p:cNvSpPr/>
          <p:nvPr/>
        </p:nvSpPr>
        <p:spPr>
          <a:xfrm>
            <a:off x="9499740" y="29079560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8147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fik 90" descr="Stoppuhr 66% mit einfarbiger Füllung">
            <a:extLst>
              <a:ext uri="{FF2B5EF4-FFF2-40B4-BE49-F238E27FC236}">
                <a16:creationId xmlns:a16="http://schemas.microsoft.com/office/drawing/2014/main" id="{B988CE95-04D9-9001-8A4B-9B11C4571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0142417" y="1939072"/>
            <a:ext cx="1977514" cy="1977514"/>
          </a:xfrm>
          <a:prstGeom prst="rect">
            <a:avLst/>
          </a:prstGeom>
        </p:spPr>
      </p:pic>
      <p:sp>
        <p:nvSpPr>
          <p:cNvPr id="92" name="Titel 1">
            <a:extLst>
              <a:ext uri="{FF2B5EF4-FFF2-40B4-BE49-F238E27FC236}">
                <a16:creationId xmlns:a16="http://schemas.microsoft.com/office/drawing/2014/main" id="{F47E7798-2B53-2BB9-EA15-EA5752CCBA69}"/>
              </a:ext>
            </a:extLst>
          </p:cNvPr>
          <p:cNvSpPr txBox="1">
            <a:spLocks/>
          </p:cNvSpPr>
          <p:nvPr/>
        </p:nvSpPr>
        <p:spPr>
          <a:xfrm>
            <a:off x="-20989745" y="3916586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Durchschnittliche </a:t>
            </a:r>
            <a:r>
              <a:rPr lang="de-DE" sz="1800" cap="none" dirty="0" err="1"/>
              <a:t>Skill</a:t>
            </a:r>
            <a:r>
              <a:rPr lang="de-DE" sz="1800" cap="none" dirty="0"/>
              <a:t>-Suchzeit: </a:t>
            </a:r>
            <a:r>
              <a:rPr lang="de-DE" sz="1800" b="1" cap="none" dirty="0"/>
              <a:t>2,5 Stunden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pic>
        <p:nvPicPr>
          <p:cNvPr id="93" name="Grafik 92" descr="Klemmbrett mit einfarbiger Füllung">
            <a:extLst>
              <a:ext uri="{FF2B5EF4-FFF2-40B4-BE49-F238E27FC236}">
                <a16:creationId xmlns:a16="http://schemas.microsoft.com/office/drawing/2014/main" id="{3752A4A2-73B7-9CC4-1715-ADA7CDC926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42574" y="1939072"/>
            <a:ext cx="1977513" cy="1977513"/>
          </a:xfrm>
          <a:prstGeom prst="rect">
            <a:avLst/>
          </a:prstGeom>
        </p:spPr>
      </p:pic>
      <p:sp>
        <p:nvSpPr>
          <p:cNvPr id="94" name="Titel 1">
            <a:extLst>
              <a:ext uri="{FF2B5EF4-FFF2-40B4-BE49-F238E27FC236}">
                <a16:creationId xmlns:a16="http://schemas.microsoft.com/office/drawing/2014/main" id="{C5E2AE00-4BF0-AA0D-008A-E773186328DE}"/>
              </a:ext>
            </a:extLst>
          </p:cNvPr>
          <p:cNvSpPr txBox="1">
            <a:spLocks/>
          </p:cNvSpPr>
          <p:nvPr/>
        </p:nvSpPr>
        <p:spPr>
          <a:xfrm>
            <a:off x="30587519" y="3916585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Manueller Aufwand (Excel, E-Mail, Nachfragen)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pic>
        <p:nvPicPr>
          <p:cNvPr id="95" name="Grafik 94" descr="Freigeben mit einfarbiger Füllung">
            <a:extLst>
              <a:ext uri="{FF2B5EF4-FFF2-40B4-BE49-F238E27FC236}">
                <a16:creationId xmlns:a16="http://schemas.microsoft.com/office/drawing/2014/main" id="{F819F2BB-D887-6827-E829-FCBE8057B8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7243" y="13462364"/>
            <a:ext cx="1977513" cy="1977513"/>
          </a:xfrm>
          <a:prstGeom prst="rect">
            <a:avLst/>
          </a:prstGeom>
        </p:spPr>
      </p:pic>
      <p:sp>
        <p:nvSpPr>
          <p:cNvPr id="96" name="Titel 1">
            <a:extLst>
              <a:ext uri="{FF2B5EF4-FFF2-40B4-BE49-F238E27FC236}">
                <a16:creationId xmlns:a16="http://schemas.microsoft.com/office/drawing/2014/main" id="{D9EA4DF1-EE46-074E-486F-5830A152B749}"/>
              </a:ext>
            </a:extLst>
          </p:cNvPr>
          <p:cNvSpPr txBox="1">
            <a:spLocks/>
          </p:cNvSpPr>
          <p:nvPr/>
        </p:nvSpPr>
        <p:spPr>
          <a:xfrm>
            <a:off x="4252187" y="15439876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Keine zentrale Übersicht über Mitarbeiter-Skills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97" name="Textplatzhalter 2">
            <a:extLst>
              <a:ext uri="{FF2B5EF4-FFF2-40B4-BE49-F238E27FC236}">
                <a16:creationId xmlns:a16="http://schemas.microsoft.com/office/drawing/2014/main" id="{AC1021C7-5CB0-F8BC-06B1-25DCF0CD9F0F}"/>
              </a:ext>
            </a:extLst>
          </p:cNvPr>
          <p:cNvSpPr txBox="1">
            <a:spLocks/>
          </p:cNvSpPr>
          <p:nvPr/>
        </p:nvSpPr>
        <p:spPr>
          <a:xfrm>
            <a:off x="1619073" y="19607078"/>
            <a:ext cx="8953852" cy="9673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800"/>
              </a:spcBef>
            </a:pPr>
            <a:r>
              <a:rPr lang="de-DE" sz="2000" dirty="0">
                <a:solidFill>
                  <a:schemeClr val="accent1"/>
                </a:solidFill>
              </a:rPr>
              <a:t>Bedarf nach einer zentralen digitalen </a:t>
            </a:r>
            <a:r>
              <a:rPr lang="de-DE" sz="2000" dirty="0" err="1">
                <a:solidFill>
                  <a:schemeClr val="accent1"/>
                </a:solidFill>
              </a:rPr>
              <a:t>lösung</a:t>
            </a:r>
            <a:endParaRPr lang="de-DE" sz="2000" dirty="0">
              <a:solidFill>
                <a:schemeClr val="accent1"/>
              </a:solidFill>
            </a:endParaRP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A39A8F10-7085-C2CB-608A-964D7BDC1B57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3578101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66D2FE0-216F-C208-0487-C061F8D132F3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5FE40099-F8D6-09E9-7F9A-2E166BCE3185}"/>
              </a:ext>
            </a:extLst>
          </p:cNvPr>
          <p:cNvSpPr/>
          <p:nvPr/>
        </p:nvSpPr>
        <p:spPr>
          <a:xfrm>
            <a:off x="1033317" y="1843276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+mj-lt"/>
              </a:rPr>
              <a:t>Analyse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CA53A36-B194-7025-0AF8-7E95C2C9057B}"/>
              </a:ext>
            </a:extLst>
          </p:cNvPr>
          <p:cNvSpPr/>
          <p:nvPr/>
        </p:nvSpPr>
        <p:spPr>
          <a:xfrm>
            <a:off x="1006588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Projektumfeld analysiert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Anforderungen definiert</a:t>
            </a: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55B5081B-B225-7EA8-35C6-949916B7CB75}"/>
              </a:ext>
            </a:extLst>
          </p:cNvPr>
          <p:cNvSpPr/>
          <p:nvPr/>
        </p:nvSpPr>
        <p:spPr>
          <a:xfrm>
            <a:off x="1033317" y="1843275"/>
            <a:ext cx="2838662" cy="967333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7B8323E-53E6-3EC6-3284-2C6C2155C17B}"/>
              </a:ext>
            </a:extLst>
          </p:cNvPr>
          <p:cNvSpPr/>
          <p:nvPr/>
        </p:nvSpPr>
        <p:spPr>
          <a:xfrm>
            <a:off x="2083211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9" name="Pfeil: Chevron 38">
            <a:extLst>
              <a:ext uri="{FF2B5EF4-FFF2-40B4-BE49-F238E27FC236}">
                <a16:creationId xmlns:a16="http://schemas.microsoft.com/office/drawing/2014/main" id="{C3314E1D-A8A8-B6CB-055D-AFF9B76F7806}"/>
              </a:ext>
            </a:extLst>
          </p:cNvPr>
          <p:cNvSpPr/>
          <p:nvPr/>
        </p:nvSpPr>
        <p:spPr>
          <a:xfrm>
            <a:off x="3498293" y="1843276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915BA0D-8C90-D53B-236A-B728EDF6BD14}"/>
              </a:ext>
            </a:extLst>
          </p:cNvPr>
          <p:cNvSpPr/>
          <p:nvPr/>
        </p:nvSpPr>
        <p:spPr>
          <a:xfrm>
            <a:off x="3476552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Architektur &amp; Datenmodell festgelegt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Zeitplan erstellt</a:t>
            </a:r>
          </a:p>
        </p:txBody>
      </p:sp>
      <p:sp>
        <p:nvSpPr>
          <p:cNvPr id="41" name="Pfeil: Chevron 40">
            <a:extLst>
              <a:ext uri="{FF2B5EF4-FFF2-40B4-BE49-F238E27FC236}">
                <a16:creationId xmlns:a16="http://schemas.microsoft.com/office/drawing/2014/main" id="{B357AD5C-C789-F7ED-155C-7D75BA032AA1}"/>
              </a:ext>
            </a:extLst>
          </p:cNvPr>
          <p:cNvSpPr/>
          <p:nvPr/>
        </p:nvSpPr>
        <p:spPr>
          <a:xfrm>
            <a:off x="3498293" y="1843275"/>
            <a:ext cx="2838662" cy="967333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Planung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DA4D64A0-5364-3E7F-D38E-C190E5E85C7B}"/>
              </a:ext>
            </a:extLst>
          </p:cNvPr>
          <p:cNvSpPr/>
          <p:nvPr/>
        </p:nvSpPr>
        <p:spPr>
          <a:xfrm>
            <a:off x="4547732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094536DE-F36F-B1F6-113E-5F83228D52AD}"/>
              </a:ext>
            </a:extLst>
          </p:cNvPr>
          <p:cNvSpPr/>
          <p:nvPr/>
        </p:nvSpPr>
        <p:spPr>
          <a:xfrm>
            <a:off x="8443664" y="1852178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Abschluss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160846E3-F13A-840D-91CB-9B50675D3B1B}"/>
              </a:ext>
            </a:extLst>
          </p:cNvPr>
          <p:cNvSpPr/>
          <p:nvPr/>
        </p:nvSpPr>
        <p:spPr>
          <a:xfrm>
            <a:off x="8416480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Systemtests &amp; Fehlerkorrekturen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Dokumentation erstellt</a:t>
            </a:r>
          </a:p>
        </p:txBody>
      </p:sp>
      <p:sp>
        <p:nvSpPr>
          <p:cNvPr id="45" name="!!ENDE">
            <a:extLst>
              <a:ext uri="{FF2B5EF4-FFF2-40B4-BE49-F238E27FC236}">
                <a16:creationId xmlns:a16="http://schemas.microsoft.com/office/drawing/2014/main" id="{199B34E2-704E-427F-D3A6-F79088AD173C}"/>
              </a:ext>
            </a:extLst>
          </p:cNvPr>
          <p:cNvSpPr/>
          <p:nvPr/>
        </p:nvSpPr>
        <p:spPr>
          <a:xfrm>
            <a:off x="8437027" y="1852180"/>
            <a:ext cx="2838662" cy="967333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Abschluss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1FFCA85-450D-C52E-0717-0F46691ACFE2}"/>
              </a:ext>
            </a:extLst>
          </p:cNvPr>
          <p:cNvSpPr/>
          <p:nvPr/>
        </p:nvSpPr>
        <p:spPr>
          <a:xfrm>
            <a:off x="9499740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7" name="Pfeil: Chevron 46">
            <a:extLst>
              <a:ext uri="{FF2B5EF4-FFF2-40B4-BE49-F238E27FC236}">
                <a16:creationId xmlns:a16="http://schemas.microsoft.com/office/drawing/2014/main" id="{2FC88633-C25D-4F48-4D44-E57A004F010C}"/>
              </a:ext>
            </a:extLst>
          </p:cNvPr>
          <p:cNvSpPr/>
          <p:nvPr/>
        </p:nvSpPr>
        <p:spPr>
          <a:xfrm>
            <a:off x="5967660" y="1852179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Durchführung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41E4D546-825B-7CCE-52A3-BEDD42C50E00}"/>
              </a:ext>
            </a:extLst>
          </p:cNvPr>
          <p:cNvSpPr/>
          <p:nvPr/>
        </p:nvSpPr>
        <p:spPr>
          <a:xfrm>
            <a:off x="5946516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Datenbank, Backend &amp; Frontend entwickelt</a:t>
            </a:r>
          </a:p>
        </p:txBody>
      </p:sp>
      <p:sp>
        <p:nvSpPr>
          <p:cNvPr id="49" name="Pfeil: Chevron 48">
            <a:extLst>
              <a:ext uri="{FF2B5EF4-FFF2-40B4-BE49-F238E27FC236}">
                <a16:creationId xmlns:a16="http://schemas.microsoft.com/office/drawing/2014/main" id="{45A4E450-4B61-9855-2BAD-20F4E62AD384}"/>
              </a:ext>
            </a:extLst>
          </p:cNvPr>
          <p:cNvSpPr/>
          <p:nvPr/>
        </p:nvSpPr>
        <p:spPr>
          <a:xfrm>
            <a:off x="5967063" y="1852180"/>
            <a:ext cx="2838662" cy="967333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Durchführung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E75A3C6-1EEE-B20B-3303-93405D34D987}"/>
              </a:ext>
            </a:extLst>
          </p:cNvPr>
          <p:cNvSpPr/>
          <p:nvPr/>
        </p:nvSpPr>
        <p:spPr>
          <a:xfrm>
            <a:off x="7023736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82D6BBBD-BF16-9F4E-9FF1-9A70559887EE}"/>
              </a:ext>
            </a:extLst>
          </p:cNvPr>
          <p:cNvGrpSpPr/>
          <p:nvPr/>
        </p:nvGrpSpPr>
        <p:grpSpPr>
          <a:xfrm>
            <a:off x="17947761" y="2833735"/>
            <a:ext cx="10276741" cy="2170351"/>
            <a:chOff x="1834869" y="2833735"/>
            <a:chExt cx="8522259" cy="2170351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681164E9-DA03-7C83-3853-7E8E5EACC6E1}"/>
                </a:ext>
              </a:extLst>
            </p:cNvPr>
            <p:cNvGrpSpPr/>
            <p:nvPr/>
          </p:nvGrpSpPr>
          <p:grpSpPr>
            <a:xfrm>
              <a:off x="1834869" y="3664455"/>
              <a:ext cx="8522259" cy="504259"/>
              <a:chOff x="1731434" y="3172321"/>
              <a:chExt cx="8522259" cy="504259"/>
            </a:xfrm>
          </p:grpSpPr>
          <p:grpSp>
            <p:nvGrpSpPr>
              <p:cNvPr id="65" name="Gruppieren 64">
                <a:extLst>
                  <a:ext uri="{FF2B5EF4-FFF2-40B4-BE49-F238E27FC236}">
                    <a16:creationId xmlns:a16="http://schemas.microsoft.com/office/drawing/2014/main" id="{EDD0C840-E5DA-7957-2ADE-8AF8F9F29DCB}"/>
                  </a:ext>
                </a:extLst>
              </p:cNvPr>
              <p:cNvGrpSpPr/>
              <p:nvPr/>
            </p:nvGrpSpPr>
            <p:grpSpPr>
              <a:xfrm>
                <a:off x="1731434" y="3175408"/>
                <a:ext cx="1576976" cy="501172"/>
                <a:chOff x="756259" y="3178414"/>
                <a:chExt cx="2723602" cy="501172"/>
              </a:xfrm>
            </p:grpSpPr>
            <p:sp>
              <p:nvSpPr>
                <p:cNvPr id="73" name="Rechteck 72">
                  <a:extLst>
                    <a:ext uri="{FF2B5EF4-FFF2-40B4-BE49-F238E27FC236}">
                      <a16:creationId xmlns:a16="http://schemas.microsoft.com/office/drawing/2014/main" id="{36A0F83A-0ED7-515E-EDD5-0B7713A9B697}"/>
                    </a:ext>
                  </a:extLst>
                </p:cNvPr>
                <p:cNvSpPr/>
                <p:nvPr/>
              </p:nvSpPr>
              <p:spPr>
                <a:xfrm>
                  <a:off x="1243175" y="3178414"/>
                  <a:ext cx="2236686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CF2B21AC-5279-98D3-416B-6E816EAB12D9}"/>
                    </a:ext>
                  </a:extLst>
                </p:cNvPr>
                <p:cNvSpPr/>
                <p:nvPr/>
              </p:nvSpPr>
              <p:spPr>
                <a:xfrm>
                  <a:off x="756259" y="3178414"/>
                  <a:ext cx="842518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FD2DDF3-6502-6063-3515-2DF9E3849A87}"/>
                  </a:ext>
                </a:extLst>
              </p:cNvPr>
              <p:cNvSpPr/>
              <p:nvPr/>
            </p:nvSpPr>
            <p:spPr>
              <a:xfrm>
                <a:off x="3355893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B182DA4D-A5FF-4588-DC4C-657689888E35}"/>
                  </a:ext>
                </a:extLst>
              </p:cNvPr>
              <p:cNvSpPr/>
              <p:nvPr/>
            </p:nvSpPr>
            <p:spPr>
              <a:xfrm>
                <a:off x="4698426" y="3172402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29B4A6C7-9D7A-A394-4ABF-E24DA82DA857}"/>
                  </a:ext>
                </a:extLst>
              </p:cNvPr>
              <p:cNvSpPr/>
              <p:nvPr/>
            </p:nvSpPr>
            <p:spPr>
              <a:xfrm>
                <a:off x="6040959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0A6C27A0-C1A6-7259-DC86-C581ED527EA3}"/>
                  </a:ext>
                </a:extLst>
              </p:cNvPr>
              <p:cNvSpPr/>
              <p:nvPr/>
            </p:nvSpPr>
            <p:spPr>
              <a:xfrm>
                <a:off x="7383492" y="3172321"/>
                <a:ext cx="1295050" cy="5011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0" name="Gruppieren 69">
                <a:extLst>
                  <a:ext uri="{FF2B5EF4-FFF2-40B4-BE49-F238E27FC236}">
                    <a16:creationId xmlns:a16="http://schemas.microsoft.com/office/drawing/2014/main" id="{496E8D56-541F-1371-6094-23A6DF3ECD5F}"/>
                  </a:ext>
                </a:extLst>
              </p:cNvPr>
              <p:cNvGrpSpPr/>
              <p:nvPr/>
            </p:nvGrpSpPr>
            <p:grpSpPr>
              <a:xfrm>
                <a:off x="8726025" y="3172321"/>
                <a:ext cx="1527668" cy="501172"/>
                <a:chOff x="7756613" y="3182906"/>
                <a:chExt cx="1527668" cy="501172"/>
              </a:xfrm>
            </p:grpSpPr>
            <p:sp>
              <p:nvSpPr>
                <p:cNvPr id="71" name="Rechteck 70">
                  <a:extLst>
                    <a:ext uri="{FF2B5EF4-FFF2-40B4-BE49-F238E27FC236}">
                      <a16:creationId xmlns:a16="http://schemas.microsoft.com/office/drawing/2014/main" id="{EEA7041B-D312-5D99-823F-FC54B96873C5}"/>
                    </a:ext>
                  </a:extLst>
                </p:cNvPr>
                <p:cNvSpPr/>
                <p:nvPr/>
              </p:nvSpPr>
              <p:spPr>
                <a:xfrm>
                  <a:off x="7756613" y="3182906"/>
                  <a:ext cx="1295050" cy="501172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2" name="Ellipse 71">
                  <a:extLst>
                    <a:ext uri="{FF2B5EF4-FFF2-40B4-BE49-F238E27FC236}">
                      <a16:creationId xmlns:a16="http://schemas.microsoft.com/office/drawing/2014/main" id="{EFDF9EB8-AF65-E681-BE68-70EF724F3A92}"/>
                    </a:ext>
                  </a:extLst>
                </p:cNvPr>
                <p:cNvSpPr/>
                <p:nvPr/>
              </p:nvSpPr>
              <p:spPr>
                <a:xfrm>
                  <a:off x="8796460" y="3184409"/>
                  <a:ext cx="487821" cy="498166"/>
                </a:xfrm>
                <a:prstGeom prst="ellipse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53" name="Gleichschenkliges Dreieck 52">
              <a:extLst>
                <a:ext uri="{FF2B5EF4-FFF2-40B4-BE49-F238E27FC236}">
                  <a16:creationId xmlns:a16="http://schemas.microsoft.com/office/drawing/2014/main" id="{02D468F0-B8ED-7976-7AA6-C0D91A3B16EB}"/>
                </a:ext>
              </a:extLst>
            </p:cNvPr>
            <p:cNvSpPr/>
            <p:nvPr/>
          </p:nvSpPr>
          <p:spPr>
            <a:xfrm>
              <a:off x="2505128" y="3421508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4" name="Gleichschenkliges Dreieck 53">
              <a:extLst>
                <a:ext uri="{FF2B5EF4-FFF2-40B4-BE49-F238E27FC236}">
                  <a16:creationId xmlns:a16="http://schemas.microsoft.com/office/drawing/2014/main" id="{C222766C-CAA5-5032-61C2-D6EB4595F28E}"/>
                </a:ext>
              </a:extLst>
            </p:cNvPr>
            <p:cNvSpPr/>
            <p:nvPr/>
          </p:nvSpPr>
          <p:spPr>
            <a:xfrm>
              <a:off x="5277603" y="3429000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Gleichschenkliges Dreieck 54">
              <a:extLst>
                <a:ext uri="{FF2B5EF4-FFF2-40B4-BE49-F238E27FC236}">
                  <a16:creationId xmlns:a16="http://schemas.microsoft.com/office/drawing/2014/main" id="{270A3C6F-ED40-219E-9BB0-6D5E1BA3265E}"/>
                </a:ext>
              </a:extLst>
            </p:cNvPr>
            <p:cNvSpPr/>
            <p:nvPr/>
          </p:nvSpPr>
          <p:spPr>
            <a:xfrm>
              <a:off x="7956970" y="341100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6" name="Gleichschenkliges Dreieck 55">
              <a:extLst>
                <a:ext uri="{FF2B5EF4-FFF2-40B4-BE49-F238E27FC236}">
                  <a16:creationId xmlns:a16="http://schemas.microsoft.com/office/drawing/2014/main" id="{02C9D86B-8526-17C0-074A-6D9ED63DD00B}"/>
                </a:ext>
              </a:extLst>
            </p:cNvPr>
            <p:cNvSpPr/>
            <p:nvPr/>
          </p:nvSpPr>
          <p:spPr>
            <a:xfrm rot="10800000">
              <a:off x="3925783" y="4164124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7" name="Gleichschenkliges Dreieck 56">
              <a:extLst>
                <a:ext uri="{FF2B5EF4-FFF2-40B4-BE49-F238E27FC236}">
                  <a16:creationId xmlns:a16="http://schemas.microsoft.com/office/drawing/2014/main" id="{EF4F5A0E-2435-CA11-2309-C9DB5BB25F44}"/>
                </a:ext>
              </a:extLst>
            </p:cNvPr>
            <p:cNvSpPr/>
            <p:nvPr/>
          </p:nvSpPr>
          <p:spPr>
            <a:xfrm rot="10800000">
              <a:off x="6610849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8" name="Gleichschenkliges Dreieck 57">
              <a:extLst>
                <a:ext uri="{FF2B5EF4-FFF2-40B4-BE49-F238E27FC236}">
                  <a16:creationId xmlns:a16="http://schemas.microsoft.com/office/drawing/2014/main" id="{0EEACE12-5FD2-ED1D-DD9A-0A0135043FDF}"/>
                </a:ext>
              </a:extLst>
            </p:cNvPr>
            <p:cNvSpPr/>
            <p:nvPr/>
          </p:nvSpPr>
          <p:spPr>
            <a:xfrm rot="10800000">
              <a:off x="9377625" y="4153103"/>
              <a:ext cx="362139" cy="2520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CA49E693-C1DB-2994-DCB0-B86977763852}"/>
                </a:ext>
              </a:extLst>
            </p:cNvPr>
            <p:cNvCxnSpPr/>
            <p:nvPr/>
          </p:nvCxnSpPr>
          <p:spPr>
            <a:xfrm>
              <a:off x="2683515" y="2833735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3F75EC4E-CEBD-1F03-FCC0-275823E48B52}"/>
                </a:ext>
              </a:extLst>
            </p:cNvPr>
            <p:cNvCxnSpPr/>
            <p:nvPr/>
          </p:nvCxnSpPr>
          <p:spPr>
            <a:xfrm>
              <a:off x="5449386" y="286391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EB229DEC-F260-1A96-F0A5-72FD5563A56B}"/>
                </a:ext>
              </a:extLst>
            </p:cNvPr>
            <p:cNvCxnSpPr/>
            <p:nvPr/>
          </p:nvCxnSpPr>
          <p:spPr>
            <a:xfrm>
              <a:off x="8134452" y="2839770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8B0D6DFE-BDC5-7D5F-4AEF-4046DF01011B}"/>
                </a:ext>
              </a:extLst>
            </p:cNvPr>
            <p:cNvCxnSpPr/>
            <p:nvPr/>
          </p:nvCxnSpPr>
          <p:spPr>
            <a:xfrm>
              <a:off x="4103431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041CD107-B22A-E033-60CB-4F1CA6CBA0C1}"/>
                </a:ext>
              </a:extLst>
            </p:cNvPr>
            <p:cNvCxnSpPr/>
            <p:nvPr/>
          </p:nvCxnSpPr>
          <p:spPr>
            <a:xfrm>
              <a:off x="6791918" y="4570491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FFF0193-FC09-366F-B53A-D46C44916078}"/>
                </a:ext>
              </a:extLst>
            </p:cNvPr>
            <p:cNvCxnSpPr/>
            <p:nvPr/>
          </p:nvCxnSpPr>
          <p:spPr>
            <a:xfrm>
              <a:off x="9558694" y="4578573"/>
              <a:ext cx="0" cy="425513"/>
            </a:xfrm>
            <a:prstGeom prst="line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feld 74">
            <a:extLst>
              <a:ext uri="{FF2B5EF4-FFF2-40B4-BE49-F238E27FC236}">
                <a16:creationId xmlns:a16="http://schemas.microsoft.com/office/drawing/2014/main" id="{9E1065ED-E11E-ADB7-6BCB-DD5AA7191B25}"/>
              </a:ext>
            </a:extLst>
          </p:cNvPr>
          <p:cNvSpPr txBox="1"/>
          <p:nvPr/>
        </p:nvSpPr>
        <p:spPr>
          <a:xfrm>
            <a:off x="17599508" y="2495906"/>
            <a:ext cx="27436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Einleitung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77E9EA88-B6C9-0A76-A54B-9499772D1F14}"/>
              </a:ext>
            </a:extLst>
          </p:cNvPr>
          <p:cNvSpPr txBox="1"/>
          <p:nvPr/>
        </p:nvSpPr>
        <p:spPr>
          <a:xfrm>
            <a:off x="19252926" y="5084634"/>
            <a:ext cx="287194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Projektkontext &amp; Ziele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72F479FE-9E5D-6689-9BE3-417307FC1BF9}"/>
              </a:ext>
            </a:extLst>
          </p:cNvPr>
          <p:cNvSpPr txBox="1"/>
          <p:nvPr/>
        </p:nvSpPr>
        <p:spPr>
          <a:xfrm>
            <a:off x="20877872" y="2219065"/>
            <a:ext cx="28570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Architektur &amp; Technologien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8B33C9B1-FA1A-78B5-59C0-B4E02EC2A26D}"/>
              </a:ext>
            </a:extLst>
          </p:cNvPr>
          <p:cNvSpPr txBox="1"/>
          <p:nvPr/>
        </p:nvSpPr>
        <p:spPr>
          <a:xfrm>
            <a:off x="21888699" y="5051567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1F9AD87-F126-40EF-DE65-4999F988233C}"/>
              </a:ext>
            </a:extLst>
          </p:cNvPr>
          <p:cNvSpPr txBox="1"/>
          <p:nvPr/>
        </p:nvSpPr>
        <p:spPr>
          <a:xfrm>
            <a:off x="23514078" y="2507307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C8B812DE-D5F8-FE8B-0FFC-6C56EF46052E}"/>
              </a:ext>
            </a:extLst>
          </p:cNvPr>
          <p:cNvSpPr txBox="1"/>
          <p:nvPr/>
        </p:nvSpPr>
        <p:spPr>
          <a:xfrm>
            <a:off x="25132999" y="5057384"/>
            <a:ext cx="406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000" b="1" cap="all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2356223-2749-0D6A-D45D-21D7CE6FD23E}"/>
              </a:ext>
            </a:extLst>
          </p:cNvPr>
          <p:cNvSpPr txBox="1"/>
          <p:nvPr/>
        </p:nvSpPr>
        <p:spPr>
          <a:xfrm>
            <a:off x="18050075" y="3697793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1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9C7EE54E-8EF5-E159-3495-CBCE9D9A7F2E}"/>
              </a:ext>
            </a:extLst>
          </p:cNvPr>
          <p:cNvSpPr txBox="1"/>
          <p:nvPr/>
        </p:nvSpPr>
        <p:spPr>
          <a:xfrm>
            <a:off x="19783695" y="3707775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2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C7C70C3-8EE3-A713-174D-7212B9AC7F3E}"/>
              </a:ext>
            </a:extLst>
          </p:cNvPr>
          <p:cNvSpPr txBox="1"/>
          <p:nvPr/>
        </p:nvSpPr>
        <p:spPr>
          <a:xfrm>
            <a:off x="21417940" y="3699536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3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339396F-0F78-851B-60CF-6EDE3F9170D7}"/>
              </a:ext>
            </a:extLst>
          </p:cNvPr>
          <p:cNvSpPr txBox="1"/>
          <p:nvPr/>
        </p:nvSpPr>
        <p:spPr>
          <a:xfrm>
            <a:off x="23019206" y="3699699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4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73EC9B6C-48DF-9BAC-8431-38DF463C634C}"/>
              </a:ext>
            </a:extLst>
          </p:cNvPr>
          <p:cNvSpPr txBox="1"/>
          <p:nvPr/>
        </p:nvSpPr>
        <p:spPr>
          <a:xfrm>
            <a:off x="24661550" y="3701754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5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B76F61FE-BAB7-711D-4580-E0FE1D454268}"/>
              </a:ext>
            </a:extLst>
          </p:cNvPr>
          <p:cNvSpPr txBox="1"/>
          <p:nvPr/>
        </p:nvSpPr>
        <p:spPr>
          <a:xfrm>
            <a:off x="26362036" y="3711938"/>
            <a:ext cx="179931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>
                <a:latin typeface="+mj-lt"/>
              </a:rPr>
              <a:t>6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AB9B9-B45D-49C9-A6B6-0BC8B8874F38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7482E8F8-A3AD-16DA-C62E-52EACA4589B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FBB9980-DED7-94D6-A525-2D96C279932D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E8FCF1E-D458-EC47-DDFD-C2F2F7934B91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ED4F5B86-A8B0-27B7-ADBF-F2E035A6257F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680B296-A546-399C-8ED3-3155668C1E59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9E5CE31-2516-6144-3AF3-A0348CD16976}"/>
              </a:ext>
            </a:extLst>
          </p:cNvPr>
          <p:cNvSpPr/>
          <p:nvPr/>
        </p:nvSpPr>
        <p:spPr>
          <a:xfrm>
            <a:off x="370115" y="6443695"/>
            <a:ext cx="96382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EF01889-F646-B5BC-7765-6EA40802B7AB}"/>
              </a:ext>
            </a:extLst>
          </p:cNvPr>
          <p:cNvSpPr txBox="1"/>
          <p:nvPr/>
        </p:nvSpPr>
        <p:spPr>
          <a:xfrm>
            <a:off x="379185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Einleitung</a:t>
            </a:r>
          </a:p>
        </p:txBody>
      </p:sp>
    </p:spTree>
    <p:extLst>
      <p:ext uri="{BB962C8B-B14F-4D97-AF65-F5344CB8AC3E}">
        <p14:creationId xmlns:p14="http://schemas.microsoft.com/office/powerpoint/2010/main" val="58562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41" grpId="0" animBg="1"/>
      <p:bldP spid="41" grpId="1" animBg="1"/>
      <p:bldP spid="45" grpId="0" animBg="1"/>
      <p:bldP spid="45" grpId="1" animBg="1"/>
      <p:bldP spid="49" grpId="0" animBg="1"/>
      <p:bldP spid="4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D0A1-74CA-D72A-3A99-35B231AA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E6362AB9-E609-79E8-8F83-EE23A549D4E1}"/>
              </a:ext>
            </a:extLst>
          </p:cNvPr>
          <p:cNvGrpSpPr/>
          <p:nvPr/>
        </p:nvGrpSpPr>
        <p:grpSpPr>
          <a:xfrm>
            <a:off x="4490082" y="11250984"/>
            <a:ext cx="3290429" cy="3316935"/>
            <a:chOff x="4448905" y="2049502"/>
            <a:chExt cx="3290429" cy="3316935"/>
          </a:xfrm>
        </p:grpSpPr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B008F8CD-3173-8320-16EA-A806F343BEBA}"/>
                </a:ext>
              </a:extLst>
            </p:cNvPr>
            <p:cNvSpPr/>
            <p:nvPr/>
          </p:nvSpPr>
          <p:spPr>
            <a:xfrm>
              <a:off x="4452663" y="2049502"/>
              <a:ext cx="3286671" cy="331693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90" name="Teilkreis 89">
              <a:extLst>
                <a:ext uri="{FF2B5EF4-FFF2-40B4-BE49-F238E27FC236}">
                  <a16:creationId xmlns:a16="http://schemas.microsoft.com/office/drawing/2014/main" id="{B0D690CC-4A1A-55C8-91DB-F8E63101A7B6}"/>
                </a:ext>
              </a:extLst>
            </p:cNvPr>
            <p:cNvSpPr/>
            <p:nvPr/>
          </p:nvSpPr>
          <p:spPr>
            <a:xfrm>
              <a:off x="4448905" y="2051774"/>
              <a:ext cx="3290429" cy="3290429"/>
            </a:xfrm>
            <a:prstGeom prst="pie">
              <a:avLst>
                <a:gd name="adj1" fmla="val 5400611"/>
                <a:gd name="adj2" fmla="val 1620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FC73DD8E-E786-8936-53C4-C66D263369E8}"/>
                </a:ext>
              </a:extLst>
            </p:cNvPr>
            <p:cNvSpPr/>
            <p:nvPr/>
          </p:nvSpPr>
          <p:spPr>
            <a:xfrm>
              <a:off x="4868312" y="2468979"/>
              <a:ext cx="2455371" cy="24779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C9BD9AEF-6723-E53D-12A7-36CB0B6856AF}"/>
                </a:ext>
              </a:extLst>
            </p:cNvPr>
            <p:cNvSpPr/>
            <p:nvPr/>
          </p:nvSpPr>
          <p:spPr>
            <a:xfrm>
              <a:off x="4960791" y="2572761"/>
              <a:ext cx="2270418" cy="2270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PROJEKT</a:t>
              </a:r>
            </a:p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KONTEXT</a:t>
              </a:r>
            </a:p>
          </p:txBody>
        </p:sp>
      </p:grpSp>
      <p:pic>
        <p:nvPicPr>
          <p:cNvPr id="2" name="Grafik 1" descr="Klemmbrett mit einfarbiger Füllung">
            <a:extLst>
              <a:ext uri="{FF2B5EF4-FFF2-40B4-BE49-F238E27FC236}">
                <a16:creationId xmlns:a16="http://schemas.microsoft.com/office/drawing/2014/main" id="{B35154E3-25CA-3EB3-3A8D-4DCCFE64F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4415" y="1939072"/>
            <a:ext cx="1977513" cy="1977513"/>
          </a:xfrm>
          <a:prstGeom prst="rect">
            <a:avLst/>
          </a:prstGeom>
        </p:spPr>
      </p:pic>
      <p:pic>
        <p:nvPicPr>
          <p:cNvPr id="3" name="Grafik 2" descr="Freigeben mit einfarbiger Füllung">
            <a:extLst>
              <a:ext uri="{FF2B5EF4-FFF2-40B4-BE49-F238E27FC236}">
                <a16:creationId xmlns:a16="http://schemas.microsoft.com/office/drawing/2014/main" id="{4E148925-79C7-2ABF-CDA9-98A833142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7243" y="1939073"/>
            <a:ext cx="1977513" cy="1977513"/>
          </a:xfrm>
          <a:prstGeom prst="rect">
            <a:avLst/>
          </a:prstGeom>
        </p:spPr>
      </p:pic>
      <p:pic>
        <p:nvPicPr>
          <p:cNvPr id="4" name="Grafik 3" descr="Stoppuhr 66% mit einfarbiger Füllung">
            <a:extLst>
              <a:ext uri="{FF2B5EF4-FFF2-40B4-BE49-F238E27FC236}">
                <a16:creationId xmlns:a16="http://schemas.microsoft.com/office/drawing/2014/main" id="{BD61A64F-3287-5488-6D99-A853F7F31E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2342" y="1939072"/>
            <a:ext cx="1977514" cy="1977514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CB5E3D-EF65-D602-F1D1-FC6BB6D6D79B}"/>
              </a:ext>
            </a:extLst>
          </p:cNvPr>
          <p:cNvSpPr txBox="1">
            <a:spLocks/>
          </p:cNvSpPr>
          <p:nvPr/>
        </p:nvSpPr>
        <p:spPr>
          <a:xfrm>
            <a:off x="435014" y="3916586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Durchschnittliche </a:t>
            </a:r>
            <a:r>
              <a:rPr lang="de-DE" sz="1800" cap="none" dirty="0" err="1"/>
              <a:t>Skill</a:t>
            </a:r>
            <a:r>
              <a:rPr lang="de-DE" sz="1800" cap="none" dirty="0"/>
              <a:t>-Suchzeit: </a:t>
            </a:r>
            <a:r>
              <a:rPr lang="de-DE" sz="1800" b="1" cap="none" dirty="0"/>
              <a:t>2,5 Stunden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E4F5677-BDCF-F91A-5A0E-DC0DE69CF36D}"/>
              </a:ext>
            </a:extLst>
          </p:cNvPr>
          <p:cNvSpPr txBox="1">
            <a:spLocks/>
          </p:cNvSpPr>
          <p:nvPr/>
        </p:nvSpPr>
        <p:spPr>
          <a:xfrm>
            <a:off x="4252187" y="3916585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Keine zentrale Übersicht über Mitarbeiter-Skills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1C7F694-C6B2-40A6-DEEA-EDE1ADB0484C}"/>
              </a:ext>
            </a:extLst>
          </p:cNvPr>
          <p:cNvSpPr txBox="1">
            <a:spLocks/>
          </p:cNvSpPr>
          <p:nvPr/>
        </p:nvSpPr>
        <p:spPr>
          <a:xfrm>
            <a:off x="8069360" y="3916585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Manueller Aufwand (Excel, E-Mail, Nachfragen)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6EDB1ED1-C796-A39C-CB2F-C6D1260F7E10}"/>
              </a:ext>
            </a:extLst>
          </p:cNvPr>
          <p:cNvSpPr txBox="1">
            <a:spLocks/>
          </p:cNvSpPr>
          <p:nvPr/>
        </p:nvSpPr>
        <p:spPr>
          <a:xfrm>
            <a:off x="1619073" y="5066267"/>
            <a:ext cx="8953852" cy="9673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800"/>
              </a:spcBef>
            </a:pPr>
            <a:r>
              <a:rPr lang="de-DE" sz="2000" dirty="0">
                <a:solidFill>
                  <a:schemeClr val="accent1"/>
                </a:solidFill>
              </a:rPr>
              <a:t>Bedarf nach einer zentralen digitalen Lösung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3BFE5CEA-0A5B-DAD1-0AA2-205E32B58F00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AUSGANGSSITUATION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5028CAD-4CD6-C5B9-B854-00081960BDEE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C9A6351-33FB-EB25-92D8-B5E46DC61B2D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6006A52-7726-D7E3-9977-FBE21622FD6F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2CAC4D6-DF0A-22A5-C623-43ED4D039306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8C3616D-17DD-BD23-6D76-78F44B8E56FA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8AB4E8B-F75F-64BF-68FE-8EFC879008FC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03682AF3-EFB1-A562-0FCC-342B0CC55152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4C5730B-ACA8-7E50-E77A-F874F5923411}"/>
              </a:ext>
            </a:extLst>
          </p:cNvPr>
          <p:cNvSpPr/>
          <p:nvPr/>
        </p:nvSpPr>
        <p:spPr>
          <a:xfrm>
            <a:off x="37011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585818A-99CE-6C5C-3B01-89AB8194ED33}"/>
              </a:ext>
            </a:extLst>
          </p:cNvPr>
          <p:cNvSpPr txBox="1"/>
          <p:nvPr/>
        </p:nvSpPr>
        <p:spPr>
          <a:xfrm>
            <a:off x="379185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Einleitung</a:t>
            </a: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E4AA415A-5A23-FD45-DBAF-277A48B08163}"/>
              </a:ext>
            </a:extLst>
          </p:cNvPr>
          <p:cNvSpPr/>
          <p:nvPr/>
        </p:nvSpPr>
        <p:spPr>
          <a:xfrm>
            <a:off x="16593216" y="1843276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+mj-lt"/>
              </a:rPr>
              <a:t>Analyse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60F67E6-7268-F968-F50C-41627EA67C5B}"/>
              </a:ext>
            </a:extLst>
          </p:cNvPr>
          <p:cNvSpPr/>
          <p:nvPr/>
        </p:nvSpPr>
        <p:spPr>
          <a:xfrm>
            <a:off x="16566487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Projektumfeld analysiert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Anforderungen definiert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40521BE-A94C-C522-A1D2-E8311383384C}"/>
              </a:ext>
            </a:extLst>
          </p:cNvPr>
          <p:cNvSpPr/>
          <p:nvPr/>
        </p:nvSpPr>
        <p:spPr>
          <a:xfrm>
            <a:off x="17643110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5E6C7BD3-40D2-24BF-7C9F-0986BABD869F}"/>
              </a:ext>
            </a:extLst>
          </p:cNvPr>
          <p:cNvSpPr/>
          <p:nvPr/>
        </p:nvSpPr>
        <p:spPr>
          <a:xfrm>
            <a:off x="19058192" y="1843276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96F8705-7A58-9DB5-03CE-21BB2BB496EC}"/>
              </a:ext>
            </a:extLst>
          </p:cNvPr>
          <p:cNvSpPr/>
          <p:nvPr/>
        </p:nvSpPr>
        <p:spPr>
          <a:xfrm>
            <a:off x="19036451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Architektur &amp; Datenmodell festgelegt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Zeitplan erstellt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A5D2521-BA30-8047-B4D4-D5EDB91DEB02}"/>
              </a:ext>
            </a:extLst>
          </p:cNvPr>
          <p:cNvSpPr/>
          <p:nvPr/>
        </p:nvSpPr>
        <p:spPr>
          <a:xfrm>
            <a:off x="20107631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8" name="Pfeil: Chevron 17">
            <a:extLst>
              <a:ext uri="{FF2B5EF4-FFF2-40B4-BE49-F238E27FC236}">
                <a16:creationId xmlns:a16="http://schemas.microsoft.com/office/drawing/2014/main" id="{34C70871-3C91-D174-9B65-FCB1F02DBB7A}"/>
              </a:ext>
            </a:extLst>
          </p:cNvPr>
          <p:cNvSpPr/>
          <p:nvPr/>
        </p:nvSpPr>
        <p:spPr>
          <a:xfrm>
            <a:off x="24003563" y="1852178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Abschluss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EA5E362-1D0B-7698-C10A-5E1AA81654B3}"/>
              </a:ext>
            </a:extLst>
          </p:cNvPr>
          <p:cNvSpPr/>
          <p:nvPr/>
        </p:nvSpPr>
        <p:spPr>
          <a:xfrm>
            <a:off x="23976379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Systemtests &amp; Fehlerkorrekturen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Dokumentation erstellt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9EC903E-EA45-782D-D45B-E0D4C2754EC5}"/>
              </a:ext>
            </a:extLst>
          </p:cNvPr>
          <p:cNvSpPr/>
          <p:nvPr/>
        </p:nvSpPr>
        <p:spPr>
          <a:xfrm>
            <a:off x="25059639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" name="Pfeil: Chevron 21">
            <a:extLst>
              <a:ext uri="{FF2B5EF4-FFF2-40B4-BE49-F238E27FC236}">
                <a16:creationId xmlns:a16="http://schemas.microsoft.com/office/drawing/2014/main" id="{56F020B7-642B-04ED-EAEB-491D411C9E4F}"/>
              </a:ext>
            </a:extLst>
          </p:cNvPr>
          <p:cNvSpPr/>
          <p:nvPr/>
        </p:nvSpPr>
        <p:spPr>
          <a:xfrm>
            <a:off x="21527559" y="1852179"/>
            <a:ext cx="2838662" cy="967333"/>
          </a:xfrm>
          <a:prstGeom prst="chevr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Durchführung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BBE5E61-6D53-6798-FC15-6D5CFBDF9DEA}"/>
              </a:ext>
            </a:extLst>
          </p:cNvPr>
          <p:cNvSpPr/>
          <p:nvPr/>
        </p:nvSpPr>
        <p:spPr>
          <a:xfrm>
            <a:off x="21506415" y="2911182"/>
            <a:ext cx="2364416" cy="28960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algn="ctr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Datenbank, Backend &amp; Frontend entwickelt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1E1367DD-63AC-A669-6B7D-7ED819775AB2}"/>
              </a:ext>
            </a:extLst>
          </p:cNvPr>
          <p:cNvSpPr/>
          <p:nvPr/>
        </p:nvSpPr>
        <p:spPr>
          <a:xfrm>
            <a:off x="22583635" y="1443091"/>
            <a:ext cx="726510" cy="72651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B44563FF-D705-9707-E9BF-A7B34542DED5}"/>
              </a:ext>
            </a:extLst>
          </p:cNvPr>
          <p:cNvGrpSpPr/>
          <p:nvPr/>
        </p:nvGrpSpPr>
        <p:grpSpPr>
          <a:xfrm>
            <a:off x="-17154691" y="3604294"/>
            <a:ext cx="3687624" cy="1887340"/>
            <a:chOff x="680843" y="3604294"/>
            <a:chExt cx="3687624" cy="1887340"/>
          </a:xfrm>
        </p:grpSpPr>
        <p:sp>
          <p:nvSpPr>
            <p:cNvPr id="94" name="Titel 1">
              <a:extLst>
                <a:ext uri="{FF2B5EF4-FFF2-40B4-BE49-F238E27FC236}">
                  <a16:creationId xmlns:a16="http://schemas.microsoft.com/office/drawing/2014/main" id="{1ABD5DD6-518F-BB15-1DF5-5419720AF233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4868877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Teams </a:t>
              </a:r>
              <a:endParaRPr lang="de-DE" sz="1800" b="1" cap="none" dirty="0">
                <a:solidFill>
                  <a:schemeClr val="tx2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Kompetenzvielfalt</a:t>
              </a:r>
              <a:endParaRPr lang="de-DE" sz="1800" cap="none" dirty="0"/>
            </a:p>
          </p:txBody>
        </p:sp>
        <p:pic>
          <p:nvPicPr>
            <p:cNvPr id="95" name="Grafik 94" descr="Benutzer mit einfarbiger Füllung">
              <a:extLst>
                <a:ext uri="{FF2B5EF4-FFF2-40B4-BE49-F238E27FC236}">
                  <a16:creationId xmlns:a16="http://schemas.microsoft.com/office/drawing/2014/main" id="{5EEFBE72-8E32-67B1-120B-5244A4512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17608" y="3604294"/>
              <a:ext cx="1439815" cy="1439815"/>
            </a:xfrm>
            <a:prstGeom prst="rect">
              <a:avLst/>
            </a:prstGeom>
          </p:spPr>
        </p:pic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277F74FF-A295-6348-3218-2215437D271F}"/>
              </a:ext>
            </a:extLst>
          </p:cNvPr>
          <p:cNvGrpSpPr/>
          <p:nvPr/>
        </p:nvGrpSpPr>
        <p:grpSpPr>
          <a:xfrm>
            <a:off x="-10667482" y="1018154"/>
            <a:ext cx="3687624" cy="1962065"/>
            <a:chOff x="680843" y="1018154"/>
            <a:chExt cx="3687624" cy="1962065"/>
          </a:xfrm>
        </p:grpSpPr>
        <p:sp>
          <p:nvSpPr>
            <p:cNvPr id="97" name="Titel 1">
              <a:extLst>
                <a:ext uri="{FF2B5EF4-FFF2-40B4-BE49-F238E27FC236}">
                  <a16:creationId xmlns:a16="http://schemas.microsoft.com/office/drawing/2014/main" id="{E565E69E-5609-D280-B2C6-61A7FD7B6052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2357462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Bedarf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Unternehmens weit</a:t>
              </a:r>
            </a:p>
          </p:txBody>
        </p:sp>
        <p:pic>
          <p:nvPicPr>
            <p:cNvPr id="98" name="Grafik 97" descr="Zahnräder mit einfarbiger Füllung">
              <a:extLst>
                <a:ext uri="{FF2B5EF4-FFF2-40B4-BE49-F238E27FC236}">
                  <a16:creationId xmlns:a16="http://schemas.microsoft.com/office/drawing/2014/main" id="{33B450DE-4CC3-D0E8-C9B3-10B812303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817607" y="1018154"/>
              <a:ext cx="1315649" cy="1315649"/>
            </a:xfrm>
            <a:prstGeom prst="rect">
              <a:avLst/>
            </a:prstGeom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8A21EAEC-FB1E-631D-7729-0C55ABEFD7DF}"/>
              </a:ext>
            </a:extLst>
          </p:cNvPr>
          <p:cNvGrpSpPr/>
          <p:nvPr/>
        </p:nvGrpSpPr>
        <p:grpSpPr>
          <a:xfrm>
            <a:off x="36743063" y="3676961"/>
            <a:ext cx="3118270" cy="1814672"/>
            <a:chOff x="8129963" y="3676961"/>
            <a:chExt cx="3118270" cy="1814672"/>
          </a:xfrm>
        </p:grpSpPr>
        <p:sp>
          <p:nvSpPr>
            <p:cNvPr id="100" name="Titel 1">
              <a:extLst>
                <a:ext uri="{FF2B5EF4-FFF2-40B4-BE49-F238E27FC236}">
                  <a16:creationId xmlns:a16="http://schemas.microsoft.com/office/drawing/2014/main" id="{5D6F6655-6C6E-993F-D5A7-5601D891E055}"/>
                </a:ext>
              </a:extLst>
            </p:cNvPr>
            <p:cNvSpPr txBox="1">
              <a:spLocks/>
            </p:cNvSpPr>
            <p:nvPr/>
          </p:nvSpPr>
          <p:spPr>
            <a:xfrm>
              <a:off x="8129963" y="4868876"/>
              <a:ext cx="3118270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Ziel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800" cap="none" dirty="0">
                  <a:solidFill>
                    <a:schemeClr val="tx2"/>
                  </a:solidFill>
                </a:rPr>
                <a:t>-Transparenz schaffen</a:t>
              </a:r>
            </a:p>
          </p:txBody>
        </p:sp>
        <p:pic>
          <p:nvPicPr>
            <p:cNvPr id="101" name="Grafik 100" descr="Volltreffer mit einfarbiger Füllung">
              <a:extLst>
                <a:ext uri="{FF2B5EF4-FFF2-40B4-BE49-F238E27FC236}">
                  <a16:creationId xmlns:a16="http://schemas.microsoft.com/office/drawing/2014/main" id="{623761B3-7957-D838-CB85-F6F57FAD7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118514" y="3676961"/>
              <a:ext cx="1166218" cy="1166218"/>
            </a:xfrm>
            <a:prstGeom prst="rect">
              <a:avLst/>
            </a:prstGeom>
          </p:spPr>
        </p:pic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81A28C74-C0DB-0A21-3BF1-27F89AD74AAE}"/>
              </a:ext>
            </a:extLst>
          </p:cNvPr>
          <p:cNvGrpSpPr/>
          <p:nvPr/>
        </p:nvGrpSpPr>
        <p:grpSpPr>
          <a:xfrm>
            <a:off x="31459772" y="1212431"/>
            <a:ext cx="3687624" cy="1765516"/>
            <a:chOff x="7845286" y="1212431"/>
            <a:chExt cx="3687624" cy="1765516"/>
          </a:xfrm>
        </p:grpSpPr>
        <p:sp>
          <p:nvSpPr>
            <p:cNvPr id="103" name="Titel 1">
              <a:extLst>
                <a:ext uri="{FF2B5EF4-FFF2-40B4-BE49-F238E27FC236}">
                  <a16:creationId xmlns:a16="http://schemas.microsoft.com/office/drawing/2014/main" id="{1CCF40BD-91F4-384A-8405-171A1DEB480A}"/>
                </a:ext>
              </a:extLst>
            </p:cNvPr>
            <p:cNvSpPr txBox="1">
              <a:spLocks/>
            </p:cNvSpPr>
            <p:nvPr/>
          </p:nvSpPr>
          <p:spPr>
            <a:xfrm>
              <a:off x="7845286" y="2355190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Fokus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Mobility IT, Fulda</a:t>
              </a:r>
            </a:p>
          </p:txBody>
        </p:sp>
        <p:pic>
          <p:nvPicPr>
            <p:cNvPr id="104" name="Grafik 103" descr="Markierung mit einfarbiger Füllung">
              <a:extLst>
                <a:ext uri="{FF2B5EF4-FFF2-40B4-BE49-F238E27FC236}">
                  <a16:creationId xmlns:a16="http://schemas.microsoft.com/office/drawing/2014/main" id="{4B4EB26B-517A-B939-9CE4-1F81B95D6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130243" y="1212431"/>
              <a:ext cx="1142759" cy="1142759"/>
            </a:xfrm>
            <a:prstGeom prst="rect">
              <a:avLst/>
            </a:prstGeom>
          </p:spPr>
        </p:pic>
      </p:grp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C08929D0-455B-5F3E-26F2-D768EEFBC7F7}"/>
              </a:ext>
            </a:extLst>
          </p:cNvPr>
          <p:cNvSpPr/>
          <p:nvPr/>
        </p:nvSpPr>
        <p:spPr>
          <a:xfrm>
            <a:off x="2296885" y="6443695"/>
            <a:ext cx="45719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88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E35D-BB03-AD65-F81E-8BC4DEF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20444A-F36D-6193-9895-C4EDBBBBA031}"/>
              </a:ext>
            </a:extLst>
          </p:cNvPr>
          <p:cNvGrpSpPr/>
          <p:nvPr/>
        </p:nvGrpSpPr>
        <p:grpSpPr>
          <a:xfrm>
            <a:off x="4490082" y="2018493"/>
            <a:ext cx="3290429" cy="3316935"/>
            <a:chOff x="4448905" y="2049502"/>
            <a:chExt cx="3290429" cy="331693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2782534-28B1-2B04-60C3-94650581F510}"/>
                </a:ext>
              </a:extLst>
            </p:cNvPr>
            <p:cNvSpPr/>
            <p:nvPr/>
          </p:nvSpPr>
          <p:spPr>
            <a:xfrm>
              <a:off x="4452663" y="2049502"/>
              <a:ext cx="3286671" cy="331693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ilkreis 15">
              <a:extLst>
                <a:ext uri="{FF2B5EF4-FFF2-40B4-BE49-F238E27FC236}">
                  <a16:creationId xmlns:a16="http://schemas.microsoft.com/office/drawing/2014/main" id="{B221FE9B-1D2A-6B2D-C78D-4B1C93739093}"/>
                </a:ext>
              </a:extLst>
            </p:cNvPr>
            <p:cNvSpPr/>
            <p:nvPr/>
          </p:nvSpPr>
          <p:spPr>
            <a:xfrm>
              <a:off x="4448905" y="2051774"/>
              <a:ext cx="3286671" cy="3314663"/>
            </a:xfrm>
            <a:prstGeom prst="pie">
              <a:avLst>
                <a:gd name="adj1" fmla="val 5400611"/>
                <a:gd name="adj2" fmla="val 1620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25B4B38-F293-F8E0-D185-7A9CB8221EBB}"/>
                </a:ext>
              </a:extLst>
            </p:cNvPr>
            <p:cNvSpPr/>
            <p:nvPr/>
          </p:nvSpPr>
          <p:spPr>
            <a:xfrm>
              <a:off x="4868312" y="2468979"/>
              <a:ext cx="2455371" cy="24779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23E623BA-1A36-2B49-9602-278D5F635AF3}"/>
                </a:ext>
              </a:extLst>
            </p:cNvPr>
            <p:cNvSpPr/>
            <p:nvPr/>
          </p:nvSpPr>
          <p:spPr>
            <a:xfrm>
              <a:off x="4960791" y="2572761"/>
              <a:ext cx="2270418" cy="2270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PROJEKT</a:t>
              </a:r>
            </a:p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KONTEXT</a:t>
              </a:r>
            </a:p>
          </p:txBody>
        </p:sp>
      </p:grp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FB6DAC4-87E3-C841-848F-97A9BC2E6C3C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E9C28AC-DADB-4102-33AD-7CDA1064B10B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D3A91B3-0243-C066-DDE9-B809D3101D24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6205308-5C17-8998-4342-8FFAC463C7A3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58C2248-9A5F-FB13-8EE0-E507F443FD94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96B87A5-31FE-E4A7-F92B-9EB927A90B53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7832BBF-C248-F714-4841-9D644B4BD19B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32A113C-92D0-570E-8974-461F9BE2D0F6}"/>
              </a:ext>
            </a:extLst>
          </p:cNvPr>
          <p:cNvSpPr txBox="1"/>
          <p:nvPr/>
        </p:nvSpPr>
        <p:spPr>
          <a:xfrm>
            <a:off x="2296885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Projektkontext &amp; Ziele</a:t>
            </a:r>
          </a:p>
        </p:txBody>
      </p:sp>
      <p:pic>
        <p:nvPicPr>
          <p:cNvPr id="2" name="Grafik 1" descr="Klemmbrett mit einfarbiger Füllung">
            <a:extLst>
              <a:ext uri="{FF2B5EF4-FFF2-40B4-BE49-F238E27FC236}">
                <a16:creationId xmlns:a16="http://schemas.microsoft.com/office/drawing/2014/main" id="{035E08A3-B138-7C00-6FBF-B0243DF43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03744" y="1939072"/>
            <a:ext cx="1977513" cy="1977513"/>
          </a:xfrm>
          <a:prstGeom prst="rect">
            <a:avLst/>
          </a:prstGeom>
        </p:spPr>
      </p:pic>
      <p:pic>
        <p:nvPicPr>
          <p:cNvPr id="3" name="Grafik 2" descr="Freigeben mit einfarbiger Füllung">
            <a:extLst>
              <a:ext uri="{FF2B5EF4-FFF2-40B4-BE49-F238E27FC236}">
                <a16:creationId xmlns:a16="http://schemas.microsoft.com/office/drawing/2014/main" id="{ABD2CCAB-624B-BFBC-4CFF-B3D36565E8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86572" y="1939073"/>
            <a:ext cx="1977513" cy="1977513"/>
          </a:xfrm>
          <a:prstGeom prst="rect">
            <a:avLst/>
          </a:prstGeom>
        </p:spPr>
      </p:pic>
      <p:pic>
        <p:nvPicPr>
          <p:cNvPr id="4" name="Grafik 3" descr="Stoppuhr 66% mit einfarbiger Füllung">
            <a:extLst>
              <a:ext uri="{FF2B5EF4-FFF2-40B4-BE49-F238E27FC236}">
                <a16:creationId xmlns:a16="http://schemas.microsoft.com/office/drawing/2014/main" id="{DA5852F3-9DA3-E4A2-3A09-3ED3DEF8E6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1671" y="1939072"/>
            <a:ext cx="1977514" cy="1977514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41CBEF9-FD1B-BEB8-FA11-DC2BE1B537A2}"/>
              </a:ext>
            </a:extLst>
          </p:cNvPr>
          <p:cNvSpPr txBox="1">
            <a:spLocks/>
          </p:cNvSpPr>
          <p:nvPr/>
        </p:nvSpPr>
        <p:spPr>
          <a:xfrm>
            <a:off x="15714343" y="3916586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Durchschnittliche </a:t>
            </a:r>
            <a:r>
              <a:rPr lang="de-DE" sz="1800" cap="none" dirty="0" err="1"/>
              <a:t>Skill</a:t>
            </a:r>
            <a:r>
              <a:rPr lang="de-DE" sz="1800" cap="none" dirty="0"/>
              <a:t>-Suchzeit: </a:t>
            </a:r>
            <a:r>
              <a:rPr lang="de-DE" sz="1800" b="1" cap="none" dirty="0"/>
              <a:t>2,5 Stunden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967BF3F-AA7E-D91A-74BE-9098DCDBE5A1}"/>
              </a:ext>
            </a:extLst>
          </p:cNvPr>
          <p:cNvSpPr txBox="1">
            <a:spLocks/>
          </p:cNvSpPr>
          <p:nvPr/>
        </p:nvSpPr>
        <p:spPr>
          <a:xfrm>
            <a:off x="19531516" y="3916585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Keine zentrale Übersicht über Mitarbeiter-Skills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895E33-0030-39E7-336B-701BD77C18D8}"/>
              </a:ext>
            </a:extLst>
          </p:cNvPr>
          <p:cNvSpPr txBox="1">
            <a:spLocks/>
          </p:cNvSpPr>
          <p:nvPr/>
        </p:nvSpPr>
        <p:spPr>
          <a:xfrm>
            <a:off x="23348689" y="3916585"/>
            <a:ext cx="3687624" cy="6227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1200"/>
              </a:spcBef>
            </a:pPr>
            <a:r>
              <a:rPr lang="de-DE" sz="1800" cap="none" dirty="0"/>
              <a:t>Manueller Aufwand (Excel, E-Mail, Nachfragen)</a:t>
            </a:r>
            <a:endParaRPr lang="de-DE" sz="1800" cap="none" dirty="0">
              <a:solidFill>
                <a:schemeClr val="tx2"/>
              </a:solidFill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EC24C2E5-0484-1807-9260-55D22A24163A}"/>
              </a:ext>
            </a:extLst>
          </p:cNvPr>
          <p:cNvSpPr txBox="1">
            <a:spLocks/>
          </p:cNvSpPr>
          <p:nvPr/>
        </p:nvSpPr>
        <p:spPr>
          <a:xfrm>
            <a:off x="16898402" y="5066267"/>
            <a:ext cx="8953852" cy="9673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800"/>
              </a:spcBef>
            </a:pPr>
            <a:r>
              <a:rPr lang="de-DE" sz="2000" dirty="0">
                <a:solidFill>
                  <a:schemeClr val="accent1"/>
                </a:solidFill>
              </a:rPr>
              <a:t>Bedarf nach einer zentralen digitalen Lösung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8C0E2E0-3833-649A-A88D-3C94F8A034F0}"/>
              </a:ext>
            </a:extLst>
          </p:cNvPr>
          <p:cNvGrpSpPr/>
          <p:nvPr/>
        </p:nvGrpSpPr>
        <p:grpSpPr>
          <a:xfrm>
            <a:off x="8345050" y="3735261"/>
            <a:ext cx="3118270" cy="1814672"/>
            <a:chOff x="8129963" y="3676961"/>
            <a:chExt cx="3118270" cy="1814672"/>
          </a:xfrm>
        </p:grpSpPr>
        <p:sp>
          <p:nvSpPr>
            <p:cNvPr id="36" name="Titel 1">
              <a:extLst>
                <a:ext uri="{FF2B5EF4-FFF2-40B4-BE49-F238E27FC236}">
                  <a16:creationId xmlns:a16="http://schemas.microsoft.com/office/drawing/2014/main" id="{DD6C38E3-78F8-BEA6-9C7B-819B9F9BDEE6}"/>
                </a:ext>
              </a:extLst>
            </p:cNvPr>
            <p:cNvSpPr txBox="1">
              <a:spLocks/>
            </p:cNvSpPr>
            <p:nvPr/>
          </p:nvSpPr>
          <p:spPr>
            <a:xfrm>
              <a:off x="8129963" y="4868876"/>
              <a:ext cx="3118270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Ziel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800" cap="none" dirty="0">
                  <a:solidFill>
                    <a:schemeClr val="tx2"/>
                  </a:solidFill>
                </a:rPr>
                <a:t>-Transparenz schaffen</a:t>
              </a:r>
            </a:p>
          </p:txBody>
        </p:sp>
        <p:pic>
          <p:nvPicPr>
            <p:cNvPr id="37" name="Grafik 36" descr="Volltreffer mit einfarbiger Füllung">
              <a:extLst>
                <a:ext uri="{FF2B5EF4-FFF2-40B4-BE49-F238E27FC236}">
                  <a16:creationId xmlns:a16="http://schemas.microsoft.com/office/drawing/2014/main" id="{4061E204-0E1D-61E7-1FAC-2382322CD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118514" y="3676961"/>
              <a:ext cx="1166218" cy="1166218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2F1A22CD-765D-C7BA-1B65-E2DE851F8512}"/>
              </a:ext>
            </a:extLst>
          </p:cNvPr>
          <p:cNvGrpSpPr/>
          <p:nvPr/>
        </p:nvGrpSpPr>
        <p:grpSpPr>
          <a:xfrm>
            <a:off x="8060373" y="1748273"/>
            <a:ext cx="3687624" cy="1765516"/>
            <a:chOff x="7845286" y="1212431"/>
            <a:chExt cx="3687624" cy="1765516"/>
          </a:xfrm>
        </p:grpSpPr>
        <p:sp>
          <p:nvSpPr>
            <p:cNvPr id="39" name="Titel 1">
              <a:extLst>
                <a:ext uri="{FF2B5EF4-FFF2-40B4-BE49-F238E27FC236}">
                  <a16:creationId xmlns:a16="http://schemas.microsoft.com/office/drawing/2014/main" id="{40E53C54-9FCE-0A2A-F924-1EC74558D2FF}"/>
                </a:ext>
              </a:extLst>
            </p:cNvPr>
            <p:cNvSpPr txBox="1">
              <a:spLocks/>
            </p:cNvSpPr>
            <p:nvPr/>
          </p:nvSpPr>
          <p:spPr>
            <a:xfrm>
              <a:off x="7845286" y="2355190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Fokus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Mobility IT, Fulda</a:t>
              </a:r>
            </a:p>
          </p:txBody>
        </p:sp>
        <p:pic>
          <p:nvPicPr>
            <p:cNvPr id="40" name="Grafik 39" descr="Markierung mit einfarbiger Füllung">
              <a:extLst>
                <a:ext uri="{FF2B5EF4-FFF2-40B4-BE49-F238E27FC236}">
                  <a16:creationId xmlns:a16="http://schemas.microsoft.com/office/drawing/2014/main" id="{BDFF6DB6-31D5-CA1B-D93E-32E3975C5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30243" y="1212431"/>
              <a:ext cx="1142759" cy="1142759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AC15E90C-6A20-3AFC-7DBA-9FBC90063A41}"/>
              </a:ext>
            </a:extLst>
          </p:cNvPr>
          <p:cNvGrpSpPr/>
          <p:nvPr/>
        </p:nvGrpSpPr>
        <p:grpSpPr>
          <a:xfrm>
            <a:off x="484018" y="3647468"/>
            <a:ext cx="3687624" cy="1887340"/>
            <a:chOff x="680843" y="3604294"/>
            <a:chExt cx="3687624" cy="1887340"/>
          </a:xfrm>
        </p:grpSpPr>
        <p:sp>
          <p:nvSpPr>
            <p:cNvPr id="42" name="Titel 1">
              <a:extLst>
                <a:ext uri="{FF2B5EF4-FFF2-40B4-BE49-F238E27FC236}">
                  <a16:creationId xmlns:a16="http://schemas.microsoft.com/office/drawing/2014/main" id="{DAC9B1E0-8D51-6AC3-25FB-E801BAC53A8A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4868877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Teams </a:t>
              </a:r>
              <a:endParaRPr lang="de-DE" sz="1800" b="1" cap="none" dirty="0">
                <a:solidFill>
                  <a:schemeClr val="tx2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Kompetenzvielfalt</a:t>
              </a:r>
              <a:endParaRPr lang="de-DE" sz="1800" cap="none" dirty="0"/>
            </a:p>
          </p:txBody>
        </p:sp>
        <p:pic>
          <p:nvPicPr>
            <p:cNvPr id="43" name="Grafik 42" descr="Benutzer mit einfarbiger Füllung">
              <a:extLst>
                <a:ext uri="{FF2B5EF4-FFF2-40B4-BE49-F238E27FC236}">
                  <a16:creationId xmlns:a16="http://schemas.microsoft.com/office/drawing/2014/main" id="{3B4DA585-CFF7-2844-66D6-5A34659F1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17608" y="3604294"/>
              <a:ext cx="1439815" cy="1439815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0C76D88-EC19-59CC-1FA0-8683ADAD7C26}"/>
              </a:ext>
            </a:extLst>
          </p:cNvPr>
          <p:cNvGrpSpPr/>
          <p:nvPr/>
        </p:nvGrpSpPr>
        <p:grpSpPr>
          <a:xfrm>
            <a:off x="533242" y="1564424"/>
            <a:ext cx="3687624" cy="1962065"/>
            <a:chOff x="680843" y="1018154"/>
            <a:chExt cx="3687624" cy="1962065"/>
          </a:xfrm>
        </p:grpSpPr>
        <p:sp>
          <p:nvSpPr>
            <p:cNvPr id="45" name="Titel 1">
              <a:extLst>
                <a:ext uri="{FF2B5EF4-FFF2-40B4-BE49-F238E27FC236}">
                  <a16:creationId xmlns:a16="http://schemas.microsoft.com/office/drawing/2014/main" id="{A8FFEC3E-5F74-730B-6B2F-61652C3C8532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2357462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Bedarf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Unternehmens weit</a:t>
              </a:r>
            </a:p>
          </p:txBody>
        </p:sp>
        <p:pic>
          <p:nvPicPr>
            <p:cNvPr id="46" name="Grafik 45" descr="Zahnräder mit einfarbiger Füllung">
              <a:extLst>
                <a:ext uri="{FF2B5EF4-FFF2-40B4-BE49-F238E27FC236}">
                  <a16:creationId xmlns:a16="http://schemas.microsoft.com/office/drawing/2014/main" id="{EEEB23AF-CB40-084B-B718-DDB2E7A6C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17607" y="1018154"/>
              <a:ext cx="1315649" cy="1315649"/>
            </a:xfrm>
            <a:prstGeom prst="rect">
              <a:avLst/>
            </a:prstGeom>
          </p:spPr>
        </p:pic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CE070B32-7DF6-5EFF-8AB2-47A9DBC56C0A}"/>
              </a:ext>
            </a:extLst>
          </p:cNvPr>
          <p:cNvGrpSpPr/>
          <p:nvPr/>
        </p:nvGrpSpPr>
        <p:grpSpPr>
          <a:xfrm>
            <a:off x="-7954412" y="801965"/>
            <a:ext cx="5301689" cy="5301689"/>
            <a:chOff x="-89799" y="1036685"/>
            <a:chExt cx="5342562" cy="5342562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9EA415AC-E733-2E55-AA88-F72850F3DB64}"/>
                </a:ext>
              </a:extLst>
            </p:cNvPr>
            <p:cNvSpPr/>
            <p:nvPr/>
          </p:nvSpPr>
          <p:spPr>
            <a:xfrm>
              <a:off x="-89799" y="1036685"/>
              <a:ext cx="5342562" cy="5342562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bg2">
                    <a:lumMod val="9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2807D479-C2BE-3CFB-A2B0-69513A9FECD3}"/>
                </a:ext>
              </a:extLst>
            </p:cNvPr>
            <p:cNvSpPr/>
            <p:nvPr/>
          </p:nvSpPr>
          <p:spPr>
            <a:xfrm>
              <a:off x="715918" y="1825226"/>
              <a:ext cx="3731128" cy="3765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>
                  <a:alpha val="94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33E2A1D5-94CB-B6BF-CED5-A2D39197341A}"/>
                </a:ext>
              </a:extLst>
            </p:cNvPr>
            <p:cNvGrpSpPr/>
            <p:nvPr/>
          </p:nvGrpSpPr>
          <p:grpSpPr>
            <a:xfrm>
              <a:off x="938149" y="2049502"/>
              <a:ext cx="3286671" cy="3316935"/>
              <a:chOff x="4452663" y="2049502"/>
              <a:chExt cx="3286671" cy="3316935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3A3A34B9-E5F1-17CA-1C16-05C2A6653966}"/>
                  </a:ext>
                </a:extLst>
              </p:cNvPr>
              <p:cNvSpPr/>
              <p:nvPr/>
            </p:nvSpPr>
            <p:spPr>
              <a:xfrm>
                <a:off x="4452663" y="2049502"/>
                <a:ext cx="3286671" cy="331693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7DD2601-5ED3-88D4-E774-4728DFFDFB58}"/>
                  </a:ext>
                </a:extLst>
              </p:cNvPr>
              <p:cNvSpPr/>
              <p:nvPr/>
            </p:nvSpPr>
            <p:spPr>
              <a:xfrm>
                <a:off x="4713575" y="2312817"/>
                <a:ext cx="2764845" cy="2790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F8335F9E-B710-878B-7B65-A384A371DF02}"/>
                  </a:ext>
                </a:extLst>
              </p:cNvPr>
              <p:cNvSpPr/>
              <p:nvPr/>
            </p:nvSpPr>
            <p:spPr>
              <a:xfrm>
                <a:off x="4960791" y="2572761"/>
                <a:ext cx="2270418" cy="227041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24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F5F476C0-17A5-04ED-D0FD-B081232A53B0}"/>
                </a:ext>
              </a:extLst>
            </p:cNvPr>
            <p:cNvSpPr/>
            <p:nvPr/>
          </p:nvSpPr>
          <p:spPr>
            <a:xfrm>
              <a:off x="1696140" y="2803226"/>
              <a:ext cx="1792375" cy="1812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B7ADD049-8AD0-B2D2-2D8D-1A2AB86C09EB}"/>
                </a:ext>
              </a:extLst>
            </p:cNvPr>
            <p:cNvSpPr/>
            <p:nvPr/>
          </p:nvSpPr>
          <p:spPr>
            <a:xfrm>
              <a:off x="2001925" y="3128409"/>
              <a:ext cx="1159114" cy="11591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24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1394F8AB-A563-2814-8AC5-6F9277997E9C}"/>
                </a:ext>
              </a:extLst>
            </p:cNvPr>
            <p:cNvCxnSpPr/>
            <p:nvPr/>
          </p:nvCxnSpPr>
          <p:spPr>
            <a:xfrm flipH="1" flipV="1">
              <a:off x="1828800" y="3128409"/>
              <a:ext cx="752682" cy="579557"/>
            </a:xfrm>
            <a:prstGeom prst="line">
              <a:avLst/>
            </a:prstGeom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Pfeil: Chevron 55">
              <a:extLst>
                <a:ext uri="{FF2B5EF4-FFF2-40B4-BE49-F238E27FC236}">
                  <a16:creationId xmlns:a16="http://schemas.microsoft.com/office/drawing/2014/main" id="{2F7A485D-0285-461F-7D78-5E5EDDAB1F0E}"/>
                </a:ext>
              </a:extLst>
            </p:cNvPr>
            <p:cNvSpPr/>
            <p:nvPr/>
          </p:nvSpPr>
          <p:spPr>
            <a:xfrm rot="2173825">
              <a:off x="1098216" y="2580672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57" name="Pfeil: Chevron 56">
              <a:extLst>
                <a:ext uri="{FF2B5EF4-FFF2-40B4-BE49-F238E27FC236}">
                  <a16:creationId xmlns:a16="http://schemas.microsoft.com/office/drawing/2014/main" id="{D7F7AC8C-0847-82C9-0A9B-AC729FCC3D88}"/>
                </a:ext>
              </a:extLst>
            </p:cNvPr>
            <p:cNvSpPr/>
            <p:nvPr/>
          </p:nvSpPr>
          <p:spPr>
            <a:xfrm rot="2173825">
              <a:off x="636370" y="2245904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3320B2F-6A42-BB87-D8B7-66D970F64484}"/>
              </a:ext>
            </a:extLst>
          </p:cNvPr>
          <p:cNvGrpSpPr/>
          <p:nvPr/>
        </p:nvGrpSpPr>
        <p:grpSpPr>
          <a:xfrm>
            <a:off x="29450157" y="1134595"/>
            <a:ext cx="4738727" cy="899105"/>
            <a:chOff x="4334405" y="1236090"/>
            <a:chExt cx="4738727" cy="899105"/>
          </a:xfrm>
        </p:grpSpPr>
        <p:sp>
          <p:nvSpPr>
            <p:cNvPr id="68" name="Titel 1">
              <a:extLst>
                <a:ext uri="{FF2B5EF4-FFF2-40B4-BE49-F238E27FC236}">
                  <a16:creationId xmlns:a16="http://schemas.microsoft.com/office/drawing/2014/main" id="{160105E4-7C18-F81D-475E-98842E43B3DB}"/>
                </a:ext>
              </a:extLst>
            </p:cNvPr>
            <p:cNvSpPr txBox="1">
              <a:spLocks/>
            </p:cNvSpPr>
            <p:nvPr/>
          </p:nvSpPr>
          <p:spPr>
            <a:xfrm>
              <a:off x="5385508" y="1343429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Transparenz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Zentrale Darstellung</a:t>
              </a:r>
            </a:p>
          </p:txBody>
        </p: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C2813448-DCAE-806E-31C7-9ED28157AB07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6C12E8A5-38CF-845C-F9C9-4634B36101F8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36A7C743-4582-D452-1CC4-BF65C7883A74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2" name="Grafik 71" descr="Puzzle mit einfarbiger Füllung">
                <a:extLst>
                  <a:ext uri="{FF2B5EF4-FFF2-40B4-BE49-F238E27FC236}">
                    <a16:creationId xmlns:a16="http://schemas.microsoft.com/office/drawing/2014/main" id="{59435306-AF17-84F5-A239-46777D404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15E6C66-4182-4C20-66A2-FD4F864A6238}"/>
              </a:ext>
            </a:extLst>
          </p:cNvPr>
          <p:cNvGrpSpPr/>
          <p:nvPr/>
        </p:nvGrpSpPr>
        <p:grpSpPr>
          <a:xfrm>
            <a:off x="36149391" y="2024313"/>
            <a:ext cx="4718992" cy="934853"/>
            <a:chOff x="4334405" y="1236090"/>
            <a:chExt cx="4718992" cy="934853"/>
          </a:xfrm>
        </p:grpSpPr>
        <p:sp>
          <p:nvSpPr>
            <p:cNvPr id="74" name="Titel 1">
              <a:extLst>
                <a:ext uri="{FF2B5EF4-FFF2-40B4-BE49-F238E27FC236}">
                  <a16:creationId xmlns:a16="http://schemas.microsoft.com/office/drawing/2014/main" id="{0A017601-EF00-3227-3AA6-8EF4002A0D35}"/>
                </a:ext>
              </a:extLst>
            </p:cNvPr>
            <p:cNvSpPr txBox="1">
              <a:spLocks/>
            </p:cNvSpPr>
            <p:nvPr/>
          </p:nvSpPr>
          <p:spPr>
            <a:xfrm>
              <a:off x="5365773" y="13791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 err="1"/>
                <a:t>Skill</a:t>
              </a:r>
              <a:r>
                <a:rPr lang="de-DE" sz="1800" b="1" cap="none" dirty="0"/>
                <a:t>-Suche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Sekunden statt Stunden</a:t>
              </a:r>
            </a:p>
          </p:txBody>
        </p: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540E9F34-BFA2-D9E0-C5B8-C11914AAD64F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782CD493-85DD-21C0-73D7-5BE22EB0C500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5BBB29DB-FF69-3852-2798-EA3A13250824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8" name="Grafik 77" descr="Lupe mit einfarbiger Füllung">
                <a:extLst>
                  <a:ext uri="{FF2B5EF4-FFF2-40B4-BE49-F238E27FC236}">
                    <a16:creationId xmlns:a16="http://schemas.microsoft.com/office/drawing/2014/main" id="{DA5E8DB1-6E81-0012-5541-0DEF53314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62CE51FC-5DB1-F77B-E121-7B5580386D7D}"/>
              </a:ext>
            </a:extLst>
          </p:cNvPr>
          <p:cNvGrpSpPr/>
          <p:nvPr/>
        </p:nvGrpSpPr>
        <p:grpSpPr>
          <a:xfrm>
            <a:off x="42963739" y="2988127"/>
            <a:ext cx="4735529" cy="925962"/>
            <a:chOff x="4334405" y="1236090"/>
            <a:chExt cx="4735529" cy="925962"/>
          </a:xfrm>
        </p:grpSpPr>
        <p:sp>
          <p:nvSpPr>
            <p:cNvPr id="80" name="Titel 1">
              <a:extLst>
                <a:ext uri="{FF2B5EF4-FFF2-40B4-BE49-F238E27FC236}">
                  <a16:creationId xmlns:a16="http://schemas.microsoft.com/office/drawing/2014/main" id="{3536B6A8-C5BC-9ADC-8F50-3B45192776B0}"/>
                </a:ext>
              </a:extLst>
            </p:cNvPr>
            <p:cNvSpPr txBox="1">
              <a:spLocks/>
            </p:cNvSpPr>
            <p:nvPr/>
          </p:nvSpPr>
          <p:spPr>
            <a:xfrm>
              <a:off x="5382310" y="1370286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Standardisierung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Konsistente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600" cap="none" dirty="0">
                  <a:solidFill>
                    <a:schemeClr val="tx2"/>
                  </a:solidFill>
                </a:rPr>
                <a:t>-Struktur</a:t>
              </a:r>
            </a:p>
          </p:txBody>
        </p: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BBD289CC-90A8-3E4F-ED84-6091F96C44C6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E36DAB0E-2016-0C75-27E3-F7D53A57312D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AEEDD30E-62C5-91D7-C3BB-80768B0AE1AA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84" name="Grafik 83" descr="Geöffneter Ordner mit einfarbiger Füllung">
                <a:extLst>
                  <a:ext uri="{FF2B5EF4-FFF2-40B4-BE49-F238E27FC236}">
                    <a16:creationId xmlns:a16="http://schemas.microsoft.com/office/drawing/2014/main" id="{DBF9FBE5-A7F9-02B4-2372-46C1869A1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67197778-55DA-52EA-378A-CE2D5E4F8CCB}"/>
              </a:ext>
            </a:extLst>
          </p:cNvPr>
          <p:cNvGrpSpPr/>
          <p:nvPr/>
        </p:nvGrpSpPr>
        <p:grpSpPr>
          <a:xfrm>
            <a:off x="49589653" y="3940082"/>
            <a:ext cx="4740041" cy="939253"/>
            <a:chOff x="4334405" y="1236090"/>
            <a:chExt cx="4740041" cy="939253"/>
          </a:xfrm>
        </p:grpSpPr>
        <p:sp>
          <p:nvSpPr>
            <p:cNvPr id="86" name="Titel 1">
              <a:extLst>
                <a:ext uri="{FF2B5EF4-FFF2-40B4-BE49-F238E27FC236}">
                  <a16:creationId xmlns:a16="http://schemas.microsoft.com/office/drawing/2014/main" id="{17E89957-109A-4D9E-1067-96BC780663BF}"/>
                </a:ext>
              </a:extLst>
            </p:cNvPr>
            <p:cNvSpPr txBox="1">
              <a:spLocks/>
            </p:cNvSpPr>
            <p:nvPr/>
          </p:nvSpPr>
          <p:spPr>
            <a:xfrm>
              <a:off x="5386822" y="13835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Web-App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Frontend &amp; Backend</a:t>
              </a:r>
            </a:p>
          </p:txBody>
        </p:sp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6E5D52BC-A2E8-F0B4-05B4-6DC79FA7393C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5B917DCD-8E06-C838-B541-FFF3EF190B10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550D74CC-D275-2D04-F757-D33F6AA6E18F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1" name="Grafik 90" descr="Atom mit einfarbiger Füllung">
                <a:extLst>
                  <a:ext uri="{FF2B5EF4-FFF2-40B4-BE49-F238E27FC236}">
                    <a16:creationId xmlns:a16="http://schemas.microsoft.com/office/drawing/2014/main" id="{CD388588-9EE2-2FEE-3432-52406E77E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5E80F7BA-B589-3EAB-2EC5-65129A300EDE}"/>
              </a:ext>
            </a:extLst>
          </p:cNvPr>
          <p:cNvGrpSpPr/>
          <p:nvPr/>
        </p:nvGrpSpPr>
        <p:grpSpPr>
          <a:xfrm>
            <a:off x="56534870" y="4830823"/>
            <a:ext cx="4735201" cy="932438"/>
            <a:chOff x="4334405" y="1236090"/>
            <a:chExt cx="4735201" cy="932438"/>
          </a:xfrm>
        </p:grpSpPr>
        <p:sp>
          <p:nvSpPr>
            <p:cNvPr id="93" name="Titel 1">
              <a:extLst>
                <a:ext uri="{FF2B5EF4-FFF2-40B4-BE49-F238E27FC236}">
                  <a16:creationId xmlns:a16="http://schemas.microsoft.com/office/drawing/2014/main" id="{F97961DF-BB43-9571-62F4-E258CE94D444}"/>
                </a:ext>
              </a:extLst>
            </p:cNvPr>
            <p:cNvSpPr txBox="1">
              <a:spLocks/>
            </p:cNvSpPr>
            <p:nvPr/>
          </p:nvSpPr>
          <p:spPr>
            <a:xfrm>
              <a:off x="5381982" y="1376762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Security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Zugriff über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Keycloak</a:t>
              </a:r>
              <a:endParaRPr lang="de-DE" sz="1600" cap="none" dirty="0">
                <a:solidFill>
                  <a:schemeClr val="tx2"/>
                </a:solidFill>
              </a:endParaRPr>
            </a:p>
          </p:txBody>
        </p:sp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57FA5AC6-3309-B3C8-1FBC-985D5928DAA8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B12FBBCC-D33D-A8E0-CBA3-F69277D75ECD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F39447A5-2A9B-E712-001A-2F90584428D3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97" name="Grafik 96" descr="Sperren mit einfarbiger Füllung">
                <a:extLst>
                  <a:ext uri="{FF2B5EF4-FFF2-40B4-BE49-F238E27FC236}">
                    <a16:creationId xmlns:a16="http://schemas.microsoft.com/office/drawing/2014/main" id="{6F44B0B2-69EE-3521-1228-34F6DAA984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0246F85A-49AF-A426-678E-9F09CD1E8AA9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 err="1">
                <a:solidFill>
                  <a:schemeClr val="tx1"/>
                </a:solidFill>
              </a:rPr>
              <a:t>ProjektKontext</a:t>
            </a:r>
            <a:endParaRPr lang="de-DE" sz="4800" dirty="0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34D8849-8881-E20D-317B-4329DEC0C615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6C8F690A-D895-F1D9-AC37-23AD295D2BD4}"/>
              </a:ext>
            </a:extLst>
          </p:cNvPr>
          <p:cNvSpPr/>
          <p:nvPr/>
        </p:nvSpPr>
        <p:spPr>
          <a:xfrm>
            <a:off x="2296885" y="6443695"/>
            <a:ext cx="92614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631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C5E2-C1B1-A534-F6FC-562FD068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723D2AE0-6C34-C7E2-34AB-5D0C4E208D63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A9912DE6-446A-E5E0-ACD1-2ED1847307BE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48A1D96E-DDEA-B9E1-C5A7-2EC06646120E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9F795A51-4E42-FF75-48C3-9F746DE5F726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7E3F024-5C19-F720-7F24-EE16C8CA5300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FEFA3BF-E762-545D-ABDD-EB7BB7D3343C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61B2757A-EC8D-1390-B262-95FD79755CAB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E68CD04-0F74-F1BA-767F-60BD3A58287C}"/>
              </a:ext>
            </a:extLst>
          </p:cNvPr>
          <p:cNvGrpSpPr/>
          <p:nvPr/>
        </p:nvGrpSpPr>
        <p:grpSpPr>
          <a:xfrm>
            <a:off x="17527657" y="2018493"/>
            <a:ext cx="3290429" cy="3316935"/>
            <a:chOff x="4448905" y="2049502"/>
            <a:chExt cx="3290429" cy="331693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C1341F7-7525-181E-529F-E018C0E5B295}"/>
                </a:ext>
              </a:extLst>
            </p:cNvPr>
            <p:cNvSpPr/>
            <p:nvPr/>
          </p:nvSpPr>
          <p:spPr>
            <a:xfrm>
              <a:off x="4452663" y="2049502"/>
              <a:ext cx="3286671" cy="331693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Teilkreis 15">
              <a:extLst>
                <a:ext uri="{FF2B5EF4-FFF2-40B4-BE49-F238E27FC236}">
                  <a16:creationId xmlns:a16="http://schemas.microsoft.com/office/drawing/2014/main" id="{BC0AB52F-92A7-7F18-BA0D-531C02D5D94E}"/>
                </a:ext>
              </a:extLst>
            </p:cNvPr>
            <p:cNvSpPr/>
            <p:nvPr/>
          </p:nvSpPr>
          <p:spPr>
            <a:xfrm>
              <a:off x="4448905" y="2051774"/>
              <a:ext cx="3290429" cy="3290429"/>
            </a:xfrm>
            <a:prstGeom prst="pie">
              <a:avLst>
                <a:gd name="adj1" fmla="val 5400611"/>
                <a:gd name="adj2" fmla="val 1620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8C0FC10-FC71-5F47-66F4-B012E3F5BE66}"/>
                </a:ext>
              </a:extLst>
            </p:cNvPr>
            <p:cNvSpPr/>
            <p:nvPr/>
          </p:nvSpPr>
          <p:spPr>
            <a:xfrm>
              <a:off x="4868312" y="2468979"/>
              <a:ext cx="2455371" cy="24779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1DA59FE9-DA7F-896C-6D21-6F515DA71BB3}"/>
                </a:ext>
              </a:extLst>
            </p:cNvPr>
            <p:cNvSpPr/>
            <p:nvPr/>
          </p:nvSpPr>
          <p:spPr>
            <a:xfrm>
              <a:off x="4960791" y="2572761"/>
              <a:ext cx="2270418" cy="227041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PROJEKT</a:t>
              </a:r>
            </a:p>
            <a:p>
              <a:pPr algn="ctr"/>
              <a:r>
                <a:rPr lang="de-DE" sz="2400" dirty="0">
                  <a:solidFill>
                    <a:schemeClr val="bg1"/>
                  </a:solidFill>
                  <a:latin typeface="+mj-lt"/>
                </a:rPr>
                <a:t>KONTEXT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08B22BC-4600-3A68-643E-FFAEA96BE109}"/>
              </a:ext>
            </a:extLst>
          </p:cNvPr>
          <p:cNvGrpSpPr/>
          <p:nvPr/>
        </p:nvGrpSpPr>
        <p:grpSpPr>
          <a:xfrm>
            <a:off x="21382625" y="3735261"/>
            <a:ext cx="3118270" cy="1814672"/>
            <a:chOff x="8129963" y="3676961"/>
            <a:chExt cx="3118270" cy="1814672"/>
          </a:xfrm>
        </p:grpSpPr>
        <p:sp>
          <p:nvSpPr>
            <p:cNvPr id="36" name="Titel 1">
              <a:extLst>
                <a:ext uri="{FF2B5EF4-FFF2-40B4-BE49-F238E27FC236}">
                  <a16:creationId xmlns:a16="http://schemas.microsoft.com/office/drawing/2014/main" id="{281F6B55-A3AA-6D68-48F2-14F00675E2D0}"/>
                </a:ext>
              </a:extLst>
            </p:cNvPr>
            <p:cNvSpPr txBox="1">
              <a:spLocks/>
            </p:cNvSpPr>
            <p:nvPr/>
          </p:nvSpPr>
          <p:spPr>
            <a:xfrm>
              <a:off x="8129963" y="4868876"/>
              <a:ext cx="3118270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Ziel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800" cap="none" dirty="0">
                  <a:solidFill>
                    <a:schemeClr val="tx2"/>
                  </a:solidFill>
                </a:rPr>
                <a:t>-Transparenz schaffen</a:t>
              </a:r>
            </a:p>
          </p:txBody>
        </p:sp>
        <p:pic>
          <p:nvPicPr>
            <p:cNvPr id="37" name="Grafik 36" descr="Volltreffer mit einfarbiger Füllung">
              <a:extLst>
                <a:ext uri="{FF2B5EF4-FFF2-40B4-BE49-F238E27FC236}">
                  <a16:creationId xmlns:a16="http://schemas.microsoft.com/office/drawing/2014/main" id="{053808BD-26BF-BB77-C001-1AAC66F75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18514" y="3676961"/>
              <a:ext cx="1166218" cy="1166218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F447139-C67E-674D-B96B-3FFA6B601948}"/>
              </a:ext>
            </a:extLst>
          </p:cNvPr>
          <p:cNvGrpSpPr/>
          <p:nvPr/>
        </p:nvGrpSpPr>
        <p:grpSpPr>
          <a:xfrm>
            <a:off x="21097948" y="1748273"/>
            <a:ext cx="3687624" cy="1765516"/>
            <a:chOff x="7845286" y="1212431"/>
            <a:chExt cx="3687624" cy="1765516"/>
          </a:xfrm>
        </p:grpSpPr>
        <p:sp>
          <p:nvSpPr>
            <p:cNvPr id="39" name="Titel 1">
              <a:extLst>
                <a:ext uri="{FF2B5EF4-FFF2-40B4-BE49-F238E27FC236}">
                  <a16:creationId xmlns:a16="http://schemas.microsoft.com/office/drawing/2014/main" id="{755D3CC4-364B-9FFF-B894-DD5ECF444AAC}"/>
                </a:ext>
              </a:extLst>
            </p:cNvPr>
            <p:cNvSpPr txBox="1">
              <a:spLocks/>
            </p:cNvSpPr>
            <p:nvPr/>
          </p:nvSpPr>
          <p:spPr>
            <a:xfrm>
              <a:off x="7845286" y="2355190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Fokus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Mobility IT, Fulda</a:t>
              </a:r>
            </a:p>
          </p:txBody>
        </p:sp>
        <p:pic>
          <p:nvPicPr>
            <p:cNvPr id="40" name="Grafik 39" descr="Markierung mit einfarbiger Füllung">
              <a:extLst>
                <a:ext uri="{FF2B5EF4-FFF2-40B4-BE49-F238E27FC236}">
                  <a16:creationId xmlns:a16="http://schemas.microsoft.com/office/drawing/2014/main" id="{9FDA3105-5F9F-B925-E283-70BDF1824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30243" y="1212431"/>
              <a:ext cx="1142759" cy="1142759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007EF987-42DD-2313-4AA9-04D22E1DAA73}"/>
              </a:ext>
            </a:extLst>
          </p:cNvPr>
          <p:cNvGrpSpPr/>
          <p:nvPr/>
        </p:nvGrpSpPr>
        <p:grpSpPr>
          <a:xfrm>
            <a:off x="13521593" y="3647468"/>
            <a:ext cx="3687624" cy="1887340"/>
            <a:chOff x="680843" y="3604294"/>
            <a:chExt cx="3687624" cy="1887340"/>
          </a:xfrm>
        </p:grpSpPr>
        <p:sp>
          <p:nvSpPr>
            <p:cNvPr id="42" name="Titel 1">
              <a:extLst>
                <a:ext uri="{FF2B5EF4-FFF2-40B4-BE49-F238E27FC236}">
                  <a16:creationId xmlns:a16="http://schemas.microsoft.com/office/drawing/2014/main" id="{C7A2A830-8ABF-0885-ABC0-2F5C9F839BD2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4868877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Teams </a:t>
              </a:r>
              <a:endParaRPr lang="de-DE" sz="1800" b="1" cap="none" dirty="0">
                <a:solidFill>
                  <a:schemeClr val="tx2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Kompetenzvielfalt</a:t>
              </a:r>
              <a:endParaRPr lang="de-DE" sz="1800" cap="none" dirty="0"/>
            </a:p>
          </p:txBody>
        </p:sp>
        <p:pic>
          <p:nvPicPr>
            <p:cNvPr id="43" name="Grafik 42" descr="Benutzer mit einfarbiger Füllung">
              <a:extLst>
                <a:ext uri="{FF2B5EF4-FFF2-40B4-BE49-F238E27FC236}">
                  <a16:creationId xmlns:a16="http://schemas.microsoft.com/office/drawing/2014/main" id="{27FC3442-6E75-D3B8-DC0C-3284BD56E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17608" y="3604294"/>
              <a:ext cx="1439815" cy="1439815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DAE56A26-66C3-4155-5246-F238ADEC41FA}"/>
              </a:ext>
            </a:extLst>
          </p:cNvPr>
          <p:cNvGrpSpPr/>
          <p:nvPr/>
        </p:nvGrpSpPr>
        <p:grpSpPr>
          <a:xfrm>
            <a:off x="13570817" y="1564424"/>
            <a:ext cx="3687624" cy="1962065"/>
            <a:chOff x="680843" y="1018154"/>
            <a:chExt cx="3687624" cy="1962065"/>
          </a:xfrm>
        </p:grpSpPr>
        <p:sp>
          <p:nvSpPr>
            <p:cNvPr id="45" name="Titel 1">
              <a:extLst>
                <a:ext uri="{FF2B5EF4-FFF2-40B4-BE49-F238E27FC236}">
                  <a16:creationId xmlns:a16="http://schemas.microsoft.com/office/drawing/2014/main" id="{6E46F6B4-8775-A07B-788B-764D674C12BE}"/>
                </a:ext>
              </a:extLst>
            </p:cNvPr>
            <p:cNvSpPr txBox="1">
              <a:spLocks/>
            </p:cNvSpPr>
            <p:nvPr/>
          </p:nvSpPr>
          <p:spPr>
            <a:xfrm>
              <a:off x="680843" y="2357462"/>
              <a:ext cx="3687624" cy="62275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ctr">
                <a:spcBef>
                  <a:spcPts val="1200"/>
                </a:spcBef>
              </a:pPr>
              <a:r>
                <a:rPr lang="de-DE" sz="1800" b="1" cap="none" dirty="0"/>
                <a:t>Bedarf</a:t>
              </a:r>
            </a:p>
            <a:p>
              <a:pPr algn="ctr">
                <a:spcBef>
                  <a:spcPts val="1200"/>
                </a:spcBef>
              </a:pPr>
              <a:r>
                <a:rPr lang="de-DE" sz="1800" cap="none" dirty="0">
                  <a:solidFill>
                    <a:schemeClr val="tx2"/>
                  </a:solidFill>
                </a:rPr>
                <a:t>Unternehmens weit</a:t>
              </a:r>
            </a:p>
          </p:txBody>
        </p:sp>
        <p:pic>
          <p:nvPicPr>
            <p:cNvPr id="46" name="Grafik 45" descr="Zahnräder mit einfarbiger Füllung">
              <a:extLst>
                <a:ext uri="{FF2B5EF4-FFF2-40B4-BE49-F238E27FC236}">
                  <a16:creationId xmlns:a16="http://schemas.microsoft.com/office/drawing/2014/main" id="{F7103586-2FB4-5D68-E476-FD45EB31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17607" y="1018154"/>
              <a:ext cx="1315649" cy="1315649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C660724-3147-C630-3021-397D1A1DAB0F}"/>
              </a:ext>
            </a:extLst>
          </p:cNvPr>
          <p:cNvGrpSpPr/>
          <p:nvPr/>
        </p:nvGrpSpPr>
        <p:grpSpPr>
          <a:xfrm>
            <a:off x="1227247" y="801965"/>
            <a:ext cx="5301689" cy="5301689"/>
            <a:chOff x="-89799" y="1036685"/>
            <a:chExt cx="5342562" cy="5342562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1CF3A9F6-BCC2-8023-04FB-40D404B8E254}"/>
                </a:ext>
              </a:extLst>
            </p:cNvPr>
            <p:cNvSpPr/>
            <p:nvPr/>
          </p:nvSpPr>
          <p:spPr>
            <a:xfrm>
              <a:off x="-89799" y="1036685"/>
              <a:ext cx="5342562" cy="5342562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bg2">
                    <a:lumMod val="9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4260AE7-5007-5B27-6701-BE64DDD32339}"/>
                </a:ext>
              </a:extLst>
            </p:cNvPr>
            <p:cNvSpPr/>
            <p:nvPr/>
          </p:nvSpPr>
          <p:spPr>
            <a:xfrm>
              <a:off x="715918" y="1825226"/>
              <a:ext cx="3731128" cy="3765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>
                  <a:alpha val="94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9AD11981-A5F1-7914-2DE2-12F1CFB7116F}"/>
                </a:ext>
              </a:extLst>
            </p:cNvPr>
            <p:cNvGrpSpPr/>
            <p:nvPr/>
          </p:nvGrpSpPr>
          <p:grpSpPr>
            <a:xfrm>
              <a:off x="938149" y="2049502"/>
              <a:ext cx="3286671" cy="3316935"/>
              <a:chOff x="4452663" y="2049502"/>
              <a:chExt cx="3286671" cy="3316935"/>
            </a:xfrm>
          </p:grpSpPr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CC253D7C-BBD2-BDC0-2A79-2C95C8F0C46F}"/>
                  </a:ext>
                </a:extLst>
              </p:cNvPr>
              <p:cNvSpPr/>
              <p:nvPr/>
            </p:nvSpPr>
            <p:spPr>
              <a:xfrm>
                <a:off x="4452663" y="2049502"/>
                <a:ext cx="3286671" cy="331693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92AED856-1D3F-2589-344D-30F3A46565DE}"/>
                  </a:ext>
                </a:extLst>
              </p:cNvPr>
              <p:cNvSpPr/>
              <p:nvPr/>
            </p:nvSpPr>
            <p:spPr>
              <a:xfrm>
                <a:off x="4713575" y="2312817"/>
                <a:ext cx="2764845" cy="2790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02919EA3-634F-55DC-C7C3-E5EF3B982779}"/>
                  </a:ext>
                </a:extLst>
              </p:cNvPr>
              <p:cNvSpPr/>
              <p:nvPr/>
            </p:nvSpPr>
            <p:spPr>
              <a:xfrm>
                <a:off x="4960791" y="2572761"/>
                <a:ext cx="2270418" cy="227041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24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A69ACAD-DECB-CDBA-A0AA-DA25CA712615}"/>
                </a:ext>
              </a:extLst>
            </p:cNvPr>
            <p:cNvSpPr/>
            <p:nvPr/>
          </p:nvSpPr>
          <p:spPr>
            <a:xfrm>
              <a:off x="1696140" y="2803226"/>
              <a:ext cx="1792375" cy="1812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D203349-3A0F-390C-524D-C13086A8A3F1}"/>
                </a:ext>
              </a:extLst>
            </p:cNvPr>
            <p:cNvSpPr/>
            <p:nvPr/>
          </p:nvSpPr>
          <p:spPr>
            <a:xfrm>
              <a:off x="2001925" y="3128409"/>
              <a:ext cx="1159114" cy="11591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24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3984AD4D-EF83-7F1E-AE85-D70B0694B73F}"/>
                </a:ext>
              </a:extLst>
            </p:cNvPr>
            <p:cNvCxnSpPr/>
            <p:nvPr/>
          </p:nvCxnSpPr>
          <p:spPr>
            <a:xfrm flipH="1" flipV="1">
              <a:off x="1828800" y="3128409"/>
              <a:ext cx="752682" cy="579557"/>
            </a:xfrm>
            <a:prstGeom prst="line">
              <a:avLst/>
            </a:prstGeom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Pfeil: Chevron 18">
              <a:extLst>
                <a:ext uri="{FF2B5EF4-FFF2-40B4-BE49-F238E27FC236}">
                  <a16:creationId xmlns:a16="http://schemas.microsoft.com/office/drawing/2014/main" id="{64E1DEF7-D2FB-A712-EC0E-D9D6FB77BA52}"/>
                </a:ext>
              </a:extLst>
            </p:cNvPr>
            <p:cNvSpPr/>
            <p:nvPr/>
          </p:nvSpPr>
          <p:spPr>
            <a:xfrm rot="2173825">
              <a:off x="1098216" y="2580672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Pfeil: Chevron 20">
              <a:extLst>
                <a:ext uri="{FF2B5EF4-FFF2-40B4-BE49-F238E27FC236}">
                  <a16:creationId xmlns:a16="http://schemas.microsoft.com/office/drawing/2014/main" id="{93A3B45A-A058-43B3-50CF-DAD2DADFFB15}"/>
                </a:ext>
              </a:extLst>
            </p:cNvPr>
            <p:cNvSpPr/>
            <p:nvPr/>
          </p:nvSpPr>
          <p:spPr>
            <a:xfrm rot="2173825">
              <a:off x="636370" y="2245904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647B470-1BF4-3432-39EB-BA2DE36F6A86}"/>
              </a:ext>
            </a:extLst>
          </p:cNvPr>
          <p:cNvGrpSpPr/>
          <p:nvPr/>
        </p:nvGrpSpPr>
        <p:grpSpPr>
          <a:xfrm>
            <a:off x="5419530" y="1134595"/>
            <a:ext cx="4738727" cy="899105"/>
            <a:chOff x="4334405" y="1236090"/>
            <a:chExt cx="4738727" cy="899105"/>
          </a:xfrm>
        </p:grpSpPr>
        <p:sp>
          <p:nvSpPr>
            <p:cNvPr id="49" name="Titel 1">
              <a:extLst>
                <a:ext uri="{FF2B5EF4-FFF2-40B4-BE49-F238E27FC236}">
                  <a16:creationId xmlns:a16="http://schemas.microsoft.com/office/drawing/2014/main" id="{F100BB51-FAFF-5F10-E2DC-982C92764958}"/>
                </a:ext>
              </a:extLst>
            </p:cNvPr>
            <p:cNvSpPr txBox="1">
              <a:spLocks/>
            </p:cNvSpPr>
            <p:nvPr/>
          </p:nvSpPr>
          <p:spPr>
            <a:xfrm>
              <a:off x="5385508" y="1343429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Transparenz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Zentrale Darstellung</a:t>
              </a: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A74653DE-9928-6B73-0DD1-7668EC2BB7C5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056F5633-ACE3-F668-12D3-AF804F6C903E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DC22ED3-2374-A63E-B34C-23BC479923F4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3" name="Grafik 52" descr="Puzzle mit einfarbiger Füllung">
                <a:extLst>
                  <a:ext uri="{FF2B5EF4-FFF2-40B4-BE49-F238E27FC236}">
                    <a16:creationId xmlns:a16="http://schemas.microsoft.com/office/drawing/2014/main" id="{D055E344-52EB-ABF3-BCC5-27DE6B48A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4BA1B8BD-BB02-6447-7FBC-A011EA0CB7EA}"/>
              </a:ext>
            </a:extLst>
          </p:cNvPr>
          <p:cNvGrpSpPr/>
          <p:nvPr/>
        </p:nvGrpSpPr>
        <p:grpSpPr>
          <a:xfrm>
            <a:off x="6008587" y="2024313"/>
            <a:ext cx="4718992" cy="934853"/>
            <a:chOff x="4334405" y="1236090"/>
            <a:chExt cx="4718992" cy="934853"/>
          </a:xfrm>
        </p:grpSpPr>
        <p:sp>
          <p:nvSpPr>
            <p:cNvPr id="55" name="Titel 1">
              <a:extLst>
                <a:ext uri="{FF2B5EF4-FFF2-40B4-BE49-F238E27FC236}">
                  <a16:creationId xmlns:a16="http://schemas.microsoft.com/office/drawing/2014/main" id="{079702E3-1980-36E8-CCC5-E780B5A146AD}"/>
                </a:ext>
              </a:extLst>
            </p:cNvPr>
            <p:cNvSpPr txBox="1">
              <a:spLocks/>
            </p:cNvSpPr>
            <p:nvPr/>
          </p:nvSpPr>
          <p:spPr>
            <a:xfrm>
              <a:off x="5365773" y="13791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 err="1"/>
                <a:t>Skill</a:t>
              </a:r>
              <a:r>
                <a:rPr lang="de-DE" sz="1800" b="1" cap="none" dirty="0"/>
                <a:t>-Suche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Sekunden statt Stunden</a:t>
              </a:r>
            </a:p>
          </p:txBody>
        </p: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6E16862E-25A1-4B07-EA0F-D0F56A347AF4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2238E484-BED0-8445-7C6E-F17544DCF2D7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0A624576-1F5C-B775-D369-68A0C90D7DB9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fik 58" descr="Lupe mit einfarbiger Füllung">
                <a:extLst>
                  <a:ext uri="{FF2B5EF4-FFF2-40B4-BE49-F238E27FC236}">
                    <a16:creationId xmlns:a16="http://schemas.microsoft.com/office/drawing/2014/main" id="{81A55490-3B57-AE1C-0BCE-7A2D3032B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CA8CDCE5-C307-828F-C3D1-3E3148524850}"/>
              </a:ext>
            </a:extLst>
          </p:cNvPr>
          <p:cNvGrpSpPr/>
          <p:nvPr/>
        </p:nvGrpSpPr>
        <p:grpSpPr>
          <a:xfrm>
            <a:off x="6201851" y="2988127"/>
            <a:ext cx="4735529" cy="925962"/>
            <a:chOff x="4334405" y="1236090"/>
            <a:chExt cx="4735529" cy="925962"/>
          </a:xfrm>
        </p:grpSpPr>
        <p:sp>
          <p:nvSpPr>
            <p:cNvPr id="61" name="Titel 1">
              <a:extLst>
                <a:ext uri="{FF2B5EF4-FFF2-40B4-BE49-F238E27FC236}">
                  <a16:creationId xmlns:a16="http://schemas.microsoft.com/office/drawing/2014/main" id="{55E7FBE7-793D-B27E-55BD-DA712732F731}"/>
                </a:ext>
              </a:extLst>
            </p:cNvPr>
            <p:cNvSpPr txBox="1">
              <a:spLocks/>
            </p:cNvSpPr>
            <p:nvPr/>
          </p:nvSpPr>
          <p:spPr>
            <a:xfrm>
              <a:off x="5382310" y="1370286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Standardisierung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Konsistente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600" cap="none" dirty="0">
                  <a:solidFill>
                    <a:schemeClr val="tx2"/>
                  </a:solidFill>
                </a:rPr>
                <a:t>-Struktur</a:t>
              </a: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0ED0A3B-F42B-1F4C-F87A-5A28F6C91A01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25539B64-BDA4-AE67-E885-22A690FFBBEB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3CD5512C-A312-A248-3BC2-E37346B90D26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65" name="Grafik 64" descr="Geöffneter Ordner mit einfarbiger Füllung">
                <a:extLst>
                  <a:ext uri="{FF2B5EF4-FFF2-40B4-BE49-F238E27FC236}">
                    <a16:creationId xmlns:a16="http://schemas.microsoft.com/office/drawing/2014/main" id="{477ECB4E-B93B-EEE7-A456-F8092865D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98DC8320-F1C4-3E46-9C45-B40002FD1EC6}"/>
              </a:ext>
            </a:extLst>
          </p:cNvPr>
          <p:cNvGrpSpPr/>
          <p:nvPr/>
        </p:nvGrpSpPr>
        <p:grpSpPr>
          <a:xfrm>
            <a:off x="6008587" y="3940082"/>
            <a:ext cx="4740041" cy="939253"/>
            <a:chOff x="4334405" y="1236090"/>
            <a:chExt cx="4740041" cy="939253"/>
          </a:xfrm>
        </p:grpSpPr>
        <p:sp>
          <p:nvSpPr>
            <p:cNvPr id="67" name="Titel 1">
              <a:extLst>
                <a:ext uri="{FF2B5EF4-FFF2-40B4-BE49-F238E27FC236}">
                  <a16:creationId xmlns:a16="http://schemas.microsoft.com/office/drawing/2014/main" id="{9DA325E6-AFC1-F6F3-74E8-173AED513471}"/>
                </a:ext>
              </a:extLst>
            </p:cNvPr>
            <p:cNvSpPr txBox="1">
              <a:spLocks/>
            </p:cNvSpPr>
            <p:nvPr/>
          </p:nvSpPr>
          <p:spPr>
            <a:xfrm>
              <a:off x="5386822" y="13835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Web-App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Frontend &amp; Backend</a:t>
              </a: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1C2A1848-3D0F-8BFA-6620-573A1DA4E4F8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F385C858-7994-2E67-4A67-9C93DE9103F7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426301EB-6D2E-3EB5-F34C-BAC9DE8EFF24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1" name="Grafik 70" descr="Atom mit einfarbiger Füllung">
                <a:extLst>
                  <a:ext uri="{FF2B5EF4-FFF2-40B4-BE49-F238E27FC236}">
                    <a16:creationId xmlns:a16="http://schemas.microsoft.com/office/drawing/2014/main" id="{5E34EBC4-C1C3-64F3-407B-6858B835D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5CB8A216-DD17-F607-A8F7-32D55763BD93}"/>
              </a:ext>
            </a:extLst>
          </p:cNvPr>
          <p:cNvGrpSpPr/>
          <p:nvPr/>
        </p:nvGrpSpPr>
        <p:grpSpPr>
          <a:xfrm>
            <a:off x="5423056" y="4830823"/>
            <a:ext cx="4735201" cy="932438"/>
            <a:chOff x="4334405" y="1236090"/>
            <a:chExt cx="4735201" cy="932438"/>
          </a:xfrm>
        </p:grpSpPr>
        <p:sp>
          <p:nvSpPr>
            <p:cNvPr id="73" name="Titel 1">
              <a:extLst>
                <a:ext uri="{FF2B5EF4-FFF2-40B4-BE49-F238E27FC236}">
                  <a16:creationId xmlns:a16="http://schemas.microsoft.com/office/drawing/2014/main" id="{C849860F-B61A-2D1A-FFAE-5431679F4CDA}"/>
                </a:ext>
              </a:extLst>
            </p:cNvPr>
            <p:cNvSpPr txBox="1">
              <a:spLocks/>
            </p:cNvSpPr>
            <p:nvPr/>
          </p:nvSpPr>
          <p:spPr>
            <a:xfrm>
              <a:off x="5381982" y="1376762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Security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Zugriff über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Keycloak</a:t>
              </a:r>
              <a:endParaRPr lang="de-DE" sz="1600" cap="none" dirty="0">
                <a:solidFill>
                  <a:schemeClr val="tx2"/>
                </a:solidFill>
              </a:endParaRPr>
            </a:p>
          </p:txBody>
        </p: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DE609AEB-5BAF-4439-1A29-31C27FE26E0E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7D29C4E4-EF9B-31EC-9F70-62F33832E184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E744C553-8F71-7AA6-3E88-196D4CC96A48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7" name="Grafik 76" descr="Sperren mit einfarbiger Füllung">
                <a:extLst>
                  <a:ext uri="{FF2B5EF4-FFF2-40B4-BE49-F238E27FC236}">
                    <a16:creationId xmlns:a16="http://schemas.microsoft.com/office/drawing/2014/main" id="{41362886-A71E-5955-C26A-DDF8967A51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EA12B8AD-F804-668B-FCDA-9C487FCC60A5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ZIELE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1E9C60C-1D37-05ED-421E-97D3C5EACF94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E5FB7653-A5C5-A03A-4619-9F9A376B079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825E9B61-7006-BA4E-068F-FF4826BBC3D4}"/>
              </a:ext>
            </a:extLst>
          </p:cNvPr>
          <p:cNvSpPr txBox="1"/>
          <p:nvPr/>
        </p:nvSpPr>
        <p:spPr>
          <a:xfrm>
            <a:off x="2296885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Projektkontext &amp; Ziele</a:t>
            </a:r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130AE0EA-F21D-3DCF-9FBE-A39893E5049E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6CB96E79-67C4-98BD-841C-C9868DA40DD6}"/>
              </a:ext>
            </a:extLst>
          </p:cNvPr>
          <p:cNvGrpSpPr/>
          <p:nvPr/>
        </p:nvGrpSpPr>
        <p:grpSpPr>
          <a:xfrm>
            <a:off x="-17468737" y="1550003"/>
            <a:ext cx="1601844" cy="4213258"/>
            <a:chOff x="1028349" y="1550003"/>
            <a:chExt cx="1601844" cy="4213258"/>
          </a:xfrm>
        </p:grpSpPr>
        <p:sp>
          <p:nvSpPr>
            <p:cNvPr id="90" name="Rechteck: abgerundete Ecken 89">
              <a:extLst>
                <a:ext uri="{FF2B5EF4-FFF2-40B4-BE49-F238E27FC236}">
                  <a16:creationId xmlns:a16="http://schemas.microsoft.com/office/drawing/2014/main" id="{94129F45-BA38-E649-3BC2-DDE70A4FB848}"/>
                </a:ext>
              </a:extLst>
            </p:cNvPr>
            <p:cNvSpPr/>
            <p:nvPr/>
          </p:nvSpPr>
          <p:spPr>
            <a:xfrm>
              <a:off x="1028349" y="1550003"/>
              <a:ext cx="1601844" cy="421325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pic>
          <p:nvPicPr>
            <p:cNvPr id="91" name="Grafik 90" descr="Benutzer mit einfarbiger Füllung">
              <a:extLst>
                <a:ext uri="{FF2B5EF4-FFF2-40B4-BE49-F238E27FC236}">
                  <a16:creationId xmlns:a16="http://schemas.microsoft.com/office/drawing/2014/main" id="{9C8A5F35-23D0-A096-E3CB-7CE2D34F6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78185" y="1815251"/>
              <a:ext cx="914400" cy="914400"/>
            </a:xfrm>
            <a:prstGeom prst="rect">
              <a:avLst/>
            </a:prstGeom>
          </p:spPr>
        </p:pic>
        <p:pic>
          <p:nvPicPr>
            <p:cNvPr id="92" name="Grafik 91" descr="Benutzer mit einfarbiger Füllung">
              <a:extLst>
                <a:ext uri="{FF2B5EF4-FFF2-40B4-BE49-F238E27FC236}">
                  <a16:creationId xmlns:a16="http://schemas.microsoft.com/office/drawing/2014/main" id="{2AF8402E-7EAE-03A7-7B9B-D27242C78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78185" y="3139973"/>
              <a:ext cx="914400" cy="914400"/>
            </a:xfrm>
            <a:prstGeom prst="rect">
              <a:avLst/>
            </a:prstGeom>
          </p:spPr>
        </p:pic>
        <p:pic>
          <p:nvPicPr>
            <p:cNvPr id="93" name="Grafik 92" descr="Benutzer mit einfarbiger Füllung">
              <a:extLst>
                <a:ext uri="{FF2B5EF4-FFF2-40B4-BE49-F238E27FC236}">
                  <a16:creationId xmlns:a16="http://schemas.microsoft.com/office/drawing/2014/main" id="{622AC1C0-4B6B-2856-985C-4970C35A6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81253" y="4480625"/>
              <a:ext cx="914400" cy="914400"/>
            </a:xfrm>
            <a:prstGeom prst="rect">
              <a:avLst/>
            </a:prstGeom>
          </p:spPr>
        </p:pic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50690615-2E15-8A2D-1C21-81A11E2489FD}"/>
                </a:ext>
              </a:extLst>
            </p:cNvPr>
            <p:cNvSpPr txBox="1"/>
            <p:nvPr/>
          </p:nvSpPr>
          <p:spPr>
            <a:xfrm>
              <a:off x="1484522" y="2626331"/>
              <a:ext cx="70172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Manager</a:t>
              </a: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86FDDAD3-0863-4A6B-C747-F6EE76AB1F39}"/>
                </a:ext>
              </a:extLst>
            </p:cNvPr>
            <p:cNvSpPr txBox="1"/>
            <p:nvPr/>
          </p:nvSpPr>
          <p:spPr>
            <a:xfrm>
              <a:off x="1431352" y="3942345"/>
              <a:ext cx="8080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Employee</a:t>
              </a:r>
              <a:endParaRPr lang="de-DE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0FE255F1-1831-E2B7-91EB-5DCA38A2723F}"/>
                </a:ext>
              </a:extLst>
            </p:cNvPr>
            <p:cNvSpPr txBox="1"/>
            <p:nvPr/>
          </p:nvSpPr>
          <p:spPr>
            <a:xfrm>
              <a:off x="1590501" y="5287303"/>
              <a:ext cx="50455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</a:p>
          </p:txBody>
        </p:sp>
      </p:grpSp>
      <p:sp>
        <p:nvSpPr>
          <p:cNvPr id="97" name="Rechteck: abgerundete Ecken 96">
            <a:extLst>
              <a:ext uri="{FF2B5EF4-FFF2-40B4-BE49-F238E27FC236}">
                <a16:creationId xmlns:a16="http://schemas.microsoft.com/office/drawing/2014/main" id="{0AC5C0D8-8964-9BB1-1371-F3BEC23770B7}"/>
              </a:ext>
            </a:extLst>
          </p:cNvPr>
          <p:cNvSpPr/>
          <p:nvPr/>
        </p:nvSpPr>
        <p:spPr>
          <a:xfrm>
            <a:off x="-8552606" y="1550003"/>
            <a:ext cx="1275641" cy="2198563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22397FE7-0A01-86F6-C0A5-9C2C8E54778D}"/>
              </a:ext>
            </a:extLst>
          </p:cNvPr>
          <p:cNvSpPr/>
          <p:nvPr/>
        </p:nvSpPr>
        <p:spPr>
          <a:xfrm>
            <a:off x="-6262785" y="1528665"/>
            <a:ext cx="1521709" cy="134902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pic>
        <p:nvPicPr>
          <p:cNvPr id="99" name="Grafik 98" descr="Datenbank mit einfarbiger Füllung">
            <a:extLst>
              <a:ext uri="{FF2B5EF4-FFF2-40B4-BE49-F238E27FC236}">
                <a16:creationId xmlns:a16="http://schemas.microsoft.com/office/drawing/2014/main" id="{4E92CA01-B6A5-7537-B7B7-E1F371DE75D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2542611" y="2725910"/>
            <a:ext cx="1627762" cy="1627762"/>
          </a:xfrm>
          <a:prstGeom prst="rect">
            <a:avLst/>
          </a:prstGeom>
        </p:spPr>
      </p:pic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EA84FD74-F5A2-0A2D-604C-D4F78E5FA59F}"/>
              </a:ext>
            </a:extLst>
          </p:cNvPr>
          <p:cNvSpPr/>
          <p:nvPr/>
        </p:nvSpPr>
        <p:spPr>
          <a:xfrm>
            <a:off x="-8546283" y="3828683"/>
            <a:ext cx="3848451" cy="92690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Auth-Provider</a:t>
            </a:r>
          </a:p>
        </p:txBody>
      </p: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0A9A0720-9C15-F662-CF46-25CBBE8528B5}"/>
              </a:ext>
            </a:extLst>
          </p:cNvPr>
          <p:cNvSpPr/>
          <p:nvPr/>
        </p:nvSpPr>
        <p:spPr>
          <a:xfrm>
            <a:off x="-8546283" y="4835702"/>
            <a:ext cx="3848451" cy="923630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Pipeline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F9CD366-C26E-FD9D-6CE8-F48865A3E0CE}"/>
              </a:ext>
            </a:extLst>
          </p:cNvPr>
          <p:cNvSpPr txBox="1"/>
          <p:nvPr/>
        </p:nvSpPr>
        <p:spPr>
          <a:xfrm>
            <a:off x="-2287350" y="4230561"/>
            <a:ext cx="11575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1C047A55-9E57-3E51-00AD-3B5E4D241799}"/>
              </a:ext>
            </a:extLst>
          </p:cNvPr>
          <p:cNvSpPr/>
          <p:nvPr/>
        </p:nvSpPr>
        <p:spPr>
          <a:xfrm>
            <a:off x="-12761638" y="1550003"/>
            <a:ext cx="1103777" cy="4213259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Ingress</a:t>
            </a:r>
          </a:p>
        </p:txBody>
      </p:sp>
    </p:spTree>
    <p:extLst>
      <p:ext uri="{BB962C8B-B14F-4D97-AF65-F5344CB8AC3E}">
        <p14:creationId xmlns:p14="http://schemas.microsoft.com/office/powerpoint/2010/main" val="151759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7838-187D-C019-2906-0820EF24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C56B065-A1D5-F846-416D-A358C48DBBE9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402A20F-6D89-C0FE-D07C-61C476FDBD33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D3EA7550-86EE-1813-F3E5-76898DD892E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63BD872E-27DD-5A59-03A8-096FC890D7BE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8BE0B31-FBFB-C7EE-AB71-BC21721667BD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8761E2F9-7958-68A7-57C8-9F8A5FB7F37A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E2D6B81-1791-A2A7-B9D8-826D329C4F4D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104ACDA-55C2-1478-3562-9CE77C79E376}"/>
              </a:ext>
            </a:extLst>
          </p:cNvPr>
          <p:cNvGrpSpPr/>
          <p:nvPr/>
        </p:nvGrpSpPr>
        <p:grpSpPr>
          <a:xfrm>
            <a:off x="14795763" y="801965"/>
            <a:ext cx="5301689" cy="5301689"/>
            <a:chOff x="-89799" y="1036685"/>
            <a:chExt cx="5342562" cy="5342562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3BEEDD2-8EF7-7988-2C6B-62B3F0D6DF53}"/>
                </a:ext>
              </a:extLst>
            </p:cNvPr>
            <p:cNvSpPr/>
            <p:nvPr/>
          </p:nvSpPr>
          <p:spPr>
            <a:xfrm>
              <a:off x="-89799" y="1036685"/>
              <a:ext cx="5342562" cy="5342562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74000">
                  <a:schemeClr val="accent6">
                    <a:lumMod val="45000"/>
                    <a:lumOff val="55000"/>
                  </a:schemeClr>
                </a:gs>
                <a:gs pos="83000">
                  <a:schemeClr val="bg2">
                    <a:lumMod val="9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A4C794A-0E59-5DA4-C6C4-28A47279999F}"/>
                </a:ext>
              </a:extLst>
            </p:cNvPr>
            <p:cNvSpPr/>
            <p:nvPr/>
          </p:nvSpPr>
          <p:spPr>
            <a:xfrm>
              <a:off x="715918" y="1825226"/>
              <a:ext cx="3731128" cy="3765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>
                  <a:alpha val="94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22B0606B-5946-9CD8-5927-DEEAB6DB83E5}"/>
                </a:ext>
              </a:extLst>
            </p:cNvPr>
            <p:cNvGrpSpPr/>
            <p:nvPr/>
          </p:nvGrpSpPr>
          <p:grpSpPr>
            <a:xfrm>
              <a:off x="938149" y="2049502"/>
              <a:ext cx="3286671" cy="3316935"/>
              <a:chOff x="4452663" y="2049502"/>
              <a:chExt cx="3286671" cy="3316935"/>
            </a:xfrm>
          </p:grpSpPr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F0613DFD-3AA9-3F22-E34D-A4DCD98DC424}"/>
                  </a:ext>
                </a:extLst>
              </p:cNvPr>
              <p:cNvSpPr/>
              <p:nvPr/>
            </p:nvSpPr>
            <p:spPr>
              <a:xfrm>
                <a:off x="4452663" y="2049502"/>
                <a:ext cx="3286671" cy="331693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F769AF7D-252D-B241-8E7E-EA3D1AC47303}"/>
                  </a:ext>
                </a:extLst>
              </p:cNvPr>
              <p:cNvSpPr/>
              <p:nvPr/>
            </p:nvSpPr>
            <p:spPr>
              <a:xfrm>
                <a:off x="4713575" y="2312817"/>
                <a:ext cx="2764845" cy="27903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6D863396-527B-0E44-CEE9-B22EFD21A877}"/>
                  </a:ext>
                </a:extLst>
              </p:cNvPr>
              <p:cNvSpPr/>
              <p:nvPr/>
            </p:nvSpPr>
            <p:spPr>
              <a:xfrm>
                <a:off x="4960791" y="2572761"/>
                <a:ext cx="2270418" cy="227041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24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A169091-EF0D-EADC-01E5-3DC5834347F9}"/>
                </a:ext>
              </a:extLst>
            </p:cNvPr>
            <p:cNvSpPr/>
            <p:nvPr/>
          </p:nvSpPr>
          <p:spPr>
            <a:xfrm>
              <a:off x="1696140" y="2803226"/>
              <a:ext cx="1792375" cy="1812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772A6FD-AD23-5D06-5D4E-AB0F525B55F5}"/>
                </a:ext>
              </a:extLst>
            </p:cNvPr>
            <p:cNvSpPr/>
            <p:nvPr/>
          </p:nvSpPr>
          <p:spPr>
            <a:xfrm>
              <a:off x="2001925" y="3128409"/>
              <a:ext cx="1159114" cy="115911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24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BE17258B-4AB4-EBA7-C707-C81CB72ADFB2}"/>
                </a:ext>
              </a:extLst>
            </p:cNvPr>
            <p:cNvCxnSpPr/>
            <p:nvPr/>
          </p:nvCxnSpPr>
          <p:spPr>
            <a:xfrm flipH="1" flipV="1">
              <a:off x="1828800" y="3128409"/>
              <a:ext cx="752682" cy="579557"/>
            </a:xfrm>
            <a:prstGeom prst="line">
              <a:avLst/>
            </a:prstGeom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Pfeil: Chevron 18">
              <a:extLst>
                <a:ext uri="{FF2B5EF4-FFF2-40B4-BE49-F238E27FC236}">
                  <a16:creationId xmlns:a16="http://schemas.microsoft.com/office/drawing/2014/main" id="{35D696A8-1286-6687-FA3D-CE366563AE89}"/>
                </a:ext>
              </a:extLst>
            </p:cNvPr>
            <p:cNvSpPr/>
            <p:nvPr/>
          </p:nvSpPr>
          <p:spPr>
            <a:xfrm rot="2173825">
              <a:off x="1098216" y="2580672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Pfeil: Chevron 20">
              <a:extLst>
                <a:ext uri="{FF2B5EF4-FFF2-40B4-BE49-F238E27FC236}">
                  <a16:creationId xmlns:a16="http://schemas.microsoft.com/office/drawing/2014/main" id="{0E171ECA-B472-C8D5-3D4E-4510CC756EBD}"/>
                </a:ext>
              </a:extLst>
            </p:cNvPr>
            <p:cNvSpPr/>
            <p:nvPr/>
          </p:nvSpPr>
          <p:spPr>
            <a:xfrm rot="2173825">
              <a:off x="636370" y="2245904"/>
              <a:ext cx="824054" cy="625774"/>
            </a:xfrm>
            <a:prstGeom prst="chevron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9432970B-6AD4-417D-6331-2041850608F1}"/>
              </a:ext>
            </a:extLst>
          </p:cNvPr>
          <p:cNvGrpSpPr/>
          <p:nvPr/>
        </p:nvGrpSpPr>
        <p:grpSpPr>
          <a:xfrm>
            <a:off x="18988046" y="1134595"/>
            <a:ext cx="4738727" cy="899105"/>
            <a:chOff x="4334405" y="1236090"/>
            <a:chExt cx="4738727" cy="899105"/>
          </a:xfrm>
        </p:grpSpPr>
        <p:sp>
          <p:nvSpPr>
            <p:cNvPr id="49" name="Titel 1">
              <a:extLst>
                <a:ext uri="{FF2B5EF4-FFF2-40B4-BE49-F238E27FC236}">
                  <a16:creationId xmlns:a16="http://schemas.microsoft.com/office/drawing/2014/main" id="{0F6DE039-9A51-57B1-A7F6-43748F7F43AF}"/>
                </a:ext>
              </a:extLst>
            </p:cNvPr>
            <p:cNvSpPr txBox="1">
              <a:spLocks/>
            </p:cNvSpPr>
            <p:nvPr/>
          </p:nvSpPr>
          <p:spPr>
            <a:xfrm>
              <a:off x="5385508" y="1343429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Transparenz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Zentrale Darstellung</a:t>
              </a: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9A0EB8B4-DA27-D6D0-0B65-17C543306CB9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661D775A-3689-8666-8B98-661638FF50F4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921DF1D8-E9F8-98D1-39A2-F45A6DD37B26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3" name="Grafik 52" descr="Puzzle mit einfarbiger Füllung">
                <a:extLst>
                  <a:ext uri="{FF2B5EF4-FFF2-40B4-BE49-F238E27FC236}">
                    <a16:creationId xmlns:a16="http://schemas.microsoft.com/office/drawing/2014/main" id="{8160FF52-EEF1-4C41-455F-D544AA188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5D866F8-E5EA-D6E4-D18C-8C266983AEF4}"/>
              </a:ext>
            </a:extLst>
          </p:cNvPr>
          <p:cNvGrpSpPr/>
          <p:nvPr/>
        </p:nvGrpSpPr>
        <p:grpSpPr>
          <a:xfrm>
            <a:off x="19577103" y="2024313"/>
            <a:ext cx="4718992" cy="934853"/>
            <a:chOff x="4334405" y="1236090"/>
            <a:chExt cx="4718992" cy="934853"/>
          </a:xfrm>
        </p:grpSpPr>
        <p:sp>
          <p:nvSpPr>
            <p:cNvPr id="55" name="Titel 1">
              <a:extLst>
                <a:ext uri="{FF2B5EF4-FFF2-40B4-BE49-F238E27FC236}">
                  <a16:creationId xmlns:a16="http://schemas.microsoft.com/office/drawing/2014/main" id="{7CF9FF3A-48B8-481C-A551-24F4DEBC858E}"/>
                </a:ext>
              </a:extLst>
            </p:cNvPr>
            <p:cNvSpPr txBox="1">
              <a:spLocks/>
            </p:cNvSpPr>
            <p:nvPr/>
          </p:nvSpPr>
          <p:spPr>
            <a:xfrm>
              <a:off x="5365773" y="13791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 err="1"/>
                <a:t>Skill</a:t>
              </a:r>
              <a:r>
                <a:rPr lang="de-DE" sz="1800" b="1" cap="none" dirty="0"/>
                <a:t>-Suche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Sekunden statt Stunden</a:t>
              </a:r>
            </a:p>
          </p:txBody>
        </p: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2616727E-F81F-5D24-D86F-0BA1CF775248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F77CD3CF-E79C-418E-8F81-B3355E16F441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BF916D4E-3761-3952-E5E1-AF892591FA82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fik 58" descr="Lupe mit einfarbiger Füllung">
                <a:extLst>
                  <a:ext uri="{FF2B5EF4-FFF2-40B4-BE49-F238E27FC236}">
                    <a16:creationId xmlns:a16="http://schemas.microsoft.com/office/drawing/2014/main" id="{52EB2C5A-79F1-DD2B-E78F-A1A6976442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AF11DDF7-FEFF-8CF2-FEE4-E15B1A4147B0}"/>
              </a:ext>
            </a:extLst>
          </p:cNvPr>
          <p:cNvGrpSpPr/>
          <p:nvPr/>
        </p:nvGrpSpPr>
        <p:grpSpPr>
          <a:xfrm>
            <a:off x="19770367" y="2988127"/>
            <a:ext cx="4735529" cy="925962"/>
            <a:chOff x="4334405" y="1236090"/>
            <a:chExt cx="4735529" cy="925962"/>
          </a:xfrm>
        </p:grpSpPr>
        <p:sp>
          <p:nvSpPr>
            <p:cNvPr id="61" name="Titel 1">
              <a:extLst>
                <a:ext uri="{FF2B5EF4-FFF2-40B4-BE49-F238E27FC236}">
                  <a16:creationId xmlns:a16="http://schemas.microsoft.com/office/drawing/2014/main" id="{895D59C3-8F0A-92F5-5356-5C28E439EA0F}"/>
                </a:ext>
              </a:extLst>
            </p:cNvPr>
            <p:cNvSpPr txBox="1">
              <a:spLocks/>
            </p:cNvSpPr>
            <p:nvPr/>
          </p:nvSpPr>
          <p:spPr>
            <a:xfrm>
              <a:off x="5382310" y="1370286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Standardisierung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Konsistente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Skill</a:t>
              </a:r>
              <a:r>
                <a:rPr lang="de-DE" sz="1600" cap="none" dirty="0">
                  <a:solidFill>
                    <a:schemeClr val="tx2"/>
                  </a:solidFill>
                </a:rPr>
                <a:t>-Struktur</a:t>
              </a: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0A48E6DC-DAAF-DCDD-2987-0304BC6432D5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F3C3B59E-96A7-BFAB-10D0-81B9250802F0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8C476FFF-43BB-ABE7-7F15-BDC531C7F049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65" name="Grafik 64" descr="Geöffneter Ordner mit einfarbiger Füllung">
                <a:extLst>
                  <a:ext uri="{FF2B5EF4-FFF2-40B4-BE49-F238E27FC236}">
                    <a16:creationId xmlns:a16="http://schemas.microsoft.com/office/drawing/2014/main" id="{523F01FE-93A4-26C6-D128-ADFAA14EB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324C945-ADB4-CE23-2494-AAC7DBC62742}"/>
              </a:ext>
            </a:extLst>
          </p:cNvPr>
          <p:cNvGrpSpPr/>
          <p:nvPr/>
        </p:nvGrpSpPr>
        <p:grpSpPr>
          <a:xfrm>
            <a:off x="19577103" y="3940082"/>
            <a:ext cx="4740041" cy="939253"/>
            <a:chOff x="4334405" y="1236090"/>
            <a:chExt cx="4740041" cy="939253"/>
          </a:xfrm>
        </p:grpSpPr>
        <p:sp>
          <p:nvSpPr>
            <p:cNvPr id="67" name="Titel 1">
              <a:extLst>
                <a:ext uri="{FF2B5EF4-FFF2-40B4-BE49-F238E27FC236}">
                  <a16:creationId xmlns:a16="http://schemas.microsoft.com/office/drawing/2014/main" id="{308F179E-73D3-DD74-B0AB-A306BD0339EE}"/>
                </a:ext>
              </a:extLst>
            </p:cNvPr>
            <p:cNvSpPr txBox="1">
              <a:spLocks/>
            </p:cNvSpPr>
            <p:nvPr/>
          </p:nvSpPr>
          <p:spPr>
            <a:xfrm>
              <a:off x="5386822" y="1383577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Web-App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Frontend &amp; Backend</a:t>
              </a: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8D55F2F0-0786-6580-3C2F-05F33A406022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32B80EC-957A-1866-AFD2-95D6D651BD2C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A2374061-AA6C-4C63-CC58-567161BB890F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1" name="Grafik 70" descr="Atom mit einfarbiger Füllung">
                <a:extLst>
                  <a:ext uri="{FF2B5EF4-FFF2-40B4-BE49-F238E27FC236}">
                    <a16:creationId xmlns:a16="http://schemas.microsoft.com/office/drawing/2014/main" id="{3CDAE653-AF57-7F31-9C8D-B8652AF8B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85AAEFE-41FE-57BC-0F4D-72015D72B514}"/>
              </a:ext>
            </a:extLst>
          </p:cNvPr>
          <p:cNvGrpSpPr/>
          <p:nvPr/>
        </p:nvGrpSpPr>
        <p:grpSpPr>
          <a:xfrm>
            <a:off x="18991572" y="4830823"/>
            <a:ext cx="4735201" cy="932438"/>
            <a:chOff x="4334405" y="1236090"/>
            <a:chExt cx="4735201" cy="932438"/>
          </a:xfrm>
        </p:grpSpPr>
        <p:sp>
          <p:nvSpPr>
            <p:cNvPr id="73" name="Titel 1">
              <a:extLst>
                <a:ext uri="{FF2B5EF4-FFF2-40B4-BE49-F238E27FC236}">
                  <a16:creationId xmlns:a16="http://schemas.microsoft.com/office/drawing/2014/main" id="{FE046B87-84C0-12F4-72FB-1AABA23788DA}"/>
                </a:ext>
              </a:extLst>
            </p:cNvPr>
            <p:cNvSpPr txBox="1">
              <a:spLocks/>
            </p:cNvSpPr>
            <p:nvPr/>
          </p:nvSpPr>
          <p:spPr>
            <a:xfrm>
              <a:off x="5381982" y="1376762"/>
              <a:ext cx="3687624" cy="79176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200" kern="1200" cap="all" baseline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lang="de-DE" sz="1800" b="1" cap="none" dirty="0"/>
                <a:t>Security</a:t>
              </a:r>
            </a:p>
            <a:p>
              <a:pPr>
                <a:spcBef>
                  <a:spcPts val="600"/>
                </a:spcBef>
              </a:pPr>
              <a:r>
                <a:rPr lang="de-DE" sz="1600" cap="none" dirty="0">
                  <a:solidFill>
                    <a:schemeClr val="tx2"/>
                  </a:solidFill>
                </a:rPr>
                <a:t>Zugriff über </a:t>
              </a:r>
              <a:r>
                <a:rPr lang="de-DE" sz="1600" cap="none" dirty="0" err="1">
                  <a:solidFill>
                    <a:schemeClr val="tx2"/>
                  </a:solidFill>
                </a:rPr>
                <a:t>Keycloak</a:t>
              </a:r>
              <a:endParaRPr lang="de-DE" sz="1600" cap="none" dirty="0">
                <a:solidFill>
                  <a:schemeClr val="tx2"/>
                </a:solidFill>
              </a:endParaRPr>
            </a:p>
          </p:txBody>
        </p: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6777E517-1F9F-7A1A-E56A-407926491459}"/>
                </a:ext>
              </a:extLst>
            </p:cNvPr>
            <p:cNvGrpSpPr/>
            <p:nvPr/>
          </p:nvGrpSpPr>
          <p:grpSpPr>
            <a:xfrm>
              <a:off x="4334405" y="1236090"/>
              <a:ext cx="832819" cy="832819"/>
              <a:chOff x="4334405" y="1236090"/>
              <a:chExt cx="832819" cy="832819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DBC5C3F7-6E68-413D-DB9C-0C64FEE8E7A7}"/>
                  </a:ext>
                </a:extLst>
              </p:cNvPr>
              <p:cNvSpPr/>
              <p:nvPr/>
            </p:nvSpPr>
            <p:spPr>
              <a:xfrm>
                <a:off x="4334405" y="1236090"/>
                <a:ext cx="832819" cy="8328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91044670-07A7-5A95-191C-73C6A536F5E9}"/>
                  </a:ext>
                </a:extLst>
              </p:cNvPr>
              <p:cNvSpPr/>
              <p:nvPr/>
            </p:nvSpPr>
            <p:spPr>
              <a:xfrm>
                <a:off x="4430066" y="1335597"/>
                <a:ext cx="633804" cy="6338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38100">
                  <a:prstClr val="black">
                    <a:alpha val="92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de-DE" sz="12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7" name="Grafik 76" descr="Sperren mit einfarbiger Füllung">
                <a:extLst>
                  <a:ext uri="{FF2B5EF4-FFF2-40B4-BE49-F238E27FC236}">
                    <a16:creationId xmlns:a16="http://schemas.microsoft.com/office/drawing/2014/main" id="{3FE741CE-971C-E411-79FD-5319D4610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532954" y="1428780"/>
                <a:ext cx="447438" cy="447438"/>
              </a:xfrm>
              <a:prstGeom prst="rect">
                <a:avLst/>
              </a:prstGeom>
            </p:spPr>
          </p:pic>
        </p:grpSp>
      </p:grp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ECE44FEE-C2D0-BFDA-3EC9-091D5470FA70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Architektur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8EF9D01-0492-CA6D-A776-BBCA24A149BF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6B34A964-BACF-9729-F736-CABD841325BC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D11C161-0357-130F-1C78-BB0F1CD2E495}"/>
              </a:ext>
            </a:extLst>
          </p:cNvPr>
          <p:cNvSpPr txBox="1"/>
          <p:nvPr/>
        </p:nvSpPr>
        <p:spPr>
          <a:xfrm>
            <a:off x="4214586" y="6181224"/>
            <a:ext cx="185419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Architektur &amp; Technologien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B7810AE-870C-3C98-F9C2-065F4E01522F}"/>
              </a:ext>
            </a:extLst>
          </p:cNvPr>
          <p:cNvSpPr/>
          <p:nvPr/>
        </p:nvSpPr>
        <p:spPr>
          <a:xfrm>
            <a:off x="4214585" y="6443695"/>
            <a:ext cx="922565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0308218-3695-359F-E2C3-0DFC6255FFED}"/>
              </a:ext>
            </a:extLst>
          </p:cNvPr>
          <p:cNvGrpSpPr/>
          <p:nvPr/>
        </p:nvGrpSpPr>
        <p:grpSpPr>
          <a:xfrm>
            <a:off x="1028349" y="1550003"/>
            <a:ext cx="1601844" cy="4213258"/>
            <a:chOff x="1028349" y="1550003"/>
            <a:chExt cx="1601844" cy="4213258"/>
          </a:xfrm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B6CEC9B0-F895-604D-6B09-3EC7CDEFB4F8}"/>
                </a:ext>
              </a:extLst>
            </p:cNvPr>
            <p:cNvSpPr/>
            <p:nvPr/>
          </p:nvSpPr>
          <p:spPr>
            <a:xfrm>
              <a:off x="1028349" y="1550003"/>
              <a:ext cx="1601844" cy="421325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pic>
          <p:nvPicPr>
            <p:cNvPr id="6" name="Grafik 5" descr="Benutzer mit einfarbiger Füllung">
              <a:extLst>
                <a:ext uri="{FF2B5EF4-FFF2-40B4-BE49-F238E27FC236}">
                  <a16:creationId xmlns:a16="http://schemas.microsoft.com/office/drawing/2014/main" id="{7ACB435E-7F62-6E2C-BE55-0CC5D44FA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78185" y="1815251"/>
              <a:ext cx="914400" cy="914400"/>
            </a:xfrm>
            <a:prstGeom prst="rect">
              <a:avLst/>
            </a:prstGeom>
          </p:spPr>
        </p:pic>
        <p:pic>
          <p:nvPicPr>
            <p:cNvPr id="7" name="Grafik 6" descr="Benutzer mit einfarbiger Füllung">
              <a:extLst>
                <a:ext uri="{FF2B5EF4-FFF2-40B4-BE49-F238E27FC236}">
                  <a16:creationId xmlns:a16="http://schemas.microsoft.com/office/drawing/2014/main" id="{1F700A76-B605-6249-D5EC-6AB757ECB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78185" y="3139973"/>
              <a:ext cx="914400" cy="914400"/>
            </a:xfrm>
            <a:prstGeom prst="rect">
              <a:avLst/>
            </a:prstGeom>
          </p:spPr>
        </p:pic>
        <p:pic>
          <p:nvPicPr>
            <p:cNvPr id="8" name="Grafik 7" descr="Benutzer mit einfarbiger Füllung">
              <a:extLst>
                <a:ext uri="{FF2B5EF4-FFF2-40B4-BE49-F238E27FC236}">
                  <a16:creationId xmlns:a16="http://schemas.microsoft.com/office/drawing/2014/main" id="{56B2CB13-EB3A-DB3C-E3B6-0261C4F47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81253" y="4480625"/>
              <a:ext cx="914400" cy="914400"/>
            </a:xfrm>
            <a:prstGeom prst="rect">
              <a:avLst/>
            </a:prstGeom>
          </p:spPr>
        </p:pic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F7D4DDA-1E64-2B59-ABD7-65BA764A8BFC}"/>
                </a:ext>
              </a:extLst>
            </p:cNvPr>
            <p:cNvSpPr txBox="1"/>
            <p:nvPr/>
          </p:nvSpPr>
          <p:spPr>
            <a:xfrm>
              <a:off x="1484522" y="2626331"/>
              <a:ext cx="70172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Manager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4D676D8A-2928-AEA9-EB82-D828851493EB}"/>
                </a:ext>
              </a:extLst>
            </p:cNvPr>
            <p:cNvSpPr txBox="1"/>
            <p:nvPr/>
          </p:nvSpPr>
          <p:spPr>
            <a:xfrm>
              <a:off x="1431352" y="3942345"/>
              <a:ext cx="8080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Employee</a:t>
              </a:r>
              <a:endParaRPr lang="de-DE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4F8DE96E-D940-CA62-9F74-8A7D09E3C57E}"/>
                </a:ext>
              </a:extLst>
            </p:cNvPr>
            <p:cNvSpPr txBox="1"/>
            <p:nvPr/>
          </p:nvSpPr>
          <p:spPr>
            <a:xfrm>
              <a:off x="1590501" y="5287303"/>
              <a:ext cx="50455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</a:p>
          </p:txBody>
        </p:sp>
      </p:grp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BBAE678E-0004-4B95-FC9A-710E03B9ED3A}"/>
              </a:ext>
            </a:extLst>
          </p:cNvPr>
          <p:cNvSpPr/>
          <p:nvPr/>
        </p:nvSpPr>
        <p:spPr>
          <a:xfrm>
            <a:off x="5713020" y="1550003"/>
            <a:ext cx="1275641" cy="2198563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3D538062-4D94-8482-2C81-06E0BC80F8ED}"/>
              </a:ext>
            </a:extLst>
          </p:cNvPr>
          <p:cNvSpPr/>
          <p:nvPr/>
        </p:nvSpPr>
        <p:spPr>
          <a:xfrm>
            <a:off x="8002841" y="1528665"/>
            <a:ext cx="1521709" cy="134902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pic>
        <p:nvPicPr>
          <p:cNvPr id="82" name="Grafik 81" descr="Datenbank mit einfarbiger Füllung">
            <a:extLst>
              <a:ext uri="{FF2B5EF4-FFF2-40B4-BE49-F238E27FC236}">
                <a16:creationId xmlns:a16="http://schemas.microsoft.com/office/drawing/2014/main" id="{A910C7A9-BAD8-547F-3490-67474719DC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2755" y="2725910"/>
            <a:ext cx="1627762" cy="1627762"/>
          </a:xfrm>
          <a:prstGeom prst="rect">
            <a:avLst/>
          </a:prstGeom>
        </p:spPr>
      </p:pic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70EF1C38-9F81-5CE9-3F70-B25015B3591C}"/>
              </a:ext>
            </a:extLst>
          </p:cNvPr>
          <p:cNvSpPr/>
          <p:nvPr/>
        </p:nvSpPr>
        <p:spPr>
          <a:xfrm>
            <a:off x="5719343" y="3828683"/>
            <a:ext cx="3848451" cy="92690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Auth-Provider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9C54FE9B-29DC-77C2-707E-9FDE3768FFD6}"/>
              </a:ext>
            </a:extLst>
          </p:cNvPr>
          <p:cNvSpPr/>
          <p:nvPr/>
        </p:nvSpPr>
        <p:spPr>
          <a:xfrm>
            <a:off x="5719343" y="4835702"/>
            <a:ext cx="3848451" cy="923630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Pipeline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686F36C2-4FB4-637F-63E0-90288BD2F451}"/>
              </a:ext>
            </a:extLst>
          </p:cNvPr>
          <p:cNvSpPr txBox="1"/>
          <p:nvPr/>
        </p:nvSpPr>
        <p:spPr>
          <a:xfrm>
            <a:off x="10358016" y="4230561"/>
            <a:ext cx="11575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88" name="Pfeil: nach links und rechts 87">
            <a:extLst>
              <a:ext uri="{FF2B5EF4-FFF2-40B4-BE49-F238E27FC236}">
                <a16:creationId xmlns:a16="http://schemas.microsoft.com/office/drawing/2014/main" id="{7C5EB3E9-A301-7581-08CB-14A032CB2262}"/>
              </a:ext>
            </a:extLst>
          </p:cNvPr>
          <p:cNvSpPr/>
          <p:nvPr/>
        </p:nvSpPr>
        <p:spPr>
          <a:xfrm>
            <a:off x="2975013" y="3445779"/>
            <a:ext cx="882711" cy="302787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5740F805-3196-B339-2653-D2D1FD71E125}"/>
              </a:ext>
            </a:extLst>
          </p:cNvPr>
          <p:cNvSpPr/>
          <p:nvPr/>
        </p:nvSpPr>
        <p:spPr>
          <a:xfrm>
            <a:off x="4206863" y="1550003"/>
            <a:ext cx="1103777" cy="4213259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Ingress</a:t>
            </a:r>
          </a:p>
        </p:txBody>
      </p: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BC59E080-5987-5747-8FD0-BE21D2EF81F1}"/>
              </a:ext>
            </a:extLst>
          </p:cNvPr>
          <p:cNvCxnSpPr>
            <a:cxnSpLocks/>
            <a:stCxn id="89" idx="3"/>
            <a:endCxn id="84" idx="1"/>
          </p:cNvCxnSpPr>
          <p:nvPr/>
        </p:nvCxnSpPr>
        <p:spPr>
          <a:xfrm>
            <a:off x="5310640" y="3656633"/>
            <a:ext cx="408703" cy="1640884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D87AB23A-D293-1895-9099-22CB472981B0}"/>
              </a:ext>
            </a:extLst>
          </p:cNvPr>
          <p:cNvCxnSpPr>
            <a:cxnSpLocks/>
            <a:stCxn id="89" idx="3"/>
            <a:endCxn id="83" idx="1"/>
          </p:cNvCxnSpPr>
          <p:nvPr/>
        </p:nvCxnSpPr>
        <p:spPr>
          <a:xfrm>
            <a:off x="5310640" y="3656633"/>
            <a:ext cx="408703" cy="63550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70178F87-B6FD-5DAE-C864-ADCC120A2E83}"/>
              </a:ext>
            </a:extLst>
          </p:cNvPr>
          <p:cNvCxnSpPr>
            <a:cxnSpLocks/>
            <a:stCxn id="89" idx="3"/>
            <a:endCxn id="80" idx="1"/>
          </p:cNvCxnSpPr>
          <p:nvPr/>
        </p:nvCxnSpPr>
        <p:spPr>
          <a:xfrm flipV="1">
            <a:off x="5310640" y="2649285"/>
            <a:ext cx="402380" cy="100734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Grafik 92" descr="Wiederholen mit einfarbiger Füllung">
            <a:extLst>
              <a:ext uri="{FF2B5EF4-FFF2-40B4-BE49-F238E27FC236}">
                <a16:creationId xmlns:a16="http://schemas.microsoft.com/office/drawing/2014/main" id="{24911412-5874-5C73-02D9-BFB464CA75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11787" y="3240397"/>
            <a:ext cx="733986" cy="733986"/>
          </a:xfrm>
          <a:prstGeom prst="rect">
            <a:avLst/>
          </a:prstGeom>
        </p:spPr>
      </p:pic>
      <p:sp>
        <p:nvSpPr>
          <p:cNvPr id="94" name="Pfeil: nach links und rechts 93">
            <a:extLst>
              <a:ext uri="{FF2B5EF4-FFF2-40B4-BE49-F238E27FC236}">
                <a16:creationId xmlns:a16="http://schemas.microsoft.com/office/drawing/2014/main" id="{FA0C76A1-EC0C-0883-17FB-91B300351CD2}"/>
              </a:ext>
            </a:extLst>
          </p:cNvPr>
          <p:cNvSpPr/>
          <p:nvPr/>
        </p:nvSpPr>
        <p:spPr>
          <a:xfrm>
            <a:off x="7058324" y="2051782"/>
            <a:ext cx="882711" cy="302787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95" name="Pfeil: nach links und rechts 94">
            <a:extLst>
              <a:ext uri="{FF2B5EF4-FFF2-40B4-BE49-F238E27FC236}">
                <a16:creationId xmlns:a16="http://schemas.microsoft.com/office/drawing/2014/main" id="{BB61BAAE-5DA7-9D67-5754-336D336A0F0A}"/>
              </a:ext>
            </a:extLst>
          </p:cNvPr>
          <p:cNvSpPr/>
          <p:nvPr/>
        </p:nvSpPr>
        <p:spPr>
          <a:xfrm rot="16200000">
            <a:off x="8405699" y="3197852"/>
            <a:ext cx="769193" cy="3322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9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4" grpId="0" animBg="1"/>
      <p:bldP spid="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1C5D-9C82-0D1C-048F-2EEEFF9E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2C5A324-AB2F-6EE5-E2E9-9A64D5702354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A34576F-6A70-5860-9B30-BF055ED718DF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1AF355B-F197-567F-0FF2-DE4A9C83F3D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A101D518-2C5E-B16B-60A9-278943B2EA83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6F5A8C0D-991F-5E06-356B-EC23CF409830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5DE20B3-8AEF-8C5C-A817-79C71220DEC6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1B2F9D2-6BD8-B4BC-BD98-CF129088AC2A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1F44A81-3E19-11CE-46E3-AA31CCD09EB8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Technologien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D8441B-69DB-06B8-0C82-A89C1B74384D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4A8031C4-EE56-F799-7084-F33259E1AE2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AD643FFF-EF7F-D24A-FCE1-9E04F0DA6698}"/>
              </a:ext>
            </a:extLst>
          </p:cNvPr>
          <p:cNvSpPr txBox="1"/>
          <p:nvPr/>
        </p:nvSpPr>
        <p:spPr>
          <a:xfrm>
            <a:off x="4214586" y="6181224"/>
            <a:ext cx="185419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Architektur &amp; Technologien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2C8AE03-BBF2-7956-44E8-C1F79C918C66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BF79347-7831-F195-80B8-F08E96138223}"/>
              </a:ext>
            </a:extLst>
          </p:cNvPr>
          <p:cNvGrpSpPr/>
          <p:nvPr/>
        </p:nvGrpSpPr>
        <p:grpSpPr>
          <a:xfrm>
            <a:off x="14685356" y="1550003"/>
            <a:ext cx="1601844" cy="4213258"/>
            <a:chOff x="1028349" y="1550003"/>
            <a:chExt cx="1601844" cy="4213258"/>
          </a:xfrm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C13467C0-0DD5-8508-CF1A-C586C04DF069}"/>
                </a:ext>
              </a:extLst>
            </p:cNvPr>
            <p:cNvSpPr/>
            <p:nvPr/>
          </p:nvSpPr>
          <p:spPr>
            <a:xfrm>
              <a:off x="1028349" y="1550003"/>
              <a:ext cx="1601844" cy="421325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sz="1200" dirty="0">
                <a:solidFill>
                  <a:schemeClr val="bg1"/>
                </a:solidFill>
              </a:endParaRPr>
            </a:p>
          </p:txBody>
        </p:sp>
        <p:pic>
          <p:nvPicPr>
            <p:cNvPr id="6" name="Grafik 5" descr="Benutzer mit einfarbiger Füllung">
              <a:extLst>
                <a:ext uri="{FF2B5EF4-FFF2-40B4-BE49-F238E27FC236}">
                  <a16:creationId xmlns:a16="http://schemas.microsoft.com/office/drawing/2014/main" id="{FF81B3BF-506D-156A-BECE-9B84CE8E9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8185" y="1815251"/>
              <a:ext cx="914400" cy="914400"/>
            </a:xfrm>
            <a:prstGeom prst="rect">
              <a:avLst/>
            </a:prstGeom>
          </p:spPr>
        </p:pic>
        <p:pic>
          <p:nvPicPr>
            <p:cNvPr id="7" name="Grafik 6" descr="Benutzer mit einfarbiger Füllung">
              <a:extLst>
                <a:ext uri="{FF2B5EF4-FFF2-40B4-BE49-F238E27FC236}">
                  <a16:creationId xmlns:a16="http://schemas.microsoft.com/office/drawing/2014/main" id="{2256CDBA-C80C-08E0-9799-E48994F2D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8185" y="3139973"/>
              <a:ext cx="914400" cy="914400"/>
            </a:xfrm>
            <a:prstGeom prst="rect">
              <a:avLst/>
            </a:prstGeom>
          </p:spPr>
        </p:pic>
        <p:pic>
          <p:nvPicPr>
            <p:cNvPr id="8" name="Grafik 7" descr="Benutzer mit einfarbiger Füllung">
              <a:extLst>
                <a:ext uri="{FF2B5EF4-FFF2-40B4-BE49-F238E27FC236}">
                  <a16:creationId xmlns:a16="http://schemas.microsoft.com/office/drawing/2014/main" id="{3007B528-D5E6-6298-A193-17A5924D4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1253" y="4480625"/>
              <a:ext cx="914400" cy="914400"/>
            </a:xfrm>
            <a:prstGeom prst="rect">
              <a:avLst/>
            </a:prstGeom>
          </p:spPr>
        </p:pic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79E1FC56-301D-27DA-66C1-8DC2BB8A6845}"/>
                </a:ext>
              </a:extLst>
            </p:cNvPr>
            <p:cNvSpPr txBox="1"/>
            <p:nvPr/>
          </p:nvSpPr>
          <p:spPr>
            <a:xfrm>
              <a:off x="1484522" y="2626331"/>
              <a:ext cx="70172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Manager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6099A312-C80C-661B-7733-053EFA4DFE52}"/>
                </a:ext>
              </a:extLst>
            </p:cNvPr>
            <p:cNvSpPr txBox="1"/>
            <p:nvPr/>
          </p:nvSpPr>
          <p:spPr>
            <a:xfrm>
              <a:off x="1431352" y="3942345"/>
              <a:ext cx="8080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Employee</a:t>
              </a:r>
              <a:endParaRPr lang="de-DE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7E48EBDD-44E1-EC96-1D96-8AA58DC8EC4D}"/>
                </a:ext>
              </a:extLst>
            </p:cNvPr>
            <p:cNvSpPr txBox="1"/>
            <p:nvPr/>
          </p:nvSpPr>
          <p:spPr>
            <a:xfrm>
              <a:off x="1590501" y="5287303"/>
              <a:ext cx="50455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Admin</a:t>
              </a:r>
            </a:p>
          </p:txBody>
        </p:sp>
      </p:grp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F8270535-541F-ABA3-9D9B-04747468D70E}"/>
              </a:ext>
            </a:extLst>
          </p:cNvPr>
          <p:cNvSpPr/>
          <p:nvPr/>
        </p:nvSpPr>
        <p:spPr>
          <a:xfrm>
            <a:off x="19370027" y="1550003"/>
            <a:ext cx="1275641" cy="2198563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860CB67D-D54A-5A99-C7B1-7C73AF63A690}"/>
              </a:ext>
            </a:extLst>
          </p:cNvPr>
          <p:cNvSpPr/>
          <p:nvPr/>
        </p:nvSpPr>
        <p:spPr>
          <a:xfrm>
            <a:off x="21659848" y="1528665"/>
            <a:ext cx="1521709" cy="134902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pic>
        <p:nvPicPr>
          <p:cNvPr id="82" name="Grafik 81" descr="Datenbank mit einfarbiger Füllung">
            <a:extLst>
              <a:ext uri="{FF2B5EF4-FFF2-40B4-BE49-F238E27FC236}">
                <a16:creationId xmlns:a16="http://schemas.microsoft.com/office/drawing/2014/main" id="{A190E126-CDD2-F867-2C69-9BD681A8E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59762" y="2725910"/>
            <a:ext cx="1627762" cy="1627762"/>
          </a:xfrm>
          <a:prstGeom prst="rect">
            <a:avLst/>
          </a:prstGeom>
        </p:spPr>
      </p:pic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012C0DD8-5A96-F975-5A89-9E03A8E17E4F}"/>
              </a:ext>
            </a:extLst>
          </p:cNvPr>
          <p:cNvSpPr/>
          <p:nvPr/>
        </p:nvSpPr>
        <p:spPr>
          <a:xfrm>
            <a:off x="19376350" y="3828683"/>
            <a:ext cx="3848451" cy="926902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Auth-Provider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C3C565FE-5C51-5D68-DB5D-D97265617BCA}"/>
              </a:ext>
            </a:extLst>
          </p:cNvPr>
          <p:cNvSpPr/>
          <p:nvPr/>
        </p:nvSpPr>
        <p:spPr>
          <a:xfrm>
            <a:off x="19376350" y="4835702"/>
            <a:ext cx="3848451" cy="923630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Pipeline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19453125-F0DB-F148-2A69-EC1FA3934A40}"/>
              </a:ext>
            </a:extLst>
          </p:cNvPr>
          <p:cNvSpPr txBox="1"/>
          <p:nvPr/>
        </p:nvSpPr>
        <p:spPr>
          <a:xfrm>
            <a:off x="24015023" y="4230561"/>
            <a:ext cx="11575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88" name="Pfeil: nach links und rechts 87">
            <a:extLst>
              <a:ext uri="{FF2B5EF4-FFF2-40B4-BE49-F238E27FC236}">
                <a16:creationId xmlns:a16="http://schemas.microsoft.com/office/drawing/2014/main" id="{95CF3324-0AD5-F519-0761-87E6BDA808A4}"/>
              </a:ext>
            </a:extLst>
          </p:cNvPr>
          <p:cNvSpPr/>
          <p:nvPr/>
        </p:nvSpPr>
        <p:spPr>
          <a:xfrm>
            <a:off x="16632020" y="3445779"/>
            <a:ext cx="882711" cy="302787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6958934-E170-AD19-2B9D-1B376324CFB3}"/>
              </a:ext>
            </a:extLst>
          </p:cNvPr>
          <p:cNvSpPr/>
          <p:nvPr/>
        </p:nvSpPr>
        <p:spPr>
          <a:xfrm>
            <a:off x="17863870" y="1550003"/>
            <a:ext cx="1103777" cy="4213259"/>
          </a:xfrm>
          <a:prstGeom prst="roundRect">
            <a:avLst/>
          </a:prstGeom>
          <a:solidFill>
            <a:schemeClr val="bg2">
              <a:lumMod val="75000"/>
              <a:alpha val="30196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Ingress</a:t>
            </a:r>
          </a:p>
        </p:txBody>
      </p: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9F22D2C0-267D-0164-9F46-E58AC4E8E42E}"/>
              </a:ext>
            </a:extLst>
          </p:cNvPr>
          <p:cNvCxnSpPr>
            <a:cxnSpLocks/>
            <a:stCxn id="89" idx="3"/>
            <a:endCxn id="84" idx="1"/>
          </p:cNvCxnSpPr>
          <p:nvPr/>
        </p:nvCxnSpPr>
        <p:spPr>
          <a:xfrm>
            <a:off x="18967647" y="3656633"/>
            <a:ext cx="408703" cy="1640884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B83CE12-6A33-A5D1-C4AD-F34045CBC737}"/>
              </a:ext>
            </a:extLst>
          </p:cNvPr>
          <p:cNvCxnSpPr>
            <a:cxnSpLocks/>
            <a:stCxn id="89" idx="3"/>
            <a:endCxn id="83" idx="1"/>
          </p:cNvCxnSpPr>
          <p:nvPr/>
        </p:nvCxnSpPr>
        <p:spPr>
          <a:xfrm>
            <a:off x="18967647" y="3656633"/>
            <a:ext cx="408703" cy="63550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6939FF1-4819-5853-E4EF-09F91A9364CB}"/>
              </a:ext>
            </a:extLst>
          </p:cNvPr>
          <p:cNvCxnSpPr>
            <a:cxnSpLocks/>
            <a:stCxn id="89" idx="3"/>
            <a:endCxn id="80" idx="1"/>
          </p:cNvCxnSpPr>
          <p:nvPr/>
        </p:nvCxnSpPr>
        <p:spPr>
          <a:xfrm flipV="1">
            <a:off x="18967647" y="2649285"/>
            <a:ext cx="402380" cy="100734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Grafik 92" descr="Wiederholen mit einfarbiger Füllung">
            <a:extLst>
              <a:ext uri="{FF2B5EF4-FFF2-40B4-BE49-F238E27FC236}">
                <a16:creationId xmlns:a16="http://schemas.microsoft.com/office/drawing/2014/main" id="{DD237AEE-7B3C-5DD9-84D7-E84247431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268794" y="3240397"/>
            <a:ext cx="733986" cy="733986"/>
          </a:xfrm>
          <a:prstGeom prst="rect">
            <a:avLst/>
          </a:prstGeom>
        </p:spPr>
      </p:pic>
      <p:sp>
        <p:nvSpPr>
          <p:cNvPr id="94" name="Pfeil: nach links und rechts 93">
            <a:extLst>
              <a:ext uri="{FF2B5EF4-FFF2-40B4-BE49-F238E27FC236}">
                <a16:creationId xmlns:a16="http://schemas.microsoft.com/office/drawing/2014/main" id="{770F5691-E201-73AE-5A4D-D6BE3D4E67D6}"/>
              </a:ext>
            </a:extLst>
          </p:cNvPr>
          <p:cNvSpPr/>
          <p:nvPr/>
        </p:nvSpPr>
        <p:spPr>
          <a:xfrm>
            <a:off x="20715331" y="2051782"/>
            <a:ext cx="882711" cy="302787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95" name="Pfeil: nach links und rechts 94">
            <a:extLst>
              <a:ext uri="{FF2B5EF4-FFF2-40B4-BE49-F238E27FC236}">
                <a16:creationId xmlns:a16="http://schemas.microsoft.com/office/drawing/2014/main" id="{5989EC9C-AC45-494F-E9FE-5A071AA046C3}"/>
              </a:ext>
            </a:extLst>
          </p:cNvPr>
          <p:cNvSpPr/>
          <p:nvPr/>
        </p:nvSpPr>
        <p:spPr>
          <a:xfrm rot="16200000">
            <a:off x="22062706" y="3197852"/>
            <a:ext cx="769193" cy="3322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2" name="Rechteck: abgerundete Ecken 181">
            <a:extLst>
              <a:ext uri="{FF2B5EF4-FFF2-40B4-BE49-F238E27FC236}">
                <a16:creationId xmlns:a16="http://schemas.microsoft.com/office/drawing/2014/main" id="{A5AE354F-1185-B69E-7819-7B167D7F985B}"/>
              </a:ext>
            </a:extLst>
          </p:cNvPr>
          <p:cNvSpPr/>
          <p:nvPr/>
        </p:nvSpPr>
        <p:spPr>
          <a:xfrm>
            <a:off x="4835916" y="3845624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3" name="Rechteck: abgerundete Ecken 182">
            <a:extLst>
              <a:ext uri="{FF2B5EF4-FFF2-40B4-BE49-F238E27FC236}">
                <a16:creationId xmlns:a16="http://schemas.microsoft.com/office/drawing/2014/main" id="{143AD922-26DB-E6A6-BBC6-DB7C1E2FB5D8}"/>
              </a:ext>
            </a:extLst>
          </p:cNvPr>
          <p:cNvSpPr/>
          <p:nvPr/>
        </p:nvSpPr>
        <p:spPr>
          <a:xfrm>
            <a:off x="4835915" y="3295136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4" name="Rechteck: abgerundete Ecken 183">
            <a:extLst>
              <a:ext uri="{FF2B5EF4-FFF2-40B4-BE49-F238E27FC236}">
                <a16:creationId xmlns:a16="http://schemas.microsoft.com/office/drawing/2014/main" id="{2E784A50-3866-885B-3367-3DC788427C86}"/>
              </a:ext>
            </a:extLst>
          </p:cNvPr>
          <p:cNvSpPr/>
          <p:nvPr/>
        </p:nvSpPr>
        <p:spPr>
          <a:xfrm>
            <a:off x="4835914" y="2701543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5" name="Rechteck: abgerundete Ecken 184">
            <a:extLst>
              <a:ext uri="{FF2B5EF4-FFF2-40B4-BE49-F238E27FC236}">
                <a16:creationId xmlns:a16="http://schemas.microsoft.com/office/drawing/2014/main" id="{C866C7BD-4940-806D-600A-12D1448655FA}"/>
              </a:ext>
            </a:extLst>
          </p:cNvPr>
          <p:cNvSpPr/>
          <p:nvPr/>
        </p:nvSpPr>
        <p:spPr>
          <a:xfrm>
            <a:off x="4835913" y="2094714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6" name="Rechteck: abgerundete Ecken 185">
            <a:extLst>
              <a:ext uri="{FF2B5EF4-FFF2-40B4-BE49-F238E27FC236}">
                <a16:creationId xmlns:a16="http://schemas.microsoft.com/office/drawing/2014/main" id="{64CCE372-19A4-C1D7-086E-7DFFF5F7EBE1}"/>
              </a:ext>
            </a:extLst>
          </p:cNvPr>
          <p:cNvSpPr/>
          <p:nvPr/>
        </p:nvSpPr>
        <p:spPr>
          <a:xfrm>
            <a:off x="4835912" y="1491866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7" name="Rechteck: abgerundete Ecken 186">
            <a:extLst>
              <a:ext uri="{FF2B5EF4-FFF2-40B4-BE49-F238E27FC236}">
                <a16:creationId xmlns:a16="http://schemas.microsoft.com/office/drawing/2014/main" id="{8B2E05C8-C6CA-3A06-D7D7-D32875587AAC}"/>
              </a:ext>
            </a:extLst>
          </p:cNvPr>
          <p:cNvSpPr/>
          <p:nvPr/>
        </p:nvSpPr>
        <p:spPr>
          <a:xfrm>
            <a:off x="4835912" y="908825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49A4D267-0D51-7166-D0F1-0B2A785E2DA8}"/>
              </a:ext>
            </a:extLst>
          </p:cNvPr>
          <p:cNvGrpSpPr/>
          <p:nvPr/>
        </p:nvGrpSpPr>
        <p:grpSpPr>
          <a:xfrm>
            <a:off x="7716644" y="4614889"/>
            <a:ext cx="3816266" cy="832819"/>
            <a:chOff x="7716644" y="4614889"/>
            <a:chExt cx="3816266" cy="832819"/>
          </a:xfrm>
        </p:grpSpPr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204B74E4-BF84-A5A4-712D-21E6A37396A4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0D71389C-7460-03C6-2C9C-A637DF01B1F9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191" name="Gruppieren 190">
                <a:extLst>
                  <a:ext uri="{FF2B5EF4-FFF2-40B4-BE49-F238E27FC236}">
                    <a16:creationId xmlns:a16="http://schemas.microsoft.com/office/drawing/2014/main" id="{536E3477-ED9E-754B-24D3-0AED403E5FE4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193" name="Ellipse 192">
                  <a:extLst>
                    <a:ext uri="{FF2B5EF4-FFF2-40B4-BE49-F238E27FC236}">
                      <a16:creationId xmlns:a16="http://schemas.microsoft.com/office/drawing/2014/main" id="{125A2754-3A6D-6FBC-1A40-06B4D79E86BA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4" name="Ellipse 193">
                  <a:extLst>
                    <a:ext uri="{FF2B5EF4-FFF2-40B4-BE49-F238E27FC236}">
                      <a16:creationId xmlns:a16="http://schemas.microsoft.com/office/drawing/2014/main" id="{184923C1-587D-02FE-B96B-02C3E8BE72BD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95" name="Grafik 194" descr="Unendlich mit einfarbiger Füllung">
                  <a:extLst>
                    <a:ext uri="{FF2B5EF4-FFF2-40B4-BE49-F238E27FC236}">
                      <a16:creationId xmlns:a16="http://schemas.microsoft.com/office/drawing/2014/main" id="{2B83B780-CC59-D8D8-29C1-CC4C839AD2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192" name="Titel 1">
                <a:extLst>
                  <a:ext uri="{FF2B5EF4-FFF2-40B4-BE49-F238E27FC236}">
                    <a16:creationId xmlns:a16="http://schemas.microsoft.com/office/drawing/2014/main" id="{FBF44C34-44F1-A2C6-D635-89C371198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CI/CD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Jenkins,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Sonarqube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Bitbucket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196" name="Gruppieren 195">
            <a:extLst>
              <a:ext uri="{FF2B5EF4-FFF2-40B4-BE49-F238E27FC236}">
                <a16:creationId xmlns:a16="http://schemas.microsoft.com/office/drawing/2014/main" id="{FCCC9849-A0B2-4662-D110-85B666CE15BF}"/>
              </a:ext>
            </a:extLst>
          </p:cNvPr>
          <p:cNvGrpSpPr/>
          <p:nvPr/>
        </p:nvGrpSpPr>
        <p:grpSpPr>
          <a:xfrm>
            <a:off x="7716644" y="3446771"/>
            <a:ext cx="3816266" cy="832819"/>
            <a:chOff x="7716644" y="4614889"/>
            <a:chExt cx="3816266" cy="832819"/>
          </a:xfrm>
        </p:grpSpPr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C3276143-7F65-3107-A902-3C6E32F6057B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52251F1D-9366-C2DA-54CC-F319E324F350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199" name="Gruppieren 198">
                <a:extLst>
                  <a:ext uri="{FF2B5EF4-FFF2-40B4-BE49-F238E27FC236}">
                    <a16:creationId xmlns:a16="http://schemas.microsoft.com/office/drawing/2014/main" id="{39EE55DC-1055-8B3E-81DF-A56F43608476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201" name="Ellipse 200">
                  <a:extLst>
                    <a:ext uri="{FF2B5EF4-FFF2-40B4-BE49-F238E27FC236}">
                      <a16:creationId xmlns:a16="http://schemas.microsoft.com/office/drawing/2014/main" id="{279A0211-AC89-36FE-68A6-1A57E54F26EC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2" name="Ellipse 201">
                  <a:extLst>
                    <a:ext uri="{FF2B5EF4-FFF2-40B4-BE49-F238E27FC236}">
                      <a16:creationId xmlns:a16="http://schemas.microsoft.com/office/drawing/2014/main" id="{AC94ACAF-1DEC-604C-8329-85EF728ED1C5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03" name="Grafik 202" descr="Sperren mit einfarbiger Füllung">
                  <a:extLst>
                    <a:ext uri="{FF2B5EF4-FFF2-40B4-BE49-F238E27FC236}">
                      <a16:creationId xmlns:a16="http://schemas.microsoft.com/office/drawing/2014/main" id="{CBD48F35-8274-1590-E03E-FEF62234F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00" name="Titel 1">
                <a:extLst>
                  <a:ext uri="{FF2B5EF4-FFF2-40B4-BE49-F238E27FC236}">
                    <a16:creationId xmlns:a16="http://schemas.microsoft.com/office/drawing/2014/main" id="{E4D75DE4-33F5-1C0A-AF3B-AEB8A886CE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Auth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 err="1">
                    <a:solidFill>
                      <a:schemeClr val="tx2"/>
                    </a:solidFill>
                  </a:rPr>
                  <a:t>Keycloak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OAuth2 / OIDC, JWT</a:t>
                </a:r>
              </a:p>
            </p:txBody>
          </p:sp>
        </p:grp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77D8CC45-A89C-E92D-C838-2AEDFF2C7D23}"/>
              </a:ext>
            </a:extLst>
          </p:cNvPr>
          <p:cNvGrpSpPr/>
          <p:nvPr/>
        </p:nvGrpSpPr>
        <p:grpSpPr>
          <a:xfrm>
            <a:off x="7716644" y="2228548"/>
            <a:ext cx="3816266" cy="832819"/>
            <a:chOff x="7716644" y="4614889"/>
            <a:chExt cx="3816266" cy="832819"/>
          </a:xfrm>
        </p:grpSpPr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0F650A08-7CE7-17CE-754F-42E31AA2B4AA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Gruppieren 205">
              <a:extLst>
                <a:ext uri="{FF2B5EF4-FFF2-40B4-BE49-F238E27FC236}">
                  <a16:creationId xmlns:a16="http://schemas.microsoft.com/office/drawing/2014/main" id="{3D4A97BE-D1AC-6235-3521-B946CACD1D7A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207" name="Gruppieren 206">
                <a:extLst>
                  <a:ext uri="{FF2B5EF4-FFF2-40B4-BE49-F238E27FC236}">
                    <a16:creationId xmlns:a16="http://schemas.microsoft.com/office/drawing/2014/main" id="{96991DD5-4E21-63AA-E4B9-5AF8544F1E6D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209" name="Ellipse 208">
                  <a:extLst>
                    <a:ext uri="{FF2B5EF4-FFF2-40B4-BE49-F238E27FC236}">
                      <a16:creationId xmlns:a16="http://schemas.microsoft.com/office/drawing/2014/main" id="{9C6B68D1-BAF4-8AAC-1F40-3B2D47171622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0" name="Ellipse 209">
                  <a:extLst>
                    <a:ext uri="{FF2B5EF4-FFF2-40B4-BE49-F238E27FC236}">
                      <a16:creationId xmlns:a16="http://schemas.microsoft.com/office/drawing/2014/main" id="{66845A8E-8702-0D09-F748-43BE47A30B97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11" name="Grafik 210" descr="Zahnrad mit einfarbiger Füllung">
                  <a:extLst>
                    <a:ext uri="{FF2B5EF4-FFF2-40B4-BE49-F238E27FC236}">
                      <a16:creationId xmlns:a16="http://schemas.microsoft.com/office/drawing/2014/main" id="{2D770C2D-3BDC-7984-62EE-FC7DA30346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08" name="Titel 1">
                <a:extLst>
                  <a:ext uri="{FF2B5EF4-FFF2-40B4-BE49-F238E27FC236}">
                    <a16:creationId xmlns:a16="http://schemas.microsoft.com/office/drawing/2014/main" id="{F2CFADEC-102A-DCCE-F526-BE7C4D98EC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Backend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Spring Boot, Java, REST, Maven</a:t>
                </a:r>
              </a:p>
            </p:txBody>
          </p:sp>
        </p:grpSp>
      </p:grpSp>
      <p:grpSp>
        <p:nvGrpSpPr>
          <p:cNvPr id="212" name="Gruppieren 211">
            <a:extLst>
              <a:ext uri="{FF2B5EF4-FFF2-40B4-BE49-F238E27FC236}">
                <a16:creationId xmlns:a16="http://schemas.microsoft.com/office/drawing/2014/main" id="{A4B2243F-7750-AA1E-D828-50D2DA370773}"/>
              </a:ext>
            </a:extLst>
          </p:cNvPr>
          <p:cNvGrpSpPr/>
          <p:nvPr/>
        </p:nvGrpSpPr>
        <p:grpSpPr>
          <a:xfrm>
            <a:off x="616025" y="4355679"/>
            <a:ext cx="3819615" cy="832819"/>
            <a:chOff x="616025" y="4355679"/>
            <a:chExt cx="3819615" cy="832819"/>
          </a:xfrm>
        </p:grpSpPr>
        <p:cxnSp>
          <p:nvCxnSpPr>
            <p:cNvPr id="213" name="Gerader Verbinder 212">
              <a:extLst>
                <a:ext uri="{FF2B5EF4-FFF2-40B4-BE49-F238E27FC236}">
                  <a16:creationId xmlns:a16="http://schemas.microsoft.com/office/drawing/2014/main" id="{7342605A-E910-6E29-2C45-442737317042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Gruppieren 213">
              <a:extLst>
                <a:ext uri="{FF2B5EF4-FFF2-40B4-BE49-F238E27FC236}">
                  <a16:creationId xmlns:a16="http://schemas.microsoft.com/office/drawing/2014/main" id="{4FFA278D-4D55-A66C-21D2-FAAA362FB4B0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15" name="Gruppieren 214">
                <a:extLst>
                  <a:ext uri="{FF2B5EF4-FFF2-40B4-BE49-F238E27FC236}">
                    <a16:creationId xmlns:a16="http://schemas.microsoft.com/office/drawing/2014/main" id="{A8B4EA10-148C-21CF-4C4B-4F4C06F23C78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17" name="Ellipse 216">
                  <a:extLst>
                    <a:ext uri="{FF2B5EF4-FFF2-40B4-BE49-F238E27FC236}">
                      <a16:creationId xmlns:a16="http://schemas.microsoft.com/office/drawing/2014/main" id="{313380AA-D330-222B-6406-5CE81CDC1157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8" name="Ellipse 217">
                  <a:extLst>
                    <a:ext uri="{FF2B5EF4-FFF2-40B4-BE49-F238E27FC236}">
                      <a16:creationId xmlns:a16="http://schemas.microsoft.com/office/drawing/2014/main" id="{92CC5E46-B42A-50CD-B569-22D507CE7293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19" name="Grafik 218" descr="Cloud mit einfarbiger Füllung">
                  <a:extLst>
                    <a:ext uri="{FF2B5EF4-FFF2-40B4-BE49-F238E27FC236}">
                      <a16:creationId xmlns:a16="http://schemas.microsoft.com/office/drawing/2014/main" id="{6CF13CB4-73E3-6355-44AC-3CF2D2A82B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16" name="Titel 1">
                <a:extLst>
                  <a:ext uri="{FF2B5EF4-FFF2-40B4-BE49-F238E27FC236}">
                    <a16:creationId xmlns:a16="http://schemas.microsoft.com/office/drawing/2014/main" id="{B48EED58-602C-B3C9-26F2-E8BB2758CC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 err="1"/>
                  <a:t>Deployment</a:t>
                </a:r>
                <a:endParaRPr lang="de-DE" sz="1800" b="1" cap="none" dirty="0"/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Docker,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Kubernetes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Traefik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A1061647-701E-F238-4E50-FE68D0374ABA}"/>
              </a:ext>
            </a:extLst>
          </p:cNvPr>
          <p:cNvGrpSpPr/>
          <p:nvPr/>
        </p:nvGrpSpPr>
        <p:grpSpPr>
          <a:xfrm>
            <a:off x="625946" y="3156204"/>
            <a:ext cx="3819615" cy="832819"/>
            <a:chOff x="616025" y="4355679"/>
            <a:chExt cx="3819615" cy="832819"/>
          </a:xfrm>
        </p:grpSpPr>
        <p:cxnSp>
          <p:nvCxnSpPr>
            <p:cNvPr id="221" name="Gerader Verbinder 220">
              <a:extLst>
                <a:ext uri="{FF2B5EF4-FFF2-40B4-BE49-F238E27FC236}">
                  <a16:creationId xmlns:a16="http://schemas.microsoft.com/office/drawing/2014/main" id="{C04C1B5F-DEC9-416F-1AC4-ECD4BDBD4F9B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Gruppieren 221">
              <a:extLst>
                <a:ext uri="{FF2B5EF4-FFF2-40B4-BE49-F238E27FC236}">
                  <a16:creationId xmlns:a16="http://schemas.microsoft.com/office/drawing/2014/main" id="{E2369913-9D37-240B-A29B-968528C4FB7E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23" name="Gruppieren 222">
                <a:extLst>
                  <a:ext uri="{FF2B5EF4-FFF2-40B4-BE49-F238E27FC236}">
                    <a16:creationId xmlns:a16="http://schemas.microsoft.com/office/drawing/2014/main" id="{4B5D1850-6DBE-D279-B991-0E50F40EFC92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25" name="Ellipse 224">
                  <a:extLst>
                    <a:ext uri="{FF2B5EF4-FFF2-40B4-BE49-F238E27FC236}">
                      <a16:creationId xmlns:a16="http://schemas.microsoft.com/office/drawing/2014/main" id="{42D368FB-E506-9CEF-7FE3-ACBC46CC4A5B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6" name="Ellipse 225">
                  <a:extLst>
                    <a:ext uri="{FF2B5EF4-FFF2-40B4-BE49-F238E27FC236}">
                      <a16:creationId xmlns:a16="http://schemas.microsoft.com/office/drawing/2014/main" id="{A79876AA-2C74-7F8A-E70B-749FD677A8A1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27" name="Grafik 226" descr="Datenbank mit einfarbiger Füllung">
                  <a:extLst>
                    <a:ext uri="{FF2B5EF4-FFF2-40B4-BE49-F238E27FC236}">
                      <a16:creationId xmlns:a16="http://schemas.microsoft.com/office/drawing/2014/main" id="{9AF127C6-8817-537E-A1BD-ED243C9F88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24" name="Titel 1">
                <a:extLst>
                  <a:ext uri="{FF2B5EF4-FFF2-40B4-BE49-F238E27FC236}">
                    <a16:creationId xmlns:a16="http://schemas.microsoft.com/office/drawing/2014/main" id="{476B34EF-28C6-2FC1-6A1E-27236FC848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/>
                  <a:t>Datenbank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PostgreSQL,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Flyway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FF56324D-A71F-0B16-7E2A-05CE4BB7894A}"/>
              </a:ext>
            </a:extLst>
          </p:cNvPr>
          <p:cNvGrpSpPr/>
          <p:nvPr/>
        </p:nvGrpSpPr>
        <p:grpSpPr>
          <a:xfrm>
            <a:off x="625946" y="1973474"/>
            <a:ext cx="3819615" cy="832819"/>
            <a:chOff x="616025" y="4355679"/>
            <a:chExt cx="3819615" cy="832819"/>
          </a:xfrm>
        </p:grpSpPr>
        <p:cxnSp>
          <p:nvCxnSpPr>
            <p:cNvPr id="229" name="Gerader Verbinder 228">
              <a:extLst>
                <a:ext uri="{FF2B5EF4-FFF2-40B4-BE49-F238E27FC236}">
                  <a16:creationId xmlns:a16="http://schemas.microsoft.com/office/drawing/2014/main" id="{0FB937EC-F51B-B234-2650-C5A271C745D4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uppieren 229">
              <a:extLst>
                <a:ext uri="{FF2B5EF4-FFF2-40B4-BE49-F238E27FC236}">
                  <a16:creationId xmlns:a16="http://schemas.microsoft.com/office/drawing/2014/main" id="{FE0B7DEC-F350-08BF-0FF8-E92E58AF9DC8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31" name="Gruppieren 230">
                <a:extLst>
                  <a:ext uri="{FF2B5EF4-FFF2-40B4-BE49-F238E27FC236}">
                    <a16:creationId xmlns:a16="http://schemas.microsoft.com/office/drawing/2014/main" id="{26F5101C-BE66-CF3C-B211-5B9021D9B914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33" name="Ellipse 232">
                  <a:extLst>
                    <a:ext uri="{FF2B5EF4-FFF2-40B4-BE49-F238E27FC236}">
                      <a16:creationId xmlns:a16="http://schemas.microsoft.com/office/drawing/2014/main" id="{69BA6207-9632-FFBB-373E-05DB6DDADE7F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4" name="Ellipse 233">
                  <a:extLst>
                    <a:ext uri="{FF2B5EF4-FFF2-40B4-BE49-F238E27FC236}">
                      <a16:creationId xmlns:a16="http://schemas.microsoft.com/office/drawing/2014/main" id="{2294A45F-157B-6BE5-D973-62F89897102E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35" name="Grafik 234" descr="Fernsehen mit einfarbiger Füllung">
                  <a:extLst>
                    <a:ext uri="{FF2B5EF4-FFF2-40B4-BE49-F238E27FC236}">
                      <a16:creationId xmlns:a16="http://schemas.microsoft.com/office/drawing/2014/main" id="{EBB7443D-5C29-3DDC-A7D1-031B6F15D6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32" name="Titel 1">
                <a:extLst>
                  <a:ext uri="{FF2B5EF4-FFF2-40B4-BE49-F238E27FC236}">
                    <a16:creationId xmlns:a16="http://schemas.microsoft.com/office/drawing/2014/main" id="{06153848-263B-8E53-05CF-F3BA1EEBE9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/>
                  <a:t>Frontend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Next.js, React,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TypeScript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TailwindCSS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Redux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236" name="Pfeil: Chevron 235">
            <a:extLst>
              <a:ext uri="{FF2B5EF4-FFF2-40B4-BE49-F238E27FC236}">
                <a16:creationId xmlns:a16="http://schemas.microsoft.com/office/drawing/2014/main" id="{A87FF4DA-CA29-0241-C8A4-289AFEB349C0}"/>
              </a:ext>
            </a:extLst>
          </p:cNvPr>
          <p:cNvSpPr/>
          <p:nvPr/>
        </p:nvSpPr>
        <p:spPr>
          <a:xfrm>
            <a:off x="-13156368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37" name="Pfeil: Chevron 236">
            <a:extLst>
              <a:ext uri="{FF2B5EF4-FFF2-40B4-BE49-F238E27FC236}">
                <a16:creationId xmlns:a16="http://schemas.microsoft.com/office/drawing/2014/main" id="{F7B911B6-A632-92DC-EA01-4A8FC6363C55}"/>
              </a:ext>
            </a:extLst>
          </p:cNvPr>
          <p:cNvSpPr/>
          <p:nvPr/>
        </p:nvSpPr>
        <p:spPr>
          <a:xfrm>
            <a:off x="-2725263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38" name="Gruppieren 237">
            <a:extLst>
              <a:ext uri="{FF2B5EF4-FFF2-40B4-BE49-F238E27FC236}">
                <a16:creationId xmlns:a16="http://schemas.microsoft.com/office/drawing/2014/main" id="{217E5BA3-8A89-1BF7-C2A5-DD5548919BBA}"/>
              </a:ext>
            </a:extLst>
          </p:cNvPr>
          <p:cNvGrpSpPr/>
          <p:nvPr/>
        </p:nvGrpSpPr>
        <p:grpSpPr>
          <a:xfrm>
            <a:off x="-34402160" y="2221743"/>
            <a:ext cx="2341215" cy="2532161"/>
            <a:chOff x="1040812" y="2221743"/>
            <a:chExt cx="2341215" cy="2532161"/>
          </a:xfrm>
        </p:grpSpPr>
        <p:sp>
          <p:nvSpPr>
            <p:cNvPr id="239" name="Rechteck: abgerundete Ecken 238">
              <a:extLst>
                <a:ext uri="{FF2B5EF4-FFF2-40B4-BE49-F238E27FC236}">
                  <a16:creationId xmlns:a16="http://schemas.microsoft.com/office/drawing/2014/main" id="{BFB453CD-060D-4FD8-C79E-2C391F6D2EB8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Backend-Architektur</a:t>
              </a:r>
            </a:p>
          </p:txBody>
        </p:sp>
        <p:pic>
          <p:nvPicPr>
            <p:cNvPr id="240" name="Grafik 239" descr="Architektur mit einfarbiger Füllung">
              <a:extLst>
                <a:ext uri="{FF2B5EF4-FFF2-40B4-BE49-F238E27FC236}">
                  <a16:creationId xmlns:a16="http://schemas.microsoft.com/office/drawing/2014/main" id="{C1F8441C-388A-D5FC-72D3-0A5093864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241" name="Gruppieren 240">
            <a:extLst>
              <a:ext uri="{FF2B5EF4-FFF2-40B4-BE49-F238E27FC236}">
                <a16:creationId xmlns:a16="http://schemas.microsoft.com/office/drawing/2014/main" id="{2E9CA631-34E4-3F18-E8B5-123A823FA5A6}"/>
              </a:ext>
            </a:extLst>
          </p:cNvPr>
          <p:cNvGrpSpPr/>
          <p:nvPr/>
        </p:nvGrpSpPr>
        <p:grpSpPr>
          <a:xfrm>
            <a:off x="-20892669" y="2221743"/>
            <a:ext cx="2341215" cy="2532161"/>
            <a:chOff x="4925391" y="2221743"/>
            <a:chExt cx="2341215" cy="2532161"/>
          </a:xfrm>
        </p:grpSpPr>
        <p:sp>
          <p:nvSpPr>
            <p:cNvPr id="242" name="Rechteck: abgerundete Ecken 241">
              <a:extLst>
                <a:ext uri="{FF2B5EF4-FFF2-40B4-BE49-F238E27FC236}">
                  <a16:creationId xmlns:a16="http://schemas.microsoft.com/office/drawing/2014/main" id="{E1A78935-65D0-99CA-1D43-A3A34ECF5A5F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REST-API</a:t>
              </a:r>
            </a:p>
          </p:txBody>
        </p:sp>
        <p:pic>
          <p:nvPicPr>
            <p:cNvPr id="243" name="Grafik 242" descr="Senden mit einfarbiger Füllung">
              <a:extLst>
                <a:ext uri="{FF2B5EF4-FFF2-40B4-BE49-F238E27FC236}">
                  <a16:creationId xmlns:a16="http://schemas.microsoft.com/office/drawing/2014/main" id="{80601CE6-E6EA-BBC1-CE69-1D66DAC31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ED0C931B-2D56-EBC0-FB29-C306BECB2158}"/>
              </a:ext>
            </a:extLst>
          </p:cNvPr>
          <p:cNvGrpSpPr/>
          <p:nvPr/>
        </p:nvGrpSpPr>
        <p:grpSpPr>
          <a:xfrm>
            <a:off x="-7704107" y="2267850"/>
            <a:ext cx="2341215" cy="2532161"/>
            <a:chOff x="8809970" y="2267850"/>
            <a:chExt cx="2341215" cy="2532161"/>
          </a:xfrm>
        </p:grpSpPr>
        <p:sp>
          <p:nvSpPr>
            <p:cNvPr id="245" name="Rechteck: abgerundete Ecken 244">
              <a:extLst>
                <a:ext uri="{FF2B5EF4-FFF2-40B4-BE49-F238E27FC236}">
                  <a16:creationId xmlns:a16="http://schemas.microsoft.com/office/drawing/2014/main" id="{886CF952-1AA3-E2B0-E697-452B749E0D1A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Security</a:t>
              </a:r>
            </a:p>
          </p:txBody>
        </p:sp>
        <p:pic>
          <p:nvPicPr>
            <p:cNvPr id="246" name="Grafik 245" descr="Sperren mit einfarbiger Füllung">
              <a:extLst>
                <a:ext uri="{FF2B5EF4-FFF2-40B4-BE49-F238E27FC236}">
                  <a16:creationId xmlns:a16="http://schemas.microsoft.com/office/drawing/2014/main" id="{49908CE6-FF3F-96BB-0DDE-D8A5EF603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sp>
        <p:nvSpPr>
          <p:cNvPr id="256" name="Rechteck: abgerundete Ecken 255">
            <a:extLst>
              <a:ext uri="{FF2B5EF4-FFF2-40B4-BE49-F238E27FC236}">
                <a16:creationId xmlns:a16="http://schemas.microsoft.com/office/drawing/2014/main" id="{4505FF72-5D13-2ED9-745B-1ABE23CF3BE3}"/>
              </a:ext>
            </a:extLst>
          </p:cNvPr>
          <p:cNvSpPr/>
          <p:nvPr/>
        </p:nvSpPr>
        <p:spPr>
          <a:xfrm>
            <a:off x="6130923" y="6443695"/>
            <a:ext cx="45719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68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C318-2060-B607-A5D1-1ABB0F26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C1BC723-EC9B-A5C5-1A6F-3B15CE515A5E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Backend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341E20A-ADC0-C18D-3EB4-CB568AFA92B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2" name="Rechteck: abgerundete Ecken 181">
            <a:extLst>
              <a:ext uri="{FF2B5EF4-FFF2-40B4-BE49-F238E27FC236}">
                <a16:creationId xmlns:a16="http://schemas.microsoft.com/office/drawing/2014/main" id="{5BF81A85-BB61-03FD-6EBB-43E380BD0691}"/>
              </a:ext>
            </a:extLst>
          </p:cNvPr>
          <p:cNvSpPr/>
          <p:nvPr/>
        </p:nvSpPr>
        <p:spPr>
          <a:xfrm>
            <a:off x="18932916" y="3845624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3" name="Rechteck: abgerundete Ecken 182">
            <a:extLst>
              <a:ext uri="{FF2B5EF4-FFF2-40B4-BE49-F238E27FC236}">
                <a16:creationId xmlns:a16="http://schemas.microsoft.com/office/drawing/2014/main" id="{09FF103C-E1FD-991A-1034-E884798512EC}"/>
              </a:ext>
            </a:extLst>
          </p:cNvPr>
          <p:cNvSpPr/>
          <p:nvPr/>
        </p:nvSpPr>
        <p:spPr>
          <a:xfrm>
            <a:off x="18932915" y="3295136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4" name="Rechteck: abgerundete Ecken 183">
            <a:extLst>
              <a:ext uri="{FF2B5EF4-FFF2-40B4-BE49-F238E27FC236}">
                <a16:creationId xmlns:a16="http://schemas.microsoft.com/office/drawing/2014/main" id="{0F1AB62B-9B34-95EC-3B28-DDCF3A8F0427}"/>
              </a:ext>
            </a:extLst>
          </p:cNvPr>
          <p:cNvSpPr/>
          <p:nvPr/>
        </p:nvSpPr>
        <p:spPr>
          <a:xfrm>
            <a:off x="18932914" y="2701543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5" name="Rechteck: abgerundete Ecken 184">
            <a:extLst>
              <a:ext uri="{FF2B5EF4-FFF2-40B4-BE49-F238E27FC236}">
                <a16:creationId xmlns:a16="http://schemas.microsoft.com/office/drawing/2014/main" id="{5ECFBEF1-B525-010F-67AD-64A319A84F09}"/>
              </a:ext>
            </a:extLst>
          </p:cNvPr>
          <p:cNvSpPr/>
          <p:nvPr/>
        </p:nvSpPr>
        <p:spPr>
          <a:xfrm>
            <a:off x="18932913" y="2094714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6" name="Rechteck: abgerundete Ecken 185">
            <a:extLst>
              <a:ext uri="{FF2B5EF4-FFF2-40B4-BE49-F238E27FC236}">
                <a16:creationId xmlns:a16="http://schemas.microsoft.com/office/drawing/2014/main" id="{57F8BC8B-A47A-8859-11A1-04EFC6C5DFAD}"/>
              </a:ext>
            </a:extLst>
          </p:cNvPr>
          <p:cNvSpPr/>
          <p:nvPr/>
        </p:nvSpPr>
        <p:spPr>
          <a:xfrm>
            <a:off x="18932912" y="1491866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7" name="Rechteck: abgerundete Ecken 186">
            <a:extLst>
              <a:ext uri="{FF2B5EF4-FFF2-40B4-BE49-F238E27FC236}">
                <a16:creationId xmlns:a16="http://schemas.microsoft.com/office/drawing/2014/main" id="{2F719CE9-DB45-9DB5-2E8A-EBA1036F3B41}"/>
              </a:ext>
            </a:extLst>
          </p:cNvPr>
          <p:cNvSpPr/>
          <p:nvPr/>
        </p:nvSpPr>
        <p:spPr>
          <a:xfrm>
            <a:off x="18932912" y="908825"/>
            <a:ext cx="2520175" cy="2520175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>
            <a:noFill/>
          </a:ln>
          <a:effectLst>
            <a:softEdge rad="0"/>
          </a:effectLst>
          <a:scene3d>
            <a:camera prst="isometricOffAxis2Top"/>
            <a:lightRig rig="threePt" dir="t"/>
          </a:scene3d>
          <a:sp3d extrusionH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FE642ABF-D7B5-B2B7-95AA-DF4D1A82C02D}"/>
              </a:ext>
            </a:extLst>
          </p:cNvPr>
          <p:cNvGrpSpPr/>
          <p:nvPr/>
        </p:nvGrpSpPr>
        <p:grpSpPr>
          <a:xfrm>
            <a:off x="21813644" y="4614889"/>
            <a:ext cx="3816266" cy="832819"/>
            <a:chOff x="7716644" y="4614889"/>
            <a:chExt cx="3816266" cy="832819"/>
          </a:xfrm>
        </p:grpSpPr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487BF655-6D02-06F7-907A-6468CD46BBC5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139FB3CB-6840-D5EB-55AA-04243BB2A63C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191" name="Gruppieren 190">
                <a:extLst>
                  <a:ext uri="{FF2B5EF4-FFF2-40B4-BE49-F238E27FC236}">
                    <a16:creationId xmlns:a16="http://schemas.microsoft.com/office/drawing/2014/main" id="{117D2D94-FB7F-C5FD-04AB-2B18976C3C60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193" name="Ellipse 192">
                  <a:extLst>
                    <a:ext uri="{FF2B5EF4-FFF2-40B4-BE49-F238E27FC236}">
                      <a16:creationId xmlns:a16="http://schemas.microsoft.com/office/drawing/2014/main" id="{B2A3F10E-7CAC-4ECE-F8DC-C00E76FE48AD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4" name="Ellipse 193">
                  <a:extLst>
                    <a:ext uri="{FF2B5EF4-FFF2-40B4-BE49-F238E27FC236}">
                      <a16:creationId xmlns:a16="http://schemas.microsoft.com/office/drawing/2014/main" id="{28385CB5-66C7-91E1-E485-F7D3306C326F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95" name="Grafik 194" descr="Unendlich mit einfarbiger Füllung">
                  <a:extLst>
                    <a:ext uri="{FF2B5EF4-FFF2-40B4-BE49-F238E27FC236}">
                      <a16:creationId xmlns:a16="http://schemas.microsoft.com/office/drawing/2014/main" id="{EFFE04EA-555C-C36B-9BE7-C829C9BAD9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192" name="Titel 1">
                <a:extLst>
                  <a:ext uri="{FF2B5EF4-FFF2-40B4-BE49-F238E27FC236}">
                    <a16:creationId xmlns:a16="http://schemas.microsoft.com/office/drawing/2014/main" id="{E03E3FCE-C854-4868-C573-404CB57D56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CI/CD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Jenkins,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Sonarqube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Bitbucket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196" name="Gruppieren 195">
            <a:extLst>
              <a:ext uri="{FF2B5EF4-FFF2-40B4-BE49-F238E27FC236}">
                <a16:creationId xmlns:a16="http://schemas.microsoft.com/office/drawing/2014/main" id="{7439E089-281C-95A4-290D-9992C38056D6}"/>
              </a:ext>
            </a:extLst>
          </p:cNvPr>
          <p:cNvGrpSpPr/>
          <p:nvPr/>
        </p:nvGrpSpPr>
        <p:grpSpPr>
          <a:xfrm>
            <a:off x="21813644" y="3446771"/>
            <a:ext cx="3816266" cy="832819"/>
            <a:chOff x="7716644" y="4614889"/>
            <a:chExt cx="3816266" cy="832819"/>
          </a:xfrm>
        </p:grpSpPr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ED5B2F7B-8515-2BA2-AB46-F578535B4C3F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4E689333-C123-A0D2-EAC7-CAAE27217504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199" name="Gruppieren 198">
                <a:extLst>
                  <a:ext uri="{FF2B5EF4-FFF2-40B4-BE49-F238E27FC236}">
                    <a16:creationId xmlns:a16="http://schemas.microsoft.com/office/drawing/2014/main" id="{F21C1C85-404B-2B5C-0D6E-01EC6DE3F6CD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201" name="Ellipse 200">
                  <a:extLst>
                    <a:ext uri="{FF2B5EF4-FFF2-40B4-BE49-F238E27FC236}">
                      <a16:creationId xmlns:a16="http://schemas.microsoft.com/office/drawing/2014/main" id="{001B0020-0519-E684-97B4-27FFEAAA0269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2" name="Ellipse 201">
                  <a:extLst>
                    <a:ext uri="{FF2B5EF4-FFF2-40B4-BE49-F238E27FC236}">
                      <a16:creationId xmlns:a16="http://schemas.microsoft.com/office/drawing/2014/main" id="{48173114-63E4-897D-76E5-450BDD200D66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03" name="Grafik 202" descr="Sperren mit einfarbiger Füllung">
                  <a:extLst>
                    <a:ext uri="{FF2B5EF4-FFF2-40B4-BE49-F238E27FC236}">
                      <a16:creationId xmlns:a16="http://schemas.microsoft.com/office/drawing/2014/main" id="{9282D8C5-7C66-E1A6-5428-BC9883D5F3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00" name="Titel 1">
                <a:extLst>
                  <a:ext uri="{FF2B5EF4-FFF2-40B4-BE49-F238E27FC236}">
                    <a16:creationId xmlns:a16="http://schemas.microsoft.com/office/drawing/2014/main" id="{DAEF17C5-3B32-B27E-A43B-EF370CB000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Auth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 err="1">
                    <a:solidFill>
                      <a:schemeClr val="tx2"/>
                    </a:solidFill>
                  </a:rPr>
                  <a:t>Keycloak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OAuth2 / OIDC, JWT</a:t>
                </a:r>
              </a:p>
            </p:txBody>
          </p:sp>
        </p:grp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EA4A35C9-A6C1-505B-8179-20BCB7704946}"/>
              </a:ext>
            </a:extLst>
          </p:cNvPr>
          <p:cNvGrpSpPr/>
          <p:nvPr/>
        </p:nvGrpSpPr>
        <p:grpSpPr>
          <a:xfrm>
            <a:off x="21813644" y="2228548"/>
            <a:ext cx="3816266" cy="832819"/>
            <a:chOff x="7716644" y="4614889"/>
            <a:chExt cx="3816266" cy="832819"/>
          </a:xfrm>
        </p:grpSpPr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0922807F-D2BA-0674-0D04-750AE7DEC97B}"/>
                </a:ext>
              </a:extLst>
            </p:cNvPr>
            <p:cNvCxnSpPr/>
            <p:nvPr/>
          </p:nvCxnSpPr>
          <p:spPr>
            <a:xfrm>
              <a:off x="7716644" y="5029200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Gruppieren 205">
              <a:extLst>
                <a:ext uri="{FF2B5EF4-FFF2-40B4-BE49-F238E27FC236}">
                  <a16:creationId xmlns:a16="http://schemas.microsoft.com/office/drawing/2014/main" id="{ADA3786F-31C9-B506-3E10-C15F64377F8E}"/>
                </a:ext>
              </a:extLst>
            </p:cNvPr>
            <p:cNvGrpSpPr/>
            <p:nvPr/>
          </p:nvGrpSpPr>
          <p:grpSpPr>
            <a:xfrm>
              <a:off x="8136792" y="4614889"/>
              <a:ext cx="3396118" cy="832819"/>
              <a:chOff x="8136792" y="4614889"/>
              <a:chExt cx="3396118" cy="832819"/>
            </a:xfrm>
          </p:grpSpPr>
          <p:grpSp>
            <p:nvGrpSpPr>
              <p:cNvPr id="207" name="Gruppieren 206">
                <a:extLst>
                  <a:ext uri="{FF2B5EF4-FFF2-40B4-BE49-F238E27FC236}">
                    <a16:creationId xmlns:a16="http://schemas.microsoft.com/office/drawing/2014/main" id="{F6FFC5A9-94B5-4294-CCAC-B1FC3271853C}"/>
                  </a:ext>
                </a:extLst>
              </p:cNvPr>
              <p:cNvGrpSpPr/>
              <p:nvPr/>
            </p:nvGrpSpPr>
            <p:grpSpPr>
              <a:xfrm>
                <a:off x="8136792" y="4614889"/>
                <a:ext cx="832819" cy="832819"/>
                <a:chOff x="4129210" y="1133594"/>
                <a:chExt cx="832819" cy="832819"/>
              </a:xfrm>
            </p:grpSpPr>
            <p:sp>
              <p:nvSpPr>
                <p:cNvPr id="209" name="Ellipse 208">
                  <a:extLst>
                    <a:ext uri="{FF2B5EF4-FFF2-40B4-BE49-F238E27FC236}">
                      <a16:creationId xmlns:a16="http://schemas.microsoft.com/office/drawing/2014/main" id="{BDBBF2DF-A557-8E75-D697-6E63167AABE7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0" name="Ellipse 209">
                  <a:extLst>
                    <a:ext uri="{FF2B5EF4-FFF2-40B4-BE49-F238E27FC236}">
                      <a16:creationId xmlns:a16="http://schemas.microsoft.com/office/drawing/2014/main" id="{A589036B-212D-06E3-414A-24F77A403536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11" name="Grafik 210" descr="Zahnrad mit einfarbiger Füllung">
                  <a:extLst>
                    <a:ext uri="{FF2B5EF4-FFF2-40B4-BE49-F238E27FC236}">
                      <a16:creationId xmlns:a16="http://schemas.microsoft.com/office/drawing/2014/main" id="{864F8559-DE26-CC70-2D02-1B7381D655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08" name="Titel 1">
                <a:extLst>
                  <a:ext uri="{FF2B5EF4-FFF2-40B4-BE49-F238E27FC236}">
                    <a16:creationId xmlns:a16="http://schemas.microsoft.com/office/drawing/2014/main" id="{87E2FD16-4D99-58C9-C044-001BE2E30F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4541" y="4655942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>
                  <a:spcBef>
                    <a:spcPts val="600"/>
                  </a:spcBef>
                </a:pPr>
                <a:r>
                  <a:rPr lang="de-DE" sz="1800" b="1" cap="none" dirty="0"/>
                  <a:t>Backend</a:t>
                </a:r>
              </a:p>
              <a:p>
                <a:pPr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Spring Boot, Java, REST, Maven</a:t>
                </a:r>
              </a:p>
            </p:txBody>
          </p:sp>
        </p:grpSp>
      </p:grpSp>
      <p:grpSp>
        <p:nvGrpSpPr>
          <p:cNvPr id="212" name="Gruppieren 211">
            <a:extLst>
              <a:ext uri="{FF2B5EF4-FFF2-40B4-BE49-F238E27FC236}">
                <a16:creationId xmlns:a16="http://schemas.microsoft.com/office/drawing/2014/main" id="{E8FDB588-333B-70DA-5698-A8D7C16BB224}"/>
              </a:ext>
            </a:extLst>
          </p:cNvPr>
          <p:cNvGrpSpPr/>
          <p:nvPr/>
        </p:nvGrpSpPr>
        <p:grpSpPr>
          <a:xfrm>
            <a:off x="14713025" y="4355679"/>
            <a:ext cx="3819615" cy="832819"/>
            <a:chOff x="616025" y="4355679"/>
            <a:chExt cx="3819615" cy="832819"/>
          </a:xfrm>
        </p:grpSpPr>
        <p:cxnSp>
          <p:nvCxnSpPr>
            <p:cNvPr id="213" name="Gerader Verbinder 212">
              <a:extLst>
                <a:ext uri="{FF2B5EF4-FFF2-40B4-BE49-F238E27FC236}">
                  <a16:creationId xmlns:a16="http://schemas.microsoft.com/office/drawing/2014/main" id="{C807591B-C914-BCBC-39E4-52496B8B3D4B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Gruppieren 213">
              <a:extLst>
                <a:ext uri="{FF2B5EF4-FFF2-40B4-BE49-F238E27FC236}">
                  <a16:creationId xmlns:a16="http://schemas.microsoft.com/office/drawing/2014/main" id="{7B1F4544-8D1E-603B-DD98-93E074243EA2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15" name="Gruppieren 214">
                <a:extLst>
                  <a:ext uri="{FF2B5EF4-FFF2-40B4-BE49-F238E27FC236}">
                    <a16:creationId xmlns:a16="http://schemas.microsoft.com/office/drawing/2014/main" id="{E2854AFD-418D-5858-97E2-908EBF48C67D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17" name="Ellipse 216">
                  <a:extLst>
                    <a:ext uri="{FF2B5EF4-FFF2-40B4-BE49-F238E27FC236}">
                      <a16:creationId xmlns:a16="http://schemas.microsoft.com/office/drawing/2014/main" id="{0088B868-D1B6-69F0-4E70-527CBD6355F2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8" name="Ellipse 217">
                  <a:extLst>
                    <a:ext uri="{FF2B5EF4-FFF2-40B4-BE49-F238E27FC236}">
                      <a16:creationId xmlns:a16="http://schemas.microsoft.com/office/drawing/2014/main" id="{0D3AD06A-329B-16F5-BD72-E2E13D3E2367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19" name="Grafik 218" descr="Cloud mit einfarbiger Füllung">
                  <a:extLst>
                    <a:ext uri="{FF2B5EF4-FFF2-40B4-BE49-F238E27FC236}">
                      <a16:creationId xmlns:a16="http://schemas.microsoft.com/office/drawing/2014/main" id="{154D00FF-9DA6-F33A-36FA-B7F6948C42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16" name="Titel 1">
                <a:extLst>
                  <a:ext uri="{FF2B5EF4-FFF2-40B4-BE49-F238E27FC236}">
                    <a16:creationId xmlns:a16="http://schemas.microsoft.com/office/drawing/2014/main" id="{4382D852-41D8-2821-6353-960BFC3636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 err="1"/>
                  <a:t>Deployment</a:t>
                </a:r>
                <a:endParaRPr lang="de-DE" sz="1800" b="1" cap="none" dirty="0"/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Docker,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Kubernetes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Traefik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5A888A65-309E-665A-8C30-2BE63C35D457}"/>
              </a:ext>
            </a:extLst>
          </p:cNvPr>
          <p:cNvGrpSpPr/>
          <p:nvPr/>
        </p:nvGrpSpPr>
        <p:grpSpPr>
          <a:xfrm>
            <a:off x="14722946" y="3156204"/>
            <a:ext cx="3819615" cy="832819"/>
            <a:chOff x="616025" y="4355679"/>
            <a:chExt cx="3819615" cy="832819"/>
          </a:xfrm>
        </p:grpSpPr>
        <p:cxnSp>
          <p:nvCxnSpPr>
            <p:cNvPr id="221" name="Gerader Verbinder 220">
              <a:extLst>
                <a:ext uri="{FF2B5EF4-FFF2-40B4-BE49-F238E27FC236}">
                  <a16:creationId xmlns:a16="http://schemas.microsoft.com/office/drawing/2014/main" id="{481380E4-A622-E2A0-8008-A79F8D5395F8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Gruppieren 221">
              <a:extLst>
                <a:ext uri="{FF2B5EF4-FFF2-40B4-BE49-F238E27FC236}">
                  <a16:creationId xmlns:a16="http://schemas.microsoft.com/office/drawing/2014/main" id="{B3CCDDAA-1CCB-AA9C-AD0D-CF899A9D8EEA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23" name="Gruppieren 222">
                <a:extLst>
                  <a:ext uri="{FF2B5EF4-FFF2-40B4-BE49-F238E27FC236}">
                    <a16:creationId xmlns:a16="http://schemas.microsoft.com/office/drawing/2014/main" id="{87A5101C-48D7-AC01-125D-7E9E834A558B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25" name="Ellipse 224">
                  <a:extLst>
                    <a:ext uri="{FF2B5EF4-FFF2-40B4-BE49-F238E27FC236}">
                      <a16:creationId xmlns:a16="http://schemas.microsoft.com/office/drawing/2014/main" id="{D7F61A18-5ADE-E9AD-72DA-587F6393B399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6" name="Ellipse 225">
                  <a:extLst>
                    <a:ext uri="{FF2B5EF4-FFF2-40B4-BE49-F238E27FC236}">
                      <a16:creationId xmlns:a16="http://schemas.microsoft.com/office/drawing/2014/main" id="{8AD42B05-8C10-7D79-64AA-28238054ACF7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27" name="Grafik 226" descr="Datenbank mit einfarbiger Füllung">
                  <a:extLst>
                    <a:ext uri="{FF2B5EF4-FFF2-40B4-BE49-F238E27FC236}">
                      <a16:creationId xmlns:a16="http://schemas.microsoft.com/office/drawing/2014/main" id="{F97BC81B-0C29-48C5-54BD-5DA1E81F36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24" name="Titel 1">
                <a:extLst>
                  <a:ext uri="{FF2B5EF4-FFF2-40B4-BE49-F238E27FC236}">
                    <a16:creationId xmlns:a16="http://schemas.microsoft.com/office/drawing/2014/main" id="{C8DA4459-7437-ABA2-7636-15EEB8CDAE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/>
                  <a:t>Datenbank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PostgreSQL,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Flyway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85C07777-C73F-8992-107B-DEC2BA6D7B77}"/>
              </a:ext>
            </a:extLst>
          </p:cNvPr>
          <p:cNvGrpSpPr/>
          <p:nvPr/>
        </p:nvGrpSpPr>
        <p:grpSpPr>
          <a:xfrm>
            <a:off x="14722946" y="1973474"/>
            <a:ext cx="3819615" cy="832819"/>
            <a:chOff x="616025" y="4355679"/>
            <a:chExt cx="3819615" cy="832819"/>
          </a:xfrm>
        </p:grpSpPr>
        <p:cxnSp>
          <p:nvCxnSpPr>
            <p:cNvPr id="229" name="Gerader Verbinder 228">
              <a:extLst>
                <a:ext uri="{FF2B5EF4-FFF2-40B4-BE49-F238E27FC236}">
                  <a16:creationId xmlns:a16="http://schemas.microsoft.com/office/drawing/2014/main" id="{2FD76D1F-BAFD-31EC-9D44-C757FEC178FB}"/>
                </a:ext>
              </a:extLst>
            </p:cNvPr>
            <p:cNvCxnSpPr/>
            <p:nvPr/>
          </p:nvCxnSpPr>
          <p:spPr>
            <a:xfrm>
              <a:off x="4034196" y="4773492"/>
              <a:ext cx="40144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uppieren 229">
              <a:extLst>
                <a:ext uri="{FF2B5EF4-FFF2-40B4-BE49-F238E27FC236}">
                  <a16:creationId xmlns:a16="http://schemas.microsoft.com/office/drawing/2014/main" id="{E0B14909-AAF9-02C6-5EF3-297484338575}"/>
                </a:ext>
              </a:extLst>
            </p:cNvPr>
            <p:cNvGrpSpPr/>
            <p:nvPr/>
          </p:nvGrpSpPr>
          <p:grpSpPr>
            <a:xfrm>
              <a:off x="616025" y="4355679"/>
              <a:ext cx="3408819" cy="832819"/>
              <a:chOff x="616025" y="4355679"/>
              <a:chExt cx="3408819" cy="832819"/>
            </a:xfrm>
          </p:grpSpPr>
          <p:grpSp>
            <p:nvGrpSpPr>
              <p:cNvPr id="231" name="Gruppieren 230">
                <a:extLst>
                  <a:ext uri="{FF2B5EF4-FFF2-40B4-BE49-F238E27FC236}">
                    <a16:creationId xmlns:a16="http://schemas.microsoft.com/office/drawing/2014/main" id="{68858C25-7B12-0DE8-8748-93507B1420FC}"/>
                  </a:ext>
                </a:extLst>
              </p:cNvPr>
              <p:cNvGrpSpPr/>
              <p:nvPr/>
            </p:nvGrpSpPr>
            <p:grpSpPr>
              <a:xfrm>
                <a:off x="3192025" y="4355679"/>
                <a:ext cx="832819" cy="832819"/>
                <a:chOff x="4129210" y="1133594"/>
                <a:chExt cx="832819" cy="832819"/>
              </a:xfrm>
            </p:grpSpPr>
            <p:sp>
              <p:nvSpPr>
                <p:cNvPr id="233" name="Ellipse 232">
                  <a:extLst>
                    <a:ext uri="{FF2B5EF4-FFF2-40B4-BE49-F238E27FC236}">
                      <a16:creationId xmlns:a16="http://schemas.microsoft.com/office/drawing/2014/main" id="{3D2C223E-F07B-0B67-4B38-55AEC614C1F3}"/>
                    </a:ext>
                  </a:extLst>
                </p:cNvPr>
                <p:cNvSpPr/>
                <p:nvPr/>
              </p:nvSpPr>
              <p:spPr>
                <a:xfrm>
                  <a:off x="4129210" y="1133594"/>
                  <a:ext cx="832819" cy="8328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4" name="Ellipse 233">
                  <a:extLst>
                    <a:ext uri="{FF2B5EF4-FFF2-40B4-BE49-F238E27FC236}">
                      <a16:creationId xmlns:a16="http://schemas.microsoft.com/office/drawing/2014/main" id="{957190D8-00F2-48E1-AE5E-D4B3F1B6D9B1}"/>
                    </a:ext>
                  </a:extLst>
                </p:cNvPr>
                <p:cNvSpPr/>
                <p:nvPr/>
              </p:nvSpPr>
              <p:spPr>
                <a:xfrm>
                  <a:off x="4224871" y="1233101"/>
                  <a:ext cx="633804" cy="6338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innerShdw blurRad="38100">
                    <a:prstClr val="black">
                      <a:alpha val="92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72000" rIns="72000" bIns="72000" rtlCol="0" anchor="ctr"/>
                <a:lstStyle/>
                <a:p>
                  <a:pPr algn="ctr"/>
                  <a:endParaRPr lang="de-DE" sz="12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35" name="Grafik 234" descr="Fernsehen mit einfarbiger Füllung">
                  <a:extLst>
                    <a:ext uri="{FF2B5EF4-FFF2-40B4-BE49-F238E27FC236}">
                      <a16:creationId xmlns:a16="http://schemas.microsoft.com/office/drawing/2014/main" id="{3659A169-DD0C-07AB-E2E8-7B39B2144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rcRect/>
                <a:stretch/>
              </p:blipFill>
              <p:spPr>
                <a:xfrm>
                  <a:off x="4327759" y="1326284"/>
                  <a:ext cx="447438" cy="447438"/>
                </a:xfrm>
                <a:prstGeom prst="rect">
                  <a:avLst/>
                </a:prstGeom>
              </p:spPr>
            </p:pic>
          </p:grpSp>
          <p:sp>
            <p:nvSpPr>
              <p:cNvPr id="232" name="Titel 1">
                <a:extLst>
                  <a:ext uri="{FF2B5EF4-FFF2-40B4-BE49-F238E27FC236}">
                    <a16:creationId xmlns:a16="http://schemas.microsoft.com/office/drawing/2014/main" id="{FF4759C4-B819-39DA-C8B2-37B7B03EE0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025" y="4382359"/>
                <a:ext cx="2448369" cy="791766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200" kern="1200" cap="all" baseline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algn="r">
                  <a:spcBef>
                    <a:spcPts val="600"/>
                  </a:spcBef>
                </a:pPr>
                <a:r>
                  <a:rPr lang="de-DE" sz="1800" b="1" cap="none" dirty="0"/>
                  <a:t>Frontend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de-DE" sz="1600" cap="none" dirty="0">
                    <a:solidFill>
                      <a:schemeClr val="tx2"/>
                    </a:solidFill>
                  </a:rPr>
                  <a:t>Next.js, React,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TypeScript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TailwindCSS</a:t>
                </a:r>
                <a:r>
                  <a:rPr lang="de-DE" sz="1600" cap="none" dirty="0">
                    <a:solidFill>
                      <a:schemeClr val="tx2"/>
                    </a:solidFill>
                  </a:rPr>
                  <a:t>, </a:t>
                </a:r>
                <a:r>
                  <a:rPr lang="de-DE" sz="1600" cap="none" dirty="0" err="1">
                    <a:solidFill>
                      <a:schemeClr val="tx2"/>
                    </a:solidFill>
                  </a:rPr>
                  <a:t>Redux</a:t>
                </a:r>
                <a:endParaRPr lang="de-DE" sz="1600" cap="none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250" name="Pfeil: Chevron 249">
            <a:extLst>
              <a:ext uri="{FF2B5EF4-FFF2-40B4-BE49-F238E27FC236}">
                <a16:creationId xmlns:a16="http://schemas.microsoft.com/office/drawing/2014/main" id="{8695D83B-3E83-B941-144A-DB658275BA79}"/>
              </a:ext>
            </a:extLst>
          </p:cNvPr>
          <p:cNvSpPr/>
          <p:nvPr/>
        </p:nvSpPr>
        <p:spPr>
          <a:xfrm>
            <a:off x="7781504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51" name="Pfeil: Chevron 250">
            <a:extLst>
              <a:ext uri="{FF2B5EF4-FFF2-40B4-BE49-F238E27FC236}">
                <a16:creationId xmlns:a16="http://schemas.microsoft.com/office/drawing/2014/main" id="{107922AA-0837-118E-4243-2302461585B0}"/>
              </a:ext>
            </a:extLst>
          </p:cNvPr>
          <p:cNvSpPr/>
          <p:nvPr/>
        </p:nvSpPr>
        <p:spPr>
          <a:xfrm>
            <a:off x="389692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11C989B2-B1A8-A94C-4288-A5A13413D98E}"/>
              </a:ext>
            </a:extLst>
          </p:cNvPr>
          <p:cNvGrpSpPr/>
          <p:nvPr/>
        </p:nvGrpSpPr>
        <p:grpSpPr>
          <a:xfrm>
            <a:off x="1040812" y="2221743"/>
            <a:ext cx="2341215" cy="2532161"/>
            <a:chOff x="1040812" y="2221743"/>
            <a:chExt cx="2341215" cy="2532161"/>
          </a:xfrm>
        </p:grpSpPr>
        <p:sp>
          <p:nvSpPr>
            <p:cNvPr id="253" name="Rechteck: abgerundete Ecken 252">
              <a:extLst>
                <a:ext uri="{FF2B5EF4-FFF2-40B4-BE49-F238E27FC236}">
                  <a16:creationId xmlns:a16="http://schemas.microsoft.com/office/drawing/2014/main" id="{05C033EE-115B-6D86-6CB3-F8D227C576DE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Backend-Architektur</a:t>
              </a:r>
            </a:p>
          </p:txBody>
        </p:sp>
        <p:pic>
          <p:nvPicPr>
            <p:cNvPr id="254" name="Grafik 253" descr="Architektur mit einfarbiger Füllung">
              <a:extLst>
                <a:ext uri="{FF2B5EF4-FFF2-40B4-BE49-F238E27FC236}">
                  <a16:creationId xmlns:a16="http://schemas.microsoft.com/office/drawing/2014/main" id="{75C225D4-1844-D6AE-D0FE-6852FEFF6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255" name="Gruppieren 254">
            <a:extLst>
              <a:ext uri="{FF2B5EF4-FFF2-40B4-BE49-F238E27FC236}">
                <a16:creationId xmlns:a16="http://schemas.microsoft.com/office/drawing/2014/main" id="{43F097C8-49A5-D0A7-500D-5BCF24C78893}"/>
              </a:ext>
            </a:extLst>
          </p:cNvPr>
          <p:cNvGrpSpPr/>
          <p:nvPr/>
        </p:nvGrpSpPr>
        <p:grpSpPr>
          <a:xfrm>
            <a:off x="4925391" y="2221743"/>
            <a:ext cx="2341215" cy="2532161"/>
            <a:chOff x="4925391" y="2221743"/>
            <a:chExt cx="2341215" cy="2532161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5A6795FC-BA22-4C06-7A35-5A9307875CE2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REST-API</a:t>
              </a:r>
            </a:p>
          </p:txBody>
        </p:sp>
        <p:pic>
          <p:nvPicPr>
            <p:cNvPr id="36" name="Grafik 35" descr="Senden mit einfarbiger Füllung">
              <a:extLst>
                <a:ext uri="{FF2B5EF4-FFF2-40B4-BE49-F238E27FC236}">
                  <a16:creationId xmlns:a16="http://schemas.microsoft.com/office/drawing/2014/main" id="{7C831CCB-D694-5F54-2D71-2D16FB98C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9C437FB-9436-20A6-471E-F138476E3489}"/>
              </a:ext>
            </a:extLst>
          </p:cNvPr>
          <p:cNvGrpSpPr/>
          <p:nvPr/>
        </p:nvGrpSpPr>
        <p:grpSpPr>
          <a:xfrm>
            <a:off x="8809970" y="2267850"/>
            <a:ext cx="2341215" cy="2532161"/>
            <a:chOff x="8809970" y="2267850"/>
            <a:chExt cx="2341215" cy="2532161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070AB3D5-0FE7-67DD-A829-128142E6D764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Security</a:t>
              </a:r>
            </a:p>
          </p:txBody>
        </p:sp>
        <p:pic>
          <p:nvPicPr>
            <p:cNvPr id="39" name="Grafik 38" descr="Sperren mit einfarbiger Füllung">
              <a:extLst>
                <a:ext uri="{FF2B5EF4-FFF2-40B4-BE49-F238E27FC236}">
                  <a16:creationId xmlns:a16="http://schemas.microsoft.com/office/drawing/2014/main" id="{292098E0-4E89-4256-430F-831AF33C1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9A12D70D-86F7-E2DD-9306-A9932EA4E710}"/>
              </a:ext>
            </a:extLst>
          </p:cNvPr>
          <p:cNvGrpSpPr/>
          <p:nvPr/>
        </p:nvGrpSpPr>
        <p:grpSpPr>
          <a:xfrm>
            <a:off x="1036811" y="2218014"/>
            <a:ext cx="2341215" cy="2532161"/>
            <a:chOff x="1040812" y="2221743"/>
            <a:chExt cx="2341215" cy="2532161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4F0FF32C-B987-D3D4-C70B-5759855B0A78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Backend-Architektur</a:t>
              </a:r>
            </a:p>
          </p:txBody>
        </p:sp>
        <p:pic>
          <p:nvPicPr>
            <p:cNvPr id="42" name="Grafik 41" descr="Architektur mit einfarbiger Füllung">
              <a:extLst>
                <a:ext uri="{FF2B5EF4-FFF2-40B4-BE49-F238E27FC236}">
                  <a16:creationId xmlns:a16="http://schemas.microsoft.com/office/drawing/2014/main" id="{876872D8-2016-596C-D13F-E083C7A6C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1C217BE4-FE50-333A-0BC3-46828EB93138}"/>
              </a:ext>
            </a:extLst>
          </p:cNvPr>
          <p:cNvGrpSpPr/>
          <p:nvPr/>
        </p:nvGrpSpPr>
        <p:grpSpPr>
          <a:xfrm>
            <a:off x="4920694" y="2229779"/>
            <a:ext cx="2341215" cy="2532161"/>
            <a:chOff x="4925391" y="2221743"/>
            <a:chExt cx="2341215" cy="2532161"/>
          </a:xfrm>
        </p:grpSpPr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68C3383F-F3D2-DC82-0D64-AC639790E061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REST-API</a:t>
              </a:r>
            </a:p>
          </p:txBody>
        </p:sp>
        <p:pic>
          <p:nvPicPr>
            <p:cNvPr id="45" name="Grafik 44" descr="Senden mit einfarbiger Füllung">
              <a:extLst>
                <a:ext uri="{FF2B5EF4-FFF2-40B4-BE49-F238E27FC236}">
                  <a16:creationId xmlns:a16="http://schemas.microsoft.com/office/drawing/2014/main" id="{BA076783-001A-945A-F8CA-95CFC8C90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EED19B4-ED5B-90EF-54E1-73B54FC363B5}"/>
              </a:ext>
            </a:extLst>
          </p:cNvPr>
          <p:cNvGrpSpPr/>
          <p:nvPr/>
        </p:nvGrpSpPr>
        <p:grpSpPr>
          <a:xfrm>
            <a:off x="8813437" y="2267850"/>
            <a:ext cx="2341215" cy="2532161"/>
            <a:chOff x="8628586" y="2162320"/>
            <a:chExt cx="2341215" cy="2532161"/>
          </a:xfrm>
        </p:grpSpPr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E39896C7-0741-DAD4-C519-99FA321A3A32}"/>
                </a:ext>
              </a:extLst>
            </p:cNvPr>
            <p:cNvSpPr/>
            <p:nvPr/>
          </p:nvSpPr>
          <p:spPr>
            <a:xfrm>
              <a:off x="8628586" y="2162320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Security</a:t>
              </a:r>
            </a:p>
          </p:txBody>
        </p:sp>
        <p:pic>
          <p:nvPicPr>
            <p:cNvPr id="48" name="Grafik 47" descr="Sperren mit einfarbiger Füllung">
              <a:extLst>
                <a:ext uri="{FF2B5EF4-FFF2-40B4-BE49-F238E27FC236}">
                  <a16:creationId xmlns:a16="http://schemas.microsoft.com/office/drawing/2014/main" id="{F4D9AFFC-FF04-3E42-7D56-AF9FE24BE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206716" y="2806374"/>
              <a:ext cx="1140612" cy="1140612"/>
            </a:xfrm>
            <a:prstGeom prst="rect">
              <a:avLst/>
            </a:prstGeom>
          </p:spPr>
        </p:pic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26692E7E-A472-A7E9-2A0E-1825ECEDC801}"/>
              </a:ext>
            </a:extLst>
          </p:cNvPr>
          <p:cNvGrpSpPr/>
          <p:nvPr/>
        </p:nvGrpSpPr>
        <p:grpSpPr>
          <a:xfrm>
            <a:off x="5352440" y="11514995"/>
            <a:ext cx="1367369" cy="1523539"/>
            <a:chOff x="5352440" y="2712046"/>
            <a:chExt cx="1367369" cy="1523539"/>
          </a:xfrm>
        </p:grpSpPr>
        <p:sp>
          <p:nvSpPr>
            <p:cNvPr id="52" name="Sechseck 51">
              <a:extLst>
                <a:ext uri="{FF2B5EF4-FFF2-40B4-BE49-F238E27FC236}">
                  <a16:creationId xmlns:a16="http://schemas.microsoft.com/office/drawing/2014/main" id="{772EF853-CF9A-37F5-21DA-D4452BE6F7A5}"/>
                </a:ext>
              </a:extLst>
            </p:cNvPr>
            <p:cNvSpPr/>
            <p:nvPr/>
          </p:nvSpPr>
          <p:spPr>
            <a:xfrm rot="5400000">
              <a:off x="5274355" y="2790131"/>
              <a:ext cx="1523539" cy="1367369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32419A2F-EC1C-1B0B-C180-F3E45D7FAFCA}"/>
                </a:ext>
              </a:extLst>
            </p:cNvPr>
            <p:cNvSpPr txBox="1"/>
            <p:nvPr/>
          </p:nvSpPr>
          <p:spPr>
            <a:xfrm>
              <a:off x="5574248" y="3348055"/>
              <a:ext cx="98907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60E59127-E218-62DF-629A-F1408C56D72D}"/>
              </a:ext>
            </a:extLst>
          </p:cNvPr>
          <p:cNvGrpSpPr/>
          <p:nvPr/>
        </p:nvGrpSpPr>
        <p:grpSpPr>
          <a:xfrm>
            <a:off x="3831775" y="11541574"/>
            <a:ext cx="1367369" cy="1523539"/>
            <a:chOff x="3831775" y="2738625"/>
            <a:chExt cx="1367369" cy="1523539"/>
          </a:xfrm>
        </p:grpSpPr>
        <p:sp>
          <p:nvSpPr>
            <p:cNvPr id="55" name="Sechseck 54">
              <a:extLst>
                <a:ext uri="{FF2B5EF4-FFF2-40B4-BE49-F238E27FC236}">
                  <a16:creationId xmlns:a16="http://schemas.microsoft.com/office/drawing/2014/main" id="{1318D223-07C2-22D0-7255-A5139F31B598}"/>
                </a:ext>
              </a:extLst>
            </p:cNvPr>
            <p:cNvSpPr/>
            <p:nvPr/>
          </p:nvSpPr>
          <p:spPr>
            <a:xfrm rot="5400000">
              <a:off x="3753690" y="2816710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56" name="Grafik 55" descr="Pfeil nach rechts mit einfarbiger Füllung">
              <a:extLst>
                <a:ext uri="{FF2B5EF4-FFF2-40B4-BE49-F238E27FC236}">
                  <a16:creationId xmlns:a16="http://schemas.microsoft.com/office/drawing/2014/main" id="{13541A8E-8E78-E5F7-DF81-ACDD665E3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/>
            <a:stretch/>
          </p:blipFill>
          <p:spPr>
            <a:xfrm>
              <a:off x="4025203" y="3023907"/>
              <a:ext cx="914400" cy="914400"/>
            </a:xfrm>
            <a:prstGeom prst="rect">
              <a:avLst/>
            </a:prstGeom>
          </p:spPr>
        </p:pic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1079DCF-55AD-3BCA-C8E9-E6BF93A1ECEB}"/>
              </a:ext>
            </a:extLst>
          </p:cNvPr>
          <p:cNvGrpSpPr/>
          <p:nvPr/>
        </p:nvGrpSpPr>
        <p:grpSpPr>
          <a:xfrm>
            <a:off x="6140277" y="12861850"/>
            <a:ext cx="1367369" cy="1523539"/>
            <a:chOff x="6140277" y="4058901"/>
            <a:chExt cx="1367369" cy="1523539"/>
          </a:xfrm>
        </p:grpSpPr>
        <p:sp>
          <p:nvSpPr>
            <p:cNvPr id="58" name="Sechseck 57">
              <a:extLst>
                <a:ext uri="{FF2B5EF4-FFF2-40B4-BE49-F238E27FC236}">
                  <a16:creationId xmlns:a16="http://schemas.microsoft.com/office/drawing/2014/main" id="{F5C5434D-2574-315E-1FF5-89B33482B671}"/>
                </a:ext>
              </a:extLst>
            </p:cNvPr>
            <p:cNvSpPr/>
            <p:nvPr/>
          </p:nvSpPr>
          <p:spPr>
            <a:xfrm rot="5400000">
              <a:off x="6062192" y="4136986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59" name="Grafik 58" descr="Sperren mit einfarbiger Füllung">
              <a:extLst>
                <a:ext uri="{FF2B5EF4-FFF2-40B4-BE49-F238E27FC236}">
                  <a16:creationId xmlns:a16="http://schemas.microsoft.com/office/drawing/2014/main" id="{1882537E-85EC-5DC8-20E2-B436FEFA0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6372312" y="4369379"/>
              <a:ext cx="914400" cy="914400"/>
            </a:xfrm>
            <a:prstGeom prst="rect">
              <a:avLst/>
            </a:prstGeom>
          </p:spPr>
        </p:pic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7A104B4E-D2D0-6A01-A476-45F9E6A795D7}"/>
              </a:ext>
            </a:extLst>
          </p:cNvPr>
          <p:cNvGrpSpPr/>
          <p:nvPr/>
        </p:nvGrpSpPr>
        <p:grpSpPr>
          <a:xfrm>
            <a:off x="6914072" y="11514995"/>
            <a:ext cx="1367369" cy="1523539"/>
            <a:chOff x="6914072" y="2712046"/>
            <a:chExt cx="1367369" cy="1523539"/>
          </a:xfrm>
        </p:grpSpPr>
        <p:sp>
          <p:nvSpPr>
            <p:cNvPr id="61" name="Sechseck 60">
              <a:extLst>
                <a:ext uri="{FF2B5EF4-FFF2-40B4-BE49-F238E27FC236}">
                  <a16:creationId xmlns:a16="http://schemas.microsoft.com/office/drawing/2014/main" id="{89DED107-8804-3E9A-EE1D-8B89AAD415B8}"/>
                </a:ext>
              </a:extLst>
            </p:cNvPr>
            <p:cNvSpPr/>
            <p:nvPr/>
          </p:nvSpPr>
          <p:spPr>
            <a:xfrm rot="5400000">
              <a:off x="6835987" y="2790131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62" name="Grafik 61" descr="Datenbank mit einfarbiger Füllung">
              <a:extLst>
                <a:ext uri="{FF2B5EF4-FFF2-40B4-BE49-F238E27FC236}">
                  <a16:creationId xmlns:a16="http://schemas.microsoft.com/office/drawing/2014/main" id="{A36A7974-1150-4537-4F1A-68EAB3633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/>
          </p:blipFill>
          <p:spPr>
            <a:xfrm>
              <a:off x="7162267" y="30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6343FB07-7AA9-D643-7FE3-D7383F356C71}"/>
              </a:ext>
            </a:extLst>
          </p:cNvPr>
          <p:cNvGrpSpPr/>
          <p:nvPr/>
        </p:nvGrpSpPr>
        <p:grpSpPr>
          <a:xfrm>
            <a:off x="4564602" y="12857681"/>
            <a:ext cx="1367369" cy="1523539"/>
            <a:chOff x="4564602" y="4054732"/>
            <a:chExt cx="1367369" cy="1523539"/>
          </a:xfrm>
        </p:grpSpPr>
        <p:sp>
          <p:nvSpPr>
            <p:cNvPr id="64" name="Sechseck 63">
              <a:extLst>
                <a:ext uri="{FF2B5EF4-FFF2-40B4-BE49-F238E27FC236}">
                  <a16:creationId xmlns:a16="http://schemas.microsoft.com/office/drawing/2014/main" id="{F9C8D15C-86E0-5BC7-437D-A111DA2D6907}"/>
                </a:ext>
              </a:extLst>
            </p:cNvPr>
            <p:cNvSpPr/>
            <p:nvPr/>
          </p:nvSpPr>
          <p:spPr>
            <a:xfrm rot="5400000">
              <a:off x="4486517" y="4132817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65" name="Grafik 64" descr="Pfeil mit einer Linie: Gerade mit einfarbiger Füllung">
              <a:extLst>
                <a:ext uri="{FF2B5EF4-FFF2-40B4-BE49-F238E27FC236}">
                  <a16:creationId xmlns:a16="http://schemas.microsoft.com/office/drawing/2014/main" id="{EE18FE08-9F45-1FC6-E47F-A887FBE3D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/>
            <a:stretch/>
          </p:blipFill>
          <p:spPr>
            <a:xfrm>
              <a:off x="4832637" y="4430696"/>
              <a:ext cx="824769" cy="824769"/>
            </a:xfrm>
            <a:prstGeom prst="rect">
              <a:avLst/>
            </a:prstGeom>
          </p:spPr>
        </p:pic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88FB27A5-79BD-7F6F-D52C-1D069ED181A9}"/>
              </a:ext>
            </a:extLst>
          </p:cNvPr>
          <p:cNvGrpSpPr/>
          <p:nvPr/>
        </p:nvGrpSpPr>
        <p:grpSpPr>
          <a:xfrm>
            <a:off x="4564602" y="10184929"/>
            <a:ext cx="1367369" cy="1523539"/>
            <a:chOff x="4564602" y="1381980"/>
            <a:chExt cx="1367369" cy="1523539"/>
          </a:xfrm>
        </p:grpSpPr>
        <p:sp>
          <p:nvSpPr>
            <p:cNvPr id="67" name="Sechseck 66">
              <a:extLst>
                <a:ext uri="{FF2B5EF4-FFF2-40B4-BE49-F238E27FC236}">
                  <a16:creationId xmlns:a16="http://schemas.microsoft.com/office/drawing/2014/main" id="{BECF5D63-00EC-F92B-C151-4C7CA00329F9}"/>
                </a:ext>
              </a:extLst>
            </p:cNvPr>
            <p:cNvSpPr/>
            <p:nvPr/>
          </p:nvSpPr>
          <p:spPr>
            <a:xfrm rot="5400000">
              <a:off x="4486517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68" name="Grafik 67" descr="Zahnräder mit einfarbiger Füllung">
              <a:extLst>
                <a:ext uri="{FF2B5EF4-FFF2-40B4-BE49-F238E27FC236}">
                  <a16:creationId xmlns:a16="http://schemas.microsoft.com/office/drawing/2014/main" id="{6A19ABEE-D520-5875-7CB3-66FE3FAC8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/>
            <a:stretch/>
          </p:blipFill>
          <p:spPr>
            <a:xfrm>
              <a:off x="4791086" y="1638934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3FBCB4F4-AB84-D0F5-C3FC-05EFCD7945C3}"/>
              </a:ext>
            </a:extLst>
          </p:cNvPr>
          <p:cNvGrpSpPr/>
          <p:nvPr/>
        </p:nvGrpSpPr>
        <p:grpSpPr>
          <a:xfrm>
            <a:off x="6140277" y="10184929"/>
            <a:ext cx="1367369" cy="1523539"/>
            <a:chOff x="6140277" y="1381980"/>
            <a:chExt cx="1367369" cy="1523539"/>
          </a:xfrm>
        </p:grpSpPr>
        <p:sp>
          <p:nvSpPr>
            <p:cNvPr id="70" name="Sechseck 69">
              <a:extLst>
                <a:ext uri="{FF2B5EF4-FFF2-40B4-BE49-F238E27FC236}">
                  <a16:creationId xmlns:a16="http://schemas.microsoft.com/office/drawing/2014/main" id="{B7F17B33-B89B-5DFD-5033-7743D2F24C1F}"/>
                </a:ext>
              </a:extLst>
            </p:cNvPr>
            <p:cNvSpPr/>
            <p:nvPr/>
          </p:nvSpPr>
          <p:spPr>
            <a:xfrm rot="5400000">
              <a:off x="6062192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71" name="Grafik 70" descr="Drahtlos mit einfarbiger Füllung">
              <a:extLst>
                <a:ext uri="{FF2B5EF4-FFF2-40B4-BE49-F238E27FC236}">
                  <a16:creationId xmlns:a16="http://schemas.microsoft.com/office/drawing/2014/main" id="{168F89E5-F430-E55F-D33D-D19391E1A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6366761" y="1678155"/>
              <a:ext cx="914400" cy="914400"/>
            </a:xfrm>
            <a:prstGeom prst="rect">
              <a:avLst/>
            </a:prstGeom>
          </p:spPr>
        </p:pic>
      </p:grpSp>
      <p:sp>
        <p:nvSpPr>
          <p:cNvPr id="72" name="Titel 1">
            <a:extLst>
              <a:ext uri="{FF2B5EF4-FFF2-40B4-BE49-F238E27FC236}">
                <a16:creationId xmlns:a16="http://schemas.microsoft.com/office/drawing/2014/main" id="{E803290D-1F41-987C-AC7F-C43A34BCDDDB}"/>
              </a:ext>
            </a:extLst>
          </p:cNvPr>
          <p:cNvSpPr txBox="1">
            <a:spLocks/>
          </p:cNvSpPr>
          <p:nvPr/>
        </p:nvSpPr>
        <p:spPr>
          <a:xfrm>
            <a:off x="-11379473" y="2044379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 err="1"/>
              <a:t>Application</a:t>
            </a:r>
            <a:r>
              <a:rPr lang="de-DE" sz="1800" b="1" cap="none" dirty="0"/>
              <a:t> Layer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Steuert Abläufe</a:t>
            </a:r>
          </a:p>
        </p:txBody>
      </p:sp>
      <p:sp>
        <p:nvSpPr>
          <p:cNvPr id="73" name="!! DTO">
            <a:extLst>
              <a:ext uri="{FF2B5EF4-FFF2-40B4-BE49-F238E27FC236}">
                <a16:creationId xmlns:a16="http://schemas.microsoft.com/office/drawing/2014/main" id="{2BDA8129-5FED-B0BF-0F32-484ED8F7E1C4}"/>
              </a:ext>
            </a:extLst>
          </p:cNvPr>
          <p:cNvSpPr txBox="1">
            <a:spLocks/>
          </p:cNvSpPr>
          <p:nvPr/>
        </p:nvSpPr>
        <p:spPr>
          <a:xfrm>
            <a:off x="-17191303" y="3426958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Inbound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Intern benötigt</a:t>
            </a:r>
          </a:p>
        </p:txBody>
      </p:sp>
      <p:sp>
        <p:nvSpPr>
          <p:cNvPr id="74" name="Titel 1">
            <a:extLst>
              <a:ext uri="{FF2B5EF4-FFF2-40B4-BE49-F238E27FC236}">
                <a16:creationId xmlns:a16="http://schemas.microsoft.com/office/drawing/2014/main" id="{E731FE71-1A61-0979-94D6-BD2B907E5B3E}"/>
              </a:ext>
            </a:extLst>
          </p:cNvPr>
          <p:cNvSpPr txBox="1">
            <a:spLocks/>
          </p:cNvSpPr>
          <p:nvPr/>
        </p:nvSpPr>
        <p:spPr>
          <a:xfrm>
            <a:off x="-23749273" y="4709086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Outbound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Extern benötigt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9E4A7060-EFAE-1FDE-0597-77D39E1D8CB6}"/>
              </a:ext>
            </a:extLst>
          </p:cNvPr>
          <p:cNvSpPr txBox="1">
            <a:spLocks/>
          </p:cNvSpPr>
          <p:nvPr/>
        </p:nvSpPr>
        <p:spPr>
          <a:xfrm>
            <a:off x="27224078" y="2089604"/>
            <a:ext cx="266727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/>
              <a:t>Web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HTTP-Schnittstelle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5DA7F027-9CC3-0CE3-46EC-EC46ABAF2EB1}"/>
              </a:ext>
            </a:extLst>
          </p:cNvPr>
          <p:cNvSpPr txBox="1">
            <a:spLocks/>
          </p:cNvSpPr>
          <p:nvPr/>
        </p:nvSpPr>
        <p:spPr>
          <a:xfrm>
            <a:off x="33245810" y="3425128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Persistence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Datenzugriffe</a:t>
            </a:r>
          </a:p>
        </p:txBody>
      </p:sp>
      <p:sp>
        <p:nvSpPr>
          <p:cNvPr id="77" name="Titel 1">
            <a:extLst>
              <a:ext uri="{FF2B5EF4-FFF2-40B4-BE49-F238E27FC236}">
                <a16:creationId xmlns:a16="http://schemas.microsoft.com/office/drawing/2014/main" id="{975F60C6-455E-AACC-F422-447BCE1238F2}"/>
              </a:ext>
            </a:extLst>
          </p:cNvPr>
          <p:cNvSpPr txBox="1">
            <a:spLocks/>
          </p:cNvSpPr>
          <p:nvPr/>
        </p:nvSpPr>
        <p:spPr>
          <a:xfrm>
            <a:off x="39850723" y="4763854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Keycloak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Authentifizierung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E85A8FC-F81D-0A6F-0B2B-6E89523345B8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E2C671B-02D7-73D7-F263-9CBC2E379358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DF2EC5E9-DC1B-5C88-FF78-45F5846CB9F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854F4C6-6635-AB83-5F0E-4430FC49370F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C9BB5E6-A61D-C4E5-1FC8-F68003904B85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64F436FF-4629-15CA-E30C-E37EFE98ACBB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B2BAA680-0FA3-9DC1-A547-720370AA729A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1CBC91C6-A41A-7078-A6AB-021FE1A25E6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77B91DAE-B6B9-3911-3743-93B34C37A235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5A3BAB6-A1B8-0F05-5E7D-22D430FB8873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5E8FD955-3E67-B076-148F-087538266D47}"/>
              </a:ext>
            </a:extLst>
          </p:cNvPr>
          <p:cNvSpPr/>
          <p:nvPr/>
        </p:nvSpPr>
        <p:spPr>
          <a:xfrm>
            <a:off x="6132284" y="6443695"/>
            <a:ext cx="22406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390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52AA-4285-B9F3-2EE8-75786EDC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6E5035CA-72A4-8F82-BDBD-8FA43D0B2D24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Backend-Architektur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D50FE7B-41D5-728C-243E-64F57E6DA2FD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Pfeil: Chevron 249">
            <a:extLst>
              <a:ext uri="{FF2B5EF4-FFF2-40B4-BE49-F238E27FC236}">
                <a16:creationId xmlns:a16="http://schemas.microsoft.com/office/drawing/2014/main" id="{7209550D-4099-CDF5-131B-6DA9BD618B18}"/>
              </a:ext>
            </a:extLst>
          </p:cNvPr>
          <p:cNvSpPr/>
          <p:nvPr/>
        </p:nvSpPr>
        <p:spPr>
          <a:xfrm>
            <a:off x="21230804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51" name="Pfeil: Chevron 250">
            <a:extLst>
              <a:ext uri="{FF2B5EF4-FFF2-40B4-BE49-F238E27FC236}">
                <a16:creationId xmlns:a16="http://schemas.microsoft.com/office/drawing/2014/main" id="{B34815A4-C2D2-C80D-3CA8-9AE58F1B7005}"/>
              </a:ext>
            </a:extLst>
          </p:cNvPr>
          <p:cNvSpPr/>
          <p:nvPr/>
        </p:nvSpPr>
        <p:spPr>
          <a:xfrm>
            <a:off x="1734622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F478B466-9594-E9FA-DDCC-AF496B7D4197}"/>
              </a:ext>
            </a:extLst>
          </p:cNvPr>
          <p:cNvGrpSpPr/>
          <p:nvPr/>
        </p:nvGrpSpPr>
        <p:grpSpPr>
          <a:xfrm>
            <a:off x="14490112" y="2221743"/>
            <a:ext cx="2341215" cy="2532161"/>
            <a:chOff x="1040812" y="2221743"/>
            <a:chExt cx="2341215" cy="2532161"/>
          </a:xfrm>
        </p:grpSpPr>
        <p:sp>
          <p:nvSpPr>
            <p:cNvPr id="253" name="Rechteck: abgerundete Ecken 252">
              <a:extLst>
                <a:ext uri="{FF2B5EF4-FFF2-40B4-BE49-F238E27FC236}">
                  <a16:creationId xmlns:a16="http://schemas.microsoft.com/office/drawing/2014/main" id="{F4D8F987-81B0-53F0-35FD-3C4755FCD929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Backend-Architektur</a:t>
              </a:r>
            </a:p>
          </p:txBody>
        </p:sp>
        <p:pic>
          <p:nvPicPr>
            <p:cNvPr id="254" name="Grafik 253" descr="Architektur mit einfarbiger Füllung">
              <a:extLst>
                <a:ext uri="{FF2B5EF4-FFF2-40B4-BE49-F238E27FC236}">
                  <a16:creationId xmlns:a16="http://schemas.microsoft.com/office/drawing/2014/main" id="{3203C337-BFD8-9752-4CEA-71950BD52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255" name="Gruppieren 254">
            <a:extLst>
              <a:ext uri="{FF2B5EF4-FFF2-40B4-BE49-F238E27FC236}">
                <a16:creationId xmlns:a16="http://schemas.microsoft.com/office/drawing/2014/main" id="{9586EEDF-F3DF-C597-81D6-FB20BB24A478}"/>
              </a:ext>
            </a:extLst>
          </p:cNvPr>
          <p:cNvGrpSpPr/>
          <p:nvPr/>
        </p:nvGrpSpPr>
        <p:grpSpPr>
          <a:xfrm>
            <a:off x="18374691" y="2221743"/>
            <a:ext cx="2341215" cy="2532161"/>
            <a:chOff x="4925391" y="2221743"/>
            <a:chExt cx="2341215" cy="2532161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81AB4BF8-318B-15E2-0AA5-C8864521135C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REST-API</a:t>
              </a:r>
            </a:p>
          </p:txBody>
        </p:sp>
        <p:pic>
          <p:nvPicPr>
            <p:cNvPr id="36" name="Grafik 35" descr="Senden mit einfarbiger Füllung">
              <a:extLst>
                <a:ext uri="{FF2B5EF4-FFF2-40B4-BE49-F238E27FC236}">
                  <a16:creationId xmlns:a16="http://schemas.microsoft.com/office/drawing/2014/main" id="{2705B307-90B4-5007-448A-AFADA7742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15AC0D4-83C8-E24C-1461-AB9F19FAA2F6}"/>
              </a:ext>
            </a:extLst>
          </p:cNvPr>
          <p:cNvGrpSpPr/>
          <p:nvPr/>
        </p:nvGrpSpPr>
        <p:grpSpPr>
          <a:xfrm>
            <a:off x="22259270" y="2267850"/>
            <a:ext cx="2341215" cy="2532161"/>
            <a:chOff x="8809970" y="2267850"/>
            <a:chExt cx="2341215" cy="2532161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A010F50B-7B6B-364E-8440-8FB1875FAB7E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Security</a:t>
              </a:r>
            </a:p>
          </p:txBody>
        </p:sp>
        <p:pic>
          <p:nvPicPr>
            <p:cNvPr id="39" name="Grafik 38" descr="Sperren mit einfarbiger Füllung">
              <a:extLst>
                <a:ext uri="{FF2B5EF4-FFF2-40B4-BE49-F238E27FC236}">
                  <a16:creationId xmlns:a16="http://schemas.microsoft.com/office/drawing/2014/main" id="{6B1D99B1-07FD-862F-55A9-BD0954FA1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76D3393-1D78-8C96-91F1-CA6C01E6757B}"/>
              </a:ext>
            </a:extLst>
          </p:cNvPr>
          <p:cNvGrpSpPr/>
          <p:nvPr/>
        </p:nvGrpSpPr>
        <p:grpSpPr>
          <a:xfrm>
            <a:off x="14486111" y="2218014"/>
            <a:ext cx="2341215" cy="2532161"/>
            <a:chOff x="1040812" y="2221743"/>
            <a:chExt cx="2341215" cy="2532161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F89E7B32-5F3C-7BD4-67D2-B2642C484E15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Backend-Architektur</a:t>
              </a:r>
            </a:p>
          </p:txBody>
        </p:sp>
        <p:pic>
          <p:nvPicPr>
            <p:cNvPr id="42" name="Grafik 41" descr="Architektur mit einfarbiger Füllung">
              <a:extLst>
                <a:ext uri="{FF2B5EF4-FFF2-40B4-BE49-F238E27FC236}">
                  <a16:creationId xmlns:a16="http://schemas.microsoft.com/office/drawing/2014/main" id="{122C7787-6A4F-D097-00B8-394D23456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E880811B-C1E9-B041-2FD6-FF1A3886E5FD}"/>
              </a:ext>
            </a:extLst>
          </p:cNvPr>
          <p:cNvGrpSpPr/>
          <p:nvPr/>
        </p:nvGrpSpPr>
        <p:grpSpPr>
          <a:xfrm>
            <a:off x="18369994" y="2229779"/>
            <a:ext cx="2341215" cy="2532161"/>
            <a:chOff x="4925391" y="2221743"/>
            <a:chExt cx="2341215" cy="2532161"/>
          </a:xfrm>
        </p:grpSpPr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AE200A62-7543-C404-282B-CFBE2D3CE233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REST-API</a:t>
              </a:r>
            </a:p>
          </p:txBody>
        </p:sp>
        <p:pic>
          <p:nvPicPr>
            <p:cNvPr id="45" name="Grafik 44" descr="Senden mit einfarbiger Füllung">
              <a:extLst>
                <a:ext uri="{FF2B5EF4-FFF2-40B4-BE49-F238E27FC236}">
                  <a16:creationId xmlns:a16="http://schemas.microsoft.com/office/drawing/2014/main" id="{0072BFEE-7B5B-7BDF-3687-5145BEE3D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6793359-18C6-64D2-AF9A-DAC11CFF5A23}"/>
              </a:ext>
            </a:extLst>
          </p:cNvPr>
          <p:cNvGrpSpPr/>
          <p:nvPr/>
        </p:nvGrpSpPr>
        <p:grpSpPr>
          <a:xfrm>
            <a:off x="22262737" y="2267850"/>
            <a:ext cx="2341215" cy="2532161"/>
            <a:chOff x="8628586" y="2162320"/>
            <a:chExt cx="2341215" cy="2532161"/>
          </a:xfrm>
        </p:grpSpPr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3099EFAC-943F-5761-BF6F-72D475693D81}"/>
                </a:ext>
              </a:extLst>
            </p:cNvPr>
            <p:cNvSpPr/>
            <p:nvPr/>
          </p:nvSpPr>
          <p:spPr>
            <a:xfrm>
              <a:off x="8628586" y="2162320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Security</a:t>
              </a:r>
            </a:p>
          </p:txBody>
        </p:sp>
        <p:pic>
          <p:nvPicPr>
            <p:cNvPr id="48" name="Grafik 47" descr="Sperren mit einfarbiger Füllung">
              <a:extLst>
                <a:ext uri="{FF2B5EF4-FFF2-40B4-BE49-F238E27FC236}">
                  <a16:creationId xmlns:a16="http://schemas.microsoft.com/office/drawing/2014/main" id="{1FCE65BB-35D1-4426-6A30-6E960032A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06716" y="2806374"/>
              <a:ext cx="1140612" cy="1140612"/>
            </a:xfrm>
            <a:prstGeom prst="rect">
              <a:avLst/>
            </a:prstGeom>
          </p:spPr>
        </p:pic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4FFA5FE-8E59-7FB3-9252-157C3C934946}"/>
              </a:ext>
            </a:extLst>
          </p:cNvPr>
          <p:cNvGrpSpPr/>
          <p:nvPr/>
        </p:nvGrpSpPr>
        <p:grpSpPr>
          <a:xfrm>
            <a:off x="5352440" y="2908003"/>
            <a:ext cx="1367369" cy="1523539"/>
            <a:chOff x="5352440" y="2712046"/>
            <a:chExt cx="1367369" cy="1523539"/>
          </a:xfrm>
        </p:grpSpPr>
        <p:sp>
          <p:nvSpPr>
            <p:cNvPr id="4" name="Sechseck 3">
              <a:extLst>
                <a:ext uri="{FF2B5EF4-FFF2-40B4-BE49-F238E27FC236}">
                  <a16:creationId xmlns:a16="http://schemas.microsoft.com/office/drawing/2014/main" id="{D64668E5-3EFF-0C75-CEDD-FD0056B166B6}"/>
                </a:ext>
              </a:extLst>
            </p:cNvPr>
            <p:cNvSpPr/>
            <p:nvPr/>
          </p:nvSpPr>
          <p:spPr>
            <a:xfrm rot="5400000">
              <a:off x="5274355" y="2790131"/>
              <a:ext cx="1523539" cy="1367369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803D55E7-3FA7-5C64-8CFD-021301ACED12}"/>
                </a:ext>
              </a:extLst>
            </p:cNvPr>
            <p:cNvSpPr txBox="1"/>
            <p:nvPr/>
          </p:nvSpPr>
          <p:spPr>
            <a:xfrm>
              <a:off x="5574248" y="3348055"/>
              <a:ext cx="98907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C3D3CB5-9170-DE15-7632-13382C5315FB}"/>
              </a:ext>
            </a:extLst>
          </p:cNvPr>
          <p:cNvGrpSpPr/>
          <p:nvPr/>
        </p:nvGrpSpPr>
        <p:grpSpPr>
          <a:xfrm>
            <a:off x="3831775" y="2934582"/>
            <a:ext cx="1367369" cy="1523539"/>
            <a:chOff x="3831775" y="2738625"/>
            <a:chExt cx="1367369" cy="1523539"/>
          </a:xfrm>
        </p:grpSpPr>
        <p:sp>
          <p:nvSpPr>
            <p:cNvPr id="7" name="Sechseck 6">
              <a:extLst>
                <a:ext uri="{FF2B5EF4-FFF2-40B4-BE49-F238E27FC236}">
                  <a16:creationId xmlns:a16="http://schemas.microsoft.com/office/drawing/2014/main" id="{2AB2FE98-1006-D94E-E13E-31A962CCEFC2}"/>
                </a:ext>
              </a:extLst>
            </p:cNvPr>
            <p:cNvSpPr/>
            <p:nvPr/>
          </p:nvSpPr>
          <p:spPr>
            <a:xfrm rot="5400000">
              <a:off x="3753690" y="2816710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8" name="Grafik 7" descr="Pfeil nach rechts mit einfarbiger Füllung">
              <a:extLst>
                <a:ext uri="{FF2B5EF4-FFF2-40B4-BE49-F238E27FC236}">
                  <a16:creationId xmlns:a16="http://schemas.microsoft.com/office/drawing/2014/main" id="{A383C2E3-1AC7-F1A9-7368-3D6302D48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4025203" y="3023907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C7DBC41-17CF-FE61-2EE6-D7BC2842FB1D}"/>
              </a:ext>
            </a:extLst>
          </p:cNvPr>
          <p:cNvGrpSpPr/>
          <p:nvPr/>
        </p:nvGrpSpPr>
        <p:grpSpPr>
          <a:xfrm>
            <a:off x="6140277" y="4254858"/>
            <a:ext cx="1367369" cy="1523539"/>
            <a:chOff x="6140277" y="4058901"/>
            <a:chExt cx="1367369" cy="1523539"/>
          </a:xfrm>
        </p:grpSpPr>
        <p:sp>
          <p:nvSpPr>
            <p:cNvPr id="10" name="Sechseck 9">
              <a:extLst>
                <a:ext uri="{FF2B5EF4-FFF2-40B4-BE49-F238E27FC236}">
                  <a16:creationId xmlns:a16="http://schemas.microsoft.com/office/drawing/2014/main" id="{42CC396F-9299-49DE-6552-F55253CC9EFB}"/>
                </a:ext>
              </a:extLst>
            </p:cNvPr>
            <p:cNvSpPr/>
            <p:nvPr/>
          </p:nvSpPr>
          <p:spPr>
            <a:xfrm rot="5400000">
              <a:off x="6062192" y="4136986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1" name="Grafik 10" descr="Sperren mit einfarbiger Füllung">
              <a:extLst>
                <a:ext uri="{FF2B5EF4-FFF2-40B4-BE49-F238E27FC236}">
                  <a16:creationId xmlns:a16="http://schemas.microsoft.com/office/drawing/2014/main" id="{47F9B44D-0996-6FB8-41D2-CE6967F16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372312" y="4369379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7967EFB-A6B2-EF7C-037B-178E1645E217}"/>
              </a:ext>
            </a:extLst>
          </p:cNvPr>
          <p:cNvGrpSpPr/>
          <p:nvPr/>
        </p:nvGrpSpPr>
        <p:grpSpPr>
          <a:xfrm>
            <a:off x="6914072" y="2908003"/>
            <a:ext cx="1367369" cy="1523539"/>
            <a:chOff x="6914072" y="2712046"/>
            <a:chExt cx="1367369" cy="1523539"/>
          </a:xfrm>
        </p:grpSpPr>
        <p:sp>
          <p:nvSpPr>
            <p:cNvPr id="13" name="Sechseck 12">
              <a:extLst>
                <a:ext uri="{FF2B5EF4-FFF2-40B4-BE49-F238E27FC236}">
                  <a16:creationId xmlns:a16="http://schemas.microsoft.com/office/drawing/2014/main" id="{8599C595-52E3-0DEF-B79A-A1ABB1C336D5}"/>
                </a:ext>
              </a:extLst>
            </p:cNvPr>
            <p:cNvSpPr/>
            <p:nvPr/>
          </p:nvSpPr>
          <p:spPr>
            <a:xfrm rot="5400000">
              <a:off x="6835987" y="2790131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Grafik 13" descr="Datenbank mit einfarbiger Füllung">
              <a:extLst>
                <a:ext uri="{FF2B5EF4-FFF2-40B4-BE49-F238E27FC236}">
                  <a16:creationId xmlns:a16="http://schemas.microsoft.com/office/drawing/2014/main" id="{DD37BADF-0C29-F2AF-C38F-2D46E5D0E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162267" y="30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934EF48-8C05-B3E5-AAF9-7173E1F58499}"/>
              </a:ext>
            </a:extLst>
          </p:cNvPr>
          <p:cNvGrpSpPr/>
          <p:nvPr/>
        </p:nvGrpSpPr>
        <p:grpSpPr>
          <a:xfrm>
            <a:off x="4564602" y="4250689"/>
            <a:ext cx="1367369" cy="1523539"/>
            <a:chOff x="4564602" y="4054732"/>
            <a:chExt cx="1367369" cy="1523539"/>
          </a:xfrm>
        </p:grpSpPr>
        <p:sp>
          <p:nvSpPr>
            <p:cNvPr id="16" name="Sechseck 15">
              <a:extLst>
                <a:ext uri="{FF2B5EF4-FFF2-40B4-BE49-F238E27FC236}">
                  <a16:creationId xmlns:a16="http://schemas.microsoft.com/office/drawing/2014/main" id="{0758CB6D-8D4A-4E41-A6D1-5D2899D6294B}"/>
                </a:ext>
              </a:extLst>
            </p:cNvPr>
            <p:cNvSpPr/>
            <p:nvPr/>
          </p:nvSpPr>
          <p:spPr>
            <a:xfrm rot="5400000">
              <a:off x="4486517" y="4132817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7" name="Grafik 16" descr="Pfeil mit einer Linie: Gerade mit einfarbiger Füllung">
              <a:extLst>
                <a:ext uri="{FF2B5EF4-FFF2-40B4-BE49-F238E27FC236}">
                  <a16:creationId xmlns:a16="http://schemas.microsoft.com/office/drawing/2014/main" id="{86283E69-4660-9F3D-537A-F7837F32B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832637" y="4430696"/>
              <a:ext cx="824769" cy="824769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2CC957CA-4C97-8696-5E28-8C066A87B581}"/>
              </a:ext>
            </a:extLst>
          </p:cNvPr>
          <p:cNvGrpSpPr/>
          <p:nvPr/>
        </p:nvGrpSpPr>
        <p:grpSpPr>
          <a:xfrm>
            <a:off x="4564602" y="1577937"/>
            <a:ext cx="1367369" cy="1523539"/>
            <a:chOff x="4564602" y="1381980"/>
            <a:chExt cx="1367369" cy="1523539"/>
          </a:xfrm>
        </p:grpSpPr>
        <p:sp>
          <p:nvSpPr>
            <p:cNvPr id="19" name="Sechseck 18">
              <a:extLst>
                <a:ext uri="{FF2B5EF4-FFF2-40B4-BE49-F238E27FC236}">
                  <a16:creationId xmlns:a16="http://schemas.microsoft.com/office/drawing/2014/main" id="{28DBFC66-1B62-626E-3A1B-A8F9A72301D5}"/>
                </a:ext>
              </a:extLst>
            </p:cNvPr>
            <p:cNvSpPr/>
            <p:nvPr/>
          </p:nvSpPr>
          <p:spPr>
            <a:xfrm rot="5400000">
              <a:off x="4486517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20" name="Grafik 19" descr="Zahnräder mit einfarbiger Füllung">
              <a:extLst>
                <a:ext uri="{FF2B5EF4-FFF2-40B4-BE49-F238E27FC236}">
                  <a16:creationId xmlns:a16="http://schemas.microsoft.com/office/drawing/2014/main" id="{EE5D6E5C-70F5-9AEA-C8CE-83C162EE4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4791086" y="1638934"/>
              <a:ext cx="914400" cy="914400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441D656-E5E9-601D-101B-DE5824CB323F}"/>
              </a:ext>
            </a:extLst>
          </p:cNvPr>
          <p:cNvGrpSpPr/>
          <p:nvPr/>
        </p:nvGrpSpPr>
        <p:grpSpPr>
          <a:xfrm>
            <a:off x="6140277" y="1577937"/>
            <a:ext cx="1367369" cy="1523539"/>
            <a:chOff x="6140277" y="1381980"/>
            <a:chExt cx="1367369" cy="1523539"/>
          </a:xfrm>
        </p:grpSpPr>
        <p:sp>
          <p:nvSpPr>
            <p:cNvPr id="22" name="Sechseck 21">
              <a:extLst>
                <a:ext uri="{FF2B5EF4-FFF2-40B4-BE49-F238E27FC236}">
                  <a16:creationId xmlns:a16="http://schemas.microsoft.com/office/drawing/2014/main" id="{028AD7BA-529A-8AEF-507D-7A1778CA7B3F}"/>
                </a:ext>
              </a:extLst>
            </p:cNvPr>
            <p:cNvSpPr/>
            <p:nvPr/>
          </p:nvSpPr>
          <p:spPr>
            <a:xfrm rot="5400000">
              <a:off x="6062192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25" name="Grafik 24" descr="Drahtlos mit einfarbiger Füllung">
              <a:extLst>
                <a:ext uri="{FF2B5EF4-FFF2-40B4-BE49-F238E27FC236}">
                  <a16:creationId xmlns:a16="http://schemas.microsoft.com/office/drawing/2014/main" id="{16BA8E30-4953-44F7-86DA-CFC35847E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>
              <a:off x="6366761" y="1678155"/>
              <a:ext cx="914400" cy="914400"/>
            </a:xfrm>
            <a:prstGeom prst="rect">
              <a:avLst/>
            </a:prstGeom>
          </p:spPr>
        </p:pic>
      </p:grpSp>
      <p:sp>
        <p:nvSpPr>
          <p:cNvPr id="30" name="Titel 1">
            <a:extLst>
              <a:ext uri="{FF2B5EF4-FFF2-40B4-BE49-F238E27FC236}">
                <a16:creationId xmlns:a16="http://schemas.microsoft.com/office/drawing/2014/main" id="{68EC01C6-5664-3F46-E691-55468EA44EFA}"/>
              </a:ext>
            </a:extLst>
          </p:cNvPr>
          <p:cNvSpPr txBox="1">
            <a:spLocks/>
          </p:cNvSpPr>
          <p:nvPr/>
        </p:nvSpPr>
        <p:spPr>
          <a:xfrm>
            <a:off x="8281441" y="2089604"/>
            <a:ext cx="266727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/>
              <a:t>Web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HTTP-Schnittstelle</a:t>
            </a:r>
          </a:p>
        </p:txBody>
      </p:sp>
      <p:sp>
        <p:nvSpPr>
          <p:cNvPr id="236" name="Titel 1">
            <a:extLst>
              <a:ext uri="{FF2B5EF4-FFF2-40B4-BE49-F238E27FC236}">
                <a16:creationId xmlns:a16="http://schemas.microsoft.com/office/drawing/2014/main" id="{4448D96B-37C7-E621-6BC4-168D84ECFC6F}"/>
              </a:ext>
            </a:extLst>
          </p:cNvPr>
          <p:cNvSpPr txBox="1">
            <a:spLocks/>
          </p:cNvSpPr>
          <p:nvPr/>
        </p:nvSpPr>
        <p:spPr>
          <a:xfrm>
            <a:off x="8650734" y="3399345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Persistence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Datenzugriffe</a:t>
            </a:r>
          </a:p>
        </p:txBody>
      </p:sp>
      <p:sp>
        <p:nvSpPr>
          <p:cNvPr id="237" name="Titel 1">
            <a:extLst>
              <a:ext uri="{FF2B5EF4-FFF2-40B4-BE49-F238E27FC236}">
                <a16:creationId xmlns:a16="http://schemas.microsoft.com/office/drawing/2014/main" id="{077D418D-DF82-8297-DB7C-6E526C57E4BE}"/>
              </a:ext>
            </a:extLst>
          </p:cNvPr>
          <p:cNvSpPr txBox="1">
            <a:spLocks/>
          </p:cNvSpPr>
          <p:nvPr/>
        </p:nvSpPr>
        <p:spPr>
          <a:xfrm>
            <a:off x="8276847" y="4738071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Keycloak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Authentifizierung</a:t>
            </a:r>
          </a:p>
        </p:txBody>
      </p:sp>
      <p:sp>
        <p:nvSpPr>
          <p:cNvPr id="239" name="Titel 1">
            <a:extLst>
              <a:ext uri="{FF2B5EF4-FFF2-40B4-BE49-F238E27FC236}">
                <a16:creationId xmlns:a16="http://schemas.microsoft.com/office/drawing/2014/main" id="{9C1B4782-FB3E-DDF8-BB82-25C5A84455AE}"/>
              </a:ext>
            </a:extLst>
          </p:cNvPr>
          <p:cNvSpPr txBox="1">
            <a:spLocks/>
          </p:cNvSpPr>
          <p:nvPr/>
        </p:nvSpPr>
        <p:spPr>
          <a:xfrm>
            <a:off x="1198951" y="2044379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 err="1"/>
              <a:t>Application</a:t>
            </a:r>
            <a:r>
              <a:rPr lang="de-DE" sz="1800" b="1" cap="none" dirty="0"/>
              <a:t> Layer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Steuert Abläufe</a:t>
            </a:r>
          </a:p>
        </p:txBody>
      </p:sp>
      <p:sp>
        <p:nvSpPr>
          <p:cNvPr id="240" name="!! DTO">
            <a:extLst>
              <a:ext uri="{FF2B5EF4-FFF2-40B4-BE49-F238E27FC236}">
                <a16:creationId xmlns:a16="http://schemas.microsoft.com/office/drawing/2014/main" id="{681EE158-D138-A2B1-4E20-9A4D974E70DE}"/>
              </a:ext>
            </a:extLst>
          </p:cNvPr>
          <p:cNvSpPr txBox="1">
            <a:spLocks/>
          </p:cNvSpPr>
          <p:nvPr/>
        </p:nvSpPr>
        <p:spPr>
          <a:xfrm>
            <a:off x="1025921" y="3426958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Inbound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Intern benötigt</a:t>
            </a:r>
          </a:p>
        </p:txBody>
      </p:sp>
      <p:sp>
        <p:nvSpPr>
          <p:cNvPr id="241" name="Titel 1">
            <a:extLst>
              <a:ext uri="{FF2B5EF4-FFF2-40B4-BE49-F238E27FC236}">
                <a16:creationId xmlns:a16="http://schemas.microsoft.com/office/drawing/2014/main" id="{FC22861B-797F-4A83-58D2-655342DB0FC6}"/>
              </a:ext>
            </a:extLst>
          </p:cNvPr>
          <p:cNvSpPr txBox="1">
            <a:spLocks/>
          </p:cNvSpPr>
          <p:nvPr/>
        </p:nvSpPr>
        <p:spPr>
          <a:xfrm>
            <a:off x="1198951" y="4709086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Outbound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Extern benötigt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F86D1B8-8E8A-5F67-88D1-294984F0A03A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8864C76-5D46-01D5-FC13-30C6C4A2FD7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8DA4C3C-65F6-8363-1E0A-442750A93C47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D3B3CC17-C7AC-1BE8-8D5A-385025E48ED0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17F76B3-C5EB-E1B8-F4EB-DD71AC08FE4D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E4BE733-97E4-5F62-BD93-7FE0476F333A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971666B-7035-5BC3-2DE3-AE3652A1EAA8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B1A79072-7EB4-6814-3A39-310E2FAD9A0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4F2C151F-46CA-584B-F12F-498CE9A6C60E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F2BAE39-6C5A-6AB2-2BF4-E4FC5C597D85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5145EEEC-B1B5-8EC0-79D9-2DD254109073}"/>
              </a:ext>
            </a:extLst>
          </p:cNvPr>
          <p:cNvSpPr/>
          <p:nvPr/>
        </p:nvSpPr>
        <p:spPr>
          <a:xfrm>
            <a:off x="6132284" y="6443695"/>
            <a:ext cx="43103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65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98AD-ECE8-1E71-94FA-0D8E1745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D618FC6-FACC-97B6-F1AB-BB90166BDB82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D8F7CF7-CBCB-2CAE-4BCB-357A7F4A62B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35D0B523-7CA2-3AE4-73D8-9806E46AF519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45EB1A3-BF65-9D87-B9C2-F5C071716071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1989162-5826-F351-80D2-4B07858B450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419B1D3-C15F-BE83-7EB3-AFC7547D758F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ADFDBB2-3273-8DC2-A5F2-E36D864AF6EE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367EFC1F-2853-BB4B-0BCB-E304576E8D38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166B1E2-B984-EF45-9317-6A6F49E9D3D3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FE328745-837C-7953-BB7C-25CE0C61D84F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AF1E0C91-6451-34D8-8377-551C8DAD7B6B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9B7F563-AD81-756A-45CA-81F348AE8796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A4AB000C-B938-9A2E-2BD2-3E47FF901F2E}"/>
              </a:ext>
            </a:extLst>
          </p:cNvPr>
          <p:cNvSpPr/>
          <p:nvPr/>
        </p:nvSpPr>
        <p:spPr>
          <a:xfrm>
            <a:off x="6132284" y="6443695"/>
            <a:ext cx="5860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18FA1D7-77A9-6FB7-D91D-F98CF1EDAE97}"/>
              </a:ext>
            </a:extLst>
          </p:cNvPr>
          <p:cNvGrpSpPr/>
          <p:nvPr/>
        </p:nvGrpSpPr>
        <p:grpSpPr>
          <a:xfrm>
            <a:off x="17888569" y="2908003"/>
            <a:ext cx="1367369" cy="1523539"/>
            <a:chOff x="5352440" y="2712046"/>
            <a:chExt cx="1367369" cy="1523539"/>
          </a:xfrm>
        </p:grpSpPr>
        <p:sp>
          <p:nvSpPr>
            <p:cNvPr id="4" name="Sechseck 3">
              <a:extLst>
                <a:ext uri="{FF2B5EF4-FFF2-40B4-BE49-F238E27FC236}">
                  <a16:creationId xmlns:a16="http://schemas.microsoft.com/office/drawing/2014/main" id="{3B0354AC-1745-1FF0-F60D-5B84C6DE8392}"/>
                </a:ext>
              </a:extLst>
            </p:cNvPr>
            <p:cNvSpPr/>
            <p:nvPr/>
          </p:nvSpPr>
          <p:spPr>
            <a:xfrm rot="5400000">
              <a:off x="5274355" y="2790131"/>
              <a:ext cx="1523539" cy="1367369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2F4E6E88-05D4-BEE6-D5D0-1950867D3457}"/>
                </a:ext>
              </a:extLst>
            </p:cNvPr>
            <p:cNvSpPr txBox="1"/>
            <p:nvPr/>
          </p:nvSpPr>
          <p:spPr>
            <a:xfrm>
              <a:off x="5574248" y="3348055"/>
              <a:ext cx="98907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DOMAIN</a:t>
              </a:r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906939C-E46A-3753-2473-47D176B3EFE4}"/>
              </a:ext>
            </a:extLst>
          </p:cNvPr>
          <p:cNvGrpSpPr/>
          <p:nvPr/>
        </p:nvGrpSpPr>
        <p:grpSpPr>
          <a:xfrm>
            <a:off x="16367904" y="2934582"/>
            <a:ext cx="1367369" cy="1523539"/>
            <a:chOff x="3831775" y="2738625"/>
            <a:chExt cx="1367369" cy="1523539"/>
          </a:xfrm>
        </p:grpSpPr>
        <p:sp>
          <p:nvSpPr>
            <p:cNvPr id="7" name="Sechseck 6">
              <a:extLst>
                <a:ext uri="{FF2B5EF4-FFF2-40B4-BE49-F238E27FC236}">
                  <a16:creationId xmlns:a16="http://schemas.microsoft.com/office/drawing/2014/main" id="{A476717F-1E19-4074-332F-2BF787B87BAA}"/>
                </a:ext>
              </a:extLst>
            </p:cNvPr>
            <p:cNvSpPr/>
            <p:nvPr/>
          </p:nvSpPr>
          <p:spPr>
            <a:xfrm rot="5400000">
              <a:off x="3753690" y="2816710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8" name="Grafik 7" descr="Pfeil nach rechts mit einfarbiger Füllung">
              <a:extLst>
                <a:ext uri="{FF2B5EF4-FFF2-40B4-BE49-F238E27FC236}">
                  <a16:creationId xmlns:a16="http://schemas.microsoft.com/office/drawing/2014/main" id="{15ACF3BD-71BB-BB61-A1A5-D39E67062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025203" y="3023907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A2A0EB4-8DCA-5D15-5AE8-2FBE743E1745}"/>
              </a:ext>
            </a:extLst>
          </p:cNvPr>
          <p:cNvGrpSpPr/>
          <p:nvPr/>
        </p:nvGrpSpPr>
        <p:grpSpPr>
          <a:xfrm>
            <a:off x="18676406" y="4254858"/>
            <a:ext cx="1367369" cy="1523539"/>
            <a:chOff x="6140277" y="4058901"/>
            <a:chExt cx="1367369" cy="1523539"/>
          </a:xfrm>
        </p:grpSpPr>
        <p:sp>
          <p:nvSpPr>
            <p:cNvPr id="10" name="Sechseck 9">
              <a:extLst>
                <a:ext uri="{FF2B5EF4-FFF2-40B4-BE49-F238E27FC236}">
                  <a16:creationId xmlns:a16="http://schemas.microsoft.com/office/drawing/2014/main" id="{6BC532A7-11BD-260A-902E-C6FBA54E5C28}"/>
                </a:ext>
              </a:extLst>
            </p:cNvPr>
            <p:cNvSpPr/>
            <p:nvPr/>
          </p:nvSpPr>
          <p:spPr>
            <a:xfrm rot="5400000">
              <a:off x="6062192" y="4136986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1" name="Grafik 10" descr="Sperren mit einfarbiger Füllung">
              <a:extLst>
                <a:ext uri="{FF2B5EF4-FFF2-40B4-BE49-F238E27FC236}">
                  <a16:creationId xmlns:a16="http://schemas.microsoft.com/office/drawing/2014/main" id="{14D985DD-CA59-DA8D-270C-4B50807E7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372312" y="4369379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818D0D3-D2C6-B2EF-BC75-7A73F6E84ED0}"/>
              </a:ext>
            </a:extLst>
          </p:cNvPr>
          <p:cNvGrpSpPr/>
          <p:nvPr/>
        </p:nvGrpSpPr>
        <p:grpSpPr>
          <a:xfrm>
            <a:off x="19450201" y="2908003"/>
            <a:ext cx="1367369" cy="1523539"/>
            <a:chOff x="6914072" y="2712046"/>
            <a:chExt cx="1367369" cy="1523539"/>
          </a:xfrm>
        </p:grpSpPr>
        <p:sp>
          <p:nvSpPr>
            <p:cNvPr id="13" name="Sechseck 12">
              <a:extLst>
                <a:ext uri="{FF2B5EF4-FFF2-40B4-BE49-F238E27FC236}">
                  <a16:creationId xmlns:a16="http://schemas.microsoft.com/office/drawing/2014/main" id="{0F87CD59-92A0-E721-81E7-0EC70A056D19}"/>
                </a:ext>
              </a:extLst>
            </p:cNvPr>
            <p:cNvSpPr/>
            <p:nvPr/>
          </p:nvSpPr>
          <p:spPr>
            <a:xfrm rot="5400000">
              <a:off x="6835987" y="2790131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Grafik 13" descr="Datenbank mit einfarbiger Füllung">
              <a:extLst>
                <a:ext uri="{FF2B5EF4-FFF2-40B4-BE49-F238E27FC236}">
                  <a16:creationId xmlns:a16="http://schemas.microsoft.com/office/drawing/2014/main" id="{FAFA656B-0ED7-39DB-F747-BBD5DD515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162267" y="3038082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CF601DA-6E41-324B-8ECA-A211C4553297}"/>
              </a:ext>
            </a:extLst>
          </p:cNvPr>
          <p:cNvGrpSpPr/>
          <p:nvPr/>
        </p:nvGrpSpPr>
        <p:grpSpPr>
          <a:xfrm>
            <a:off x="17100731" y="4250689"/>
            <a:ext cx="1367369" cy="1523539"/>
            <a:chOff x="4564602" y="4054732"/>
            <a:chExt cx="1367369" cy="1523539"/>
          </a:xfrm>
        </p:grpSpPr>
        <p:sp>
          <p:nvSpPr>
            <p:cNvPr id="16" name="Sechseck 15">
              <a:extLst>
                <a:ext uri="{FF2B5EF4-FFF2-40B4-BE49-F238E27FC236}">
                  <a16:creationId xmlns:a16="http://schemas.microsoft.com/office/drawing/2014/main" id="{326BED25-2608-AF4F-77C4-9A07D928F4E8}"/>
                </a:ext>
              </a:extLst>
            </p:cNvPr>
            <p:cNvSpPr/>
            <p:nvPr/>
          </p:nvSpPr>
          <p:spPr>
            <a:xfrm rot="5400000">
              <a:off x="4486517" y="4132817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17" name="Grafik 16" descr="Pfeil mit einer Linie: Gerade mit einfarbiger Füllung">
              <a:extLst>
                <a:ext uri="{FF2B5EF4-FFF2-40B4-BE49-F238E27FC236}">
                  <a16:creationId xmlns:a16="http://schemas.microsoft.com/office/drawing/2014/main" id="{99899E8F-542E-D23E-F0CC-8DF06A419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832637" y="4430696"/>
              <a:ext cx="824769" cy="824769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1F890B7-4AC0-3F4E-649A-6835BF90999C}"/>
              </a:ext>
            </a:extLst>
          </p:cNvPr>
          <p:cNvGrpSpPr/>
          <p:nvPr/>
        </p:nvGrpSpPr>
        <p:grpSpPr>
          <a:xfrm>
            <a:off x="17100731" y="1577937"/>
            <a:ext cx="1367369" cy="1523539"/>
            <a:chOff x="4564602" y="1381980"/>
            <a:chExt cx="1367369" cy="1523539"/>
          </a:xfrm>
        </p:grpSpPr>
        <p:sp>
          <p:nvSpPr>
            <p:cNvPr id="19" name="Sechseck 18">
              <a:extLst>
                <a:ext uri="{FF2B5EF4-FFF2-40B4-BE49-F238E27FC236}">
                  <a16:creationId xmlns:a16="http://schemas.microsoft.com/office/drawing/2014/main" id="{6A5AD816-9A85-14E8-4D5A-385FE84E240C}"/>
                </a:ext>
              </a:extLst>
            </p:cNvPr>
            <p:cNvSpPr/>
            <p:nvPr/>
          </p:nvSpPr>
          <p:spPr>
            <a:xfrm rot="5400000">
              <a:off x="4486517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20" name="Grafik 19" descr="Zahnräder mit einfarbiger Füllung">
              <a:extLst>
                <a:ext uri="{FF2B5EF4-FFF2-40B4-BE49-F238E27FC236}">
                  <a16:creationId xmlns:a16="http://schemas.microsoft.com/office/drawing/2014/main" id="{A24DA2FC-29EB-E6A0-FFF2-E922D712D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791086" y="1638934"/>
              <a:ext cx="914400" cy="914400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F46576F-EAFB-98D2-4A21-04E7FA8AA6D4}"/>
              </a:ext>
            </a:extLst>
          </p:cNvPr>
          <p:cNvGrpSpPr/>
          <p:nvPr/>
        </p:nvGrpSpPr>
        <p:grpSpPr>
          <a:xfrm>
            <a:off x="18676406" y="1577937"/>
            <a:ext cx="1367369" cy="1523539"/>
            <a:chOff x="6140277" y="1381980"/>
            <a:chExt cx="1367369" cy="1523539"/>
          </a:xfrm>
        </p:grpSpPr>
        <p:sp>
          <p:nvSpPr>
            <p:cNvPr id="22" name="Sechseck 21">
              <a:extLst>
                <a:ext uri="{FF2B5EF4-FFF2-40B4-BE49-F238E27FC236}">
                  <a16:creationId xmlns:a16="http://schemas.microsoft.com/office/drawing/2014/main" id="{2F667371-F02F-8B58-7D7B-7621A3FCD86B}"/>
                </a:ext>
              </a:extLst>
            </p:cNvPr>
            <p:cNvSpPr/>
            <p:nvPr/>
          </p:nvSpPr>
          <p:spPr>
            <a:xfrm rot="5400000">
              <a:off x="6062192" y="1460065"/>
              <a:ext cx="1523539" cy="136736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e-DE" dirty="0"/>
            </a:p>
          </p:txBody>
        </p:sp>
        <p:pic>
          <p:nvPicPr>
            <p:cNvPr id="25" name="Grafik 24" descr="Drahtlos mit einfarbiger Füllung">
              <a:extLst>
                <a:ext uri="{FF2B5EF4-FFF2-40B4-BE49-F238E27FC236}">
                  <a16:creationId xmlns:a16="http://schemas.microsoft.com/office/drawing/2014/main" id="{23C16584-88C9-2957-AC94-A37D0C14E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366761" y="1678155"/>
              <a:ext cx="914400" cy="914400"/>
            </a:xfrm>
            <a:prstGeom prst="rect">
              <a:avLst/>
            </a:prstGeom>
          </p:spPr>
        </p:pic>
      </p:grpSp>
      <p:sp>
        <p:nvSpPr>
          <p:cNvPr id="30" name="Titel 1">
            <a:extLst>
              <a:ext uri="{FF2B5EF4-FFF2-40B4-BE49-F238E27FC236}">
                <a16:creationId xmlns:a16="http://schemas.microsoft.com/office/drawing/2014/main" id="{F910203E-1592-9C15-4002-E61B48BD266E}"/>
              </a:ext>
            </a:extLst>
          </p:cNvPr>
          <p:cNvSpPr txBox="1">
            <a:spLocks/>
          </p:cNvSpPr>
          <p:nvPr/>
        </p:nvSpPr>
        <p:spPr>
          <a:xfrm>
            <a:off x="20817570" y="2089604"/>
            <a:ext cx="266727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/>
              <a:t>Web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HTTP-Schnittstelle</a:t>
            </a:r>
          </a:p>
        </p:txBody>
      </p:sp>
      <p:sp>
        <p:nvSpPr>
          <p:cNvPr id="236" name="Titel 1">
            <a:extLst>
              <a:ext uri="{FF2B5EF4-FFF2-40B4-BE49-F238E27FC236}">
                <a16:creationId xmlns:a16="http://schemas.microsoft.com/office/drawing/2014/main" id="{949B1D47-B8FD-FF01-362B-2497B1467EA7}"/>
              </a:ext>
            </a:extLst>
          </p:cNvPr>
          <p:cNvSpPr txBox="1">
            <a:spLocks/>
          </p:cNvSpPr>
          <p:nvPr/>
        </p:nvSpPr>
        <p:spPr>
          <a:xfrm>
            <a:off x="21186863" y="3399345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Persistence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Datenzugriffe</a:t>
            </a:r>
          </a:p>
        </p:txBody>
      </p:sp>
      <p:sp>
        <p:nvSpPr>
          <p:cNvPr id="237" name="Titel 1">
            <a:extLst>
              <a:ext uri="{FF2B5EF4-FFF2-40B4-BE49-F238E27FC236}">
                <a16:creationId xmlns:a16="http://schemas.microsoft.com/office/drawing/2014/main" id="{FA8AB6D2-4447-7600-2918-9FC291E5D37D}"/>
              </a:ext>
            </a:extLst>
          </p:cNvPr>
          <p:cNvSpPr txBox="1">
            <a:spLocks/>
          </p:cNvSpPr>
          <p:nvPr/>
        </p:nvSpPr>
        <p:spPr>
          <a:xfrm>
            <a:off x="20812976" y="4738071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de-DE" sz="1800" b="1" cap="none" dirty="0" err="1"/>
              <a:t>Keycloak</a:t>
            </a:r>
            <a:r>
              <a:rPr lang="de-DE" sz="1800" b="1" cap="none" dirty="0"/>
              <a:t> Adapter</a:t>
            </a:r>
          </a:p>
          <a:p>
            <a:pPr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Authentifizierung</a:t>
            </a:r>
          </a:p>
        </p:txBody>
      </p:sp>
      <p:sp>
        <p:nvSpPr>
          <p:cNvPr id="239" name="Titel 1">
            <a:extLst>
              <a:ext uri="{FF2B5EF4-FFF2-40B4-BE49-F238E27FC236}">
                <a16:creationId xmlns:a16="http://schemas.microsoft.com/office/drawing/2014/main" id="{351E668D-4E0F-8005-718A-B1EB613F9890}"/>
              </a:ext>
            </a:extLst>
          </p:cNvPr>
          <p:cNvSpPr txBox="1">
            <a:spLocks/>
          </p:cNvSpPr>
          <p:nvPr/>
        </p:nvSpPr>
        <p:spPr>
          <a:xfrm>
            <a:off x="13735080" y="2044379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 err="1"/>
              <a:t>Application</a:t>
            </a:r>
            <a:r>
              <a:rPr lang="de-DE" sz="1800" b="1" cap="none" dirty="0"/>
              <a:t> Layer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Steuert Abläufe</a:t>
            </a:r>
          </a:p>
        </p:txBody>
      </p:sp>
      <p:sp>
        <p:nvSpPr>
          <p:cNvPr id="240" name="!! DTO">
            <a:extLst>
              <a:ext uri="{FF2B5EF4-FFF2-40B4-BE49-F238E27FC236}">
                <a16:creationId xmlns:a16="http://schemas.microsoft.com/office/drawing/2014/main" id="{255E1FFF-8FEB-8008-3FF1-FD00C03BB903}"/>
              </a:ext>
            </a:extLst>
          </p:cNvPr>
          <p:cNvSpPr txBox="1">
            <a:spLocks/>
          </p:cNvSpPr>
          <p:nvPr/>
        </p:nvSpPr>
        <p:spPr>
          <a:xfrm>
            <a:off x="13562050" y="3426958"/>
            <a:ext cx="2448369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Inbound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Intern benötigt</a:t>
            </a:r>
          </a:p>
        </p:txBody>
      </p:sp>
      <p:sp>
        <p:nvSpPr>
          <p:cNvPr id="241" name="Titel 1">
            <a:extLst>
              <a:ext uri="{FF2B5EF4-FFF2-40B4-BE49-F238E27FC236}">
                <a16:creationId xmlns:a16="http://schemas.microsoft.com/office/drawing/2014/main" id="{E452EF17-931C-DB1E-7C47-7FCF3B2989F7}"/>
              </a:ext>
            </a:extLst>
          </p:cNvPr>
          <p:cNvSpPr txBox="1">
            <a:spLocks/>
          </p:cNvSpPr>
          <p:nvPr/>
        </p:nvSpPr>
        <p:spPr>
          <a:xfrm>
            <a:off x="13735080" y="4709086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600"/>
              </a:spcBef>
            </a:pPr>
            <a:r>
              <a:rPr lang="de-DE" sz="1800" b="1" cap="none" dirty="0"/>
              <a:t>Outbound Ports</a:t>
            </a:r>
          </a:p>
          <a:p>
            <a:pPr algn="r">
              <a:spcBef>
                <a:spcPts val="600"/>
              </a:spcBef>
            </a:pPr>
            <a:r>
              <a:rPr lang="de-DE" sz="1600" cap="none" dirty="0">
                <a:solidFill>
                  <a:schemeClr val="tx2"/>
                </a:solidFill>
              </a:rPr>
              <a:t>Extern benötigt</a:t>
            </a:r>
          </a:p>
        </p:txBody>
      </p:sp>
      <p:pic>
        <p:nvPicPr>
          <p:cNvPr id="225" name="Grafik 224">
            <a:extLst>
              <a:ext uri="{FF2B5EF4-FFF2-40B4-BE49-F238E27FC236}">
                <a16:creationId xmlns:a16="http://schemas.microsoft.com/office/drawing/2014/main" id="{C9F6302E-BB11-2A9E-F4E8-7F1EAB7E0F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3393" b="97577" l="4715" r="99504">
                        <a14:foregroundMark x1="28040" y1="89176" x2="63275" y2="97577"/>
                        <a14:foregroundMark x1="63275" y1="97577" x2="72208" y2="89822"/>
                        <a14:foregroundMark x1="92060" y1="61389" x2="84119" y2="21163"/>
                        <a14:foregroundMark x1="84119" y1="21163" x2="55087" y2="11147"/>
                        <a14:foregroundMark x1="55087" y1="11147" x2="25558" y2="11793"/>
                        <a14:foregroundMark x1="25558" y1="11793" x2="11414" y2="28918"/>
                        <a14:foregroundMark x1="11414" y1="28918" x2="8437" y2="60097"/>
                        <a14:foregroundMark x1="8189" y1="38611" x2="4715" y2="12924"/>
                        <a14:foregroundMark x1="24566" y1="12439" x2="73945" y2="3554"/>
                        <a14:foregroundMark x1="91067" y1="19871" x2="99504" y2="31179"/>
                        <a14:backgroundMark x1="15136" y1="90307" x2="5459" y2="98546"/>
                        <a14:backgroundMark x1="14640" y1="96123" x2="14392" y2="97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2148" y="1932488"/>
            <a:ext cx="1807704" cy="2776598"/>
          </a:xfrm>
          <a:prstGeom prst="rect">
            <a:avLst/>
          </a:prstGeom>
        </p:spPr>
      </p:pic>
      <p:pic>
        <p:nvPicPr>
          <p:cNvPr id="227" name="Grafik 226">
            <a:extLst>
              <a:ext uri="{FF2B5EF4-FFF2-40B4-BE49-F238E27FC236}">
                <a16:creationId xmlns:a16="http://schemas.microsoft.com/office/drawing/2014/main" id="{CFF59AFF-3E0F-AD4F-295C-0F538BC5A2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6656" b="97078" l="5185" r="95556">
                        <a14:foregroundMark x1="28395" y1="87825" x2="50864" y2="97078"/>
                        <a14:foregroundMark x1="50864" y1="97078" x2="67407" y2="83929"/>
                        <a14:foregroundMark x1="94321" y1="62662" x2="85432" y2="23539"/>
                        <a14:foregroundMark x1="67901" y1="15260" x2="51605" y2="6656"/>
                        <a14:foregroundMark x1="20000" y1="14286" x2="10123" y2="55032"/>
                        <a14:foregroundMark x1="10864" y1="47403" x2="5432" y2="23052"/>
                        <a14:foregroundMark x1="94074" y1="21429" x2="95556" y2="21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3740" y="1902248"/>
            <a:ext cx="1854970" cy="2821386"/>
          </a:xfrm>
          <a:prstGeom prst="rect">
            <a:avLst/>
          </a:prstGeom>
        </p:spPr>
      </p:pic>
      <p:sp>
        <p:nvSpPr>
          <p:cNvPr id="224" name="Rechteck 223">
            <a:extLst>
              <a:ext uri="{FF2B5EF4-FFF2-40B4-BE49-F238E27FC236}">
                <a16:creationId xmlns:a16="http://schemas.microsoft.com/office/drawing/2014/main" id="{4212D794-6D56-D618-36E0-FA0B86CC8402}"/>
              </a:ext>
            </a:extLst>
          </p:cNvPr>
          <p:cNvSpPr/>
          <p:nvPr/>
        </p:nvSpPr>
        <p:spPr>
          <a:xfrm>
            <a:off x="4951398" y="4107125"/>
            <a:ext cx="2320428" cy="694314"/>
          </a:xfrm>
          <a:prstGeom prst="rect">
            <a:avLst/>
          </a:prstGeom>
          <a:gradFill>
            <a:gsLst>
              <a:gs pos="43000">
                <a:srgbClr val="FEF6F8">
                  <a:alpha val="20000"/>
                </a:srgbClr>
              </a:gs>
              <a:gs pos="75700">
                <a:srgbClr val="FFFCFD"/>
              </a:gs>
              <a:gs pos="0">
                <a:srgbClr val="FEF3F5">
                  <a:alpha val="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29" name="Grafik 228" descr="Ein Bild, das Text, Kreis, Logo, Markenzeichen enthält.">
            <a:extLst>
              <a:ext uri="{FF2B5EF4-FFF2-40B4-BE49-F238E27FC236}">
                <a16:creationId xmlns:a16="http://schemas.microsoft.com/office/drawing/2014/main" id="{42A550F8-D00A-79D1-03C0-D9003E8FE3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9" y="3943453"/>
            <a:ext cx="1333688" cy="1333688"/>
          </a:xfrm>
          <a:prstGeom prst="rect">
            <a:avLst/>
          </a:prstGeom>
        </p:spPr>
      </p:pic>
      <p:sp>
        <p:nvSpPr>
          <p:cNvPr id="60" name="!!FrontendRect">
            <a:extLst>
              <a:ext uri="{FF2B5EF4-FFF2-40B4-BE49-F238E27FC236}">
                <a16:creationId xmlns:a16="http://schemas.microsoft.com/office/drawing/2014/main" id="{A5C4A6E1-1C5E-334C-9D83-3966190F352F}"/>
              </a:ext>
            </a:extLst>
          </p:cNvPr>
          <p:cNvSpPr/>
          <p:nvPr/>
        </p:nvSpPr>
        <p:spPr>
          <a:xfrm>
            <a:off x="-35369610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1" name="!!FrontendIcon" descr="Atom mit einfarbiger Füllung">
            <a:extLst>
              <a:ext uri="{FF2B5EF4-FFF2-40B4-BE49-F238E27FC236}">
                <a16:creationId xmlns:a16="http://schemas.microsoft.com/office/drawing/2014/main" id="{3A9D9751-6427-2188-FEDB-7D732B1E208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35273453" y="3074797"/>
            <a:ext cx="722085" cy="722085"/>
          </a:xfrm>
          <a:prstGeom prst="rect">
            <a:avLst/>
          </a:prstGeom>
        </p:spPr>
      </p:pic>
      <p:sp>
        <p:nvSpPr>
          <p:cNvPr id="62" name="!!Frontend">
            <a:extLst>
              <a:ext uri="{FF2B5EF4-FFF2-40B4-BE49-F238E27FC236}">
                <a16:creationId xmlns:a16="http://schemas.microsoft.com/office/drawing/2014/main" id="{FF6EC120-DA9E-9770-493C-7BA3C6806186}"/>
              </a:ext>
            </a:extLst>
          </p:cNvPr>
          <p:cNvSpPr txBox="1"/>
          <p:nvPr/>
        </p:nvSpPr>
        <p:spPr>
          <a:xfrm>
            <a:off x="-35590955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63" name="!!1">
            <a:extLst>
              <a:ext uri="{FF2B5EF4-FFF2-40B4-BE49-F238E27FC236}">
                <a16:creationId xmlns:a16="http://schemas.microsoft.com/office/drawing/2014/main" id="{BEC95343-84D4-28B5-4D39-F36EADAE45B8}"/>
              </a:ext>
            </a:extLst>
          </p:cNvPr>
          <p:cNvSpPr/>
          <p:nvPr/>
        </p:nvSpPr>
        <p:spPr>
          <a:xfrm>
            <a:off x="-3170909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4" name="!!ControllerRect">
            <a:extLst>
              <a:ext uri="{FF2B5EF4-FFF2-40B4-BE49-F238E27FC236}">
                <a16:creationId xmlns:a16="http://schemas.microsoft.com/office/drawing/2014/main" id="{E5B4F449-8064-3BF0-F2EF-22FBD80A1F03}"/>
              </a:ext>
            </a:extLst>
          </p:cNvPr>
          <p:cNvSpPr/>
          <p:nvPr/>
        </p:nvSpPr>
        <p:spPr>
          <a:xfrm>
            <a:off x="-2838950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5" name="!!ControllerIcon" descr="Gamecontroller mit einfarbiger Füllung">
            <a:extLst>
              <a:ext uri="{FF2B5EF4-FFF2-40B4-BE49-F238E27FC236}">
                <a16:creationId xmlns:a16="http://schemas.microsoft.com/office/drawing/2014/main" id="{443476D9-FE3F-E86F-A96D-16BFA252719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-28293349" y="3074797"/>
            <a:ext cx="722085" cy="722085"/>
          </a:xfrm>
          <a:prstGeom prst="rect">
            <a:avLst/>
          </a:prstGeom>
        </p:spPr>
      </p:pic>
      <p:sp>
        <p:nvSpPr>
          <p:cNvPr id="66" name="!!Controller">
            <a:extLst>
              <a:ext uri="{FF2B5EF4-FFF2-40B4-BE49-F238E27FC236}">
                <a16:creationId xmlns:a16="http://schemas.microsoft.com/office/drawing/2014/main" id="{4B2CBA49-237A-B11E-657C-733C082A5420}"/>
              </a:ext>
            </a:extLst>
          </p:cNvPr>
          <p:cNvSpPr txBox="1"/>
          <p:nvPr/>
        </p:nvSpPr>
        <p:spPr>
          <a:xfrm>
            <a:off x="-2861085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67" name="!!2">
            <a:extLst>
              <a:ext uri="{FF2B5EF4-FFF2-40B4-BE49-F238E27FC236}">
                <a16:creationId xmlns:a16="http://schemas.microsoft.com/office/drawing/2014/main" id="{67CA5DF0-439F-4D54-5B52-534B4CA9EBFF}"/>
              </a:ext>
            </a:extLst>
          </p:cNvPr>
          <p:cNvSpPr/>
          <p:nvPr/>
        </p:nvSpPr>
        <p:spPr>
          <a:xfrm>
            <a:off x="-25133379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8" name="!!MapperRect">
            <a:extLst>
              <a:ext uri="{FF2B5EF4-FFF2-40B4-BE49-F238E27FC236}">
                <a16:creationId xmlns:a16="http://schemas.microsoft.com/office/drawing/2014/main" id="{17EBA1FE-51BE-FB54-7646-77B000C97A32}"/>
              </a:ext>
            </a:extLst>
          </p:cNvPr>
          <p:cNvSpPr/>
          <p:nvPr/>
        </p:nvSpPr>
        <p:spPr>
          <a:xfrm>
            <a:off x="-21882982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9" name="!!MapperIcon" descr="Übertragen Silhouette">
            <a:extLst>
              <a:ext uri="{FF2B5EF4-FFF2-40B4-BE49-F238E27FC236}">
                <a16:creationId xmlns:a16="http://schemas.microsoft.com/office/drawing/2014/main" id="{55068E04-FBA8-8E4C-41A7-EAC0AEB9748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-21786825" y="3074797"/>
            <a:ext cx="722085" cy="722085"/>
          </a:xfrm>
          <a:prstGeom prst="rect">
            <a:avLst/>
          </a:prstGeom>
        </p:spPr>
      </p:pic>
      <p:sp>
        <p:nvSpPr>
          <p:cNvPr id="70" name="!!Mapper">
            <a:extLst>
              <a:ext uri="{FF2B5EF4-FFF2-40B4-BE49-F238E27FC236}">
                <a16:creationId xmlns:a16="http://schemas.microsoft.com/office/drawing/2014/main" id="{51B5EAD9-A043-98C4-4055-423FA200C2EA}"/>
              </a:ext>
            </a:extLst>
          </p:cNvPr>
          <p:cNvSpPr txBox="1"/>
          <p:nvPr/>
        </p:nvSpPr>
        <p:spPr>
          <a:xfrm>
            <a:off x="-22104327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71" name="!!3">
            <a:extLst>
              <a:ext uri="{FF2B5EF4-FFF2-40B4-BE49-F238E27FC236}">
                <a16:creationId xmlns:a16="http://schemas.microsoft.com/office/drawing/2014/main" id="{029C0B86-7FC1-7B80-D79F-D49E8605B953}"/>
              </a:ext>
            </a:extLst>
          </p:cNvPr>
          <p:cNvSpPr/>
          <p:nvPr/>
        </p:nvSpPr>
        <p:spPr>
          <a:xfrm>
            <a:off x="-18491374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2" name="!!ServiceRect">
            <a:extLst>
              <a:ext uri="{FF2B5EF4-FFF2-40B4-BE49-F238E27FC236}">
                <a16:creationId xmlns:a16="http://schemas.microsoft.com/office/drawing/2014/main" id="{95E261D0-707A-D858-59B8-B7990E28BA24}"/>
              </a:ext>
            </a:extLst>
          </p:cNvPr>
          <p:cNvSpPr/>
          <p:nvPr/>
        </p:nvSpPr>
        <p:spPr>
          <a:xfrm>
            <a:off x="-1537645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3" name="!!ServiceIcon" descr="Kellner mit einfarbiger Füllung">
            <a:extLst>
              <a:ext uri="{FF2B5EF4-FFF2-40B4-BE49-F238E27FC236}">
                <a16:creationId xmlns:a16="http://schemas.microsoft.com/office/drawing/2014/main" id="{AA80BE2B-EAC1-1F07-6C2C-D94DE019E2E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-15280301" y="3074797"/>
            <a:ext cx="722085" cy="722085"/>
          </a:xfrm>
          <a:prstGeom prst="rect">
            <a:avLst/>
          </a:prstGeom>
        </p:spPr>
      </p:pic>
      <p:sp>
        <p:nvSpPr>
          <p:cNvPr id="74" name="!!Service">
            <a:extLst>
              <a:ext uri="{FF2B5EF4-FFF2-40B4-BE49-F238E27FC236}">
                <a16:creationId xmlns:a16="http://schemas.microsoft.com/office/drawing/2014/main" id="{E6664E28-4D6F-E036-8BFA-30A0596F05CE}"/>
              </a:ext>
            </a:extLst>
          </p:cNvPr>
          <p:cNvSpPr txBox="1"/>
          <p:nvPr/>
        </p:nvSpPr>
        <p:spPr>
          <a:xfrm>
            <a:off x="-1559780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75" name="!!4">
            <a:extLst>
              <a:ext uri="{FF2B5EF4-FFF2-40B4-BE49-F238E27FC236}">
                <a16:creationId xmlns:a16="http://schemas.microsoft.com/office/drawing/2014/main" id="{3A0F924F-C17D-6B88-5DC6-95C0F99A5B11}"/>
              </a:ext>
            </a:extLst>
          </p:cNvPr>
          <p:cNvSpPr/>
          <p:nvPr/>
        </p:nvSpPr>
        <p:spPr>
          <a:xfrm>
            <a:off x="-1197648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!!RepoRect">
            <a:extLst>
              <a:ext uri="{FF2B5EF4-FFF2-40B4-BE49-F238E27FC236}">
                <a16:creationId xmlns:a16="http://schemas.microsoft.com/office/drawing/2014/main" id="{9642BC69-8132-7137-D5C5-555F54C806D6}"/>
              </a:ext>
            </a:extLst>
          </p:cNvPr>
          <p:cNvSpPr/>
          <p:nvPr/>
        </p:nvSpPr>
        <p:spPr>
          <a:xfrm>
            <a:off x="-9064095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7" name="!!RepoIcon" descr="Geöffneter Ordner mit einfarbiger Füllung">
            <a:extLst>
              <a:ext uri="{FF2B5EF4-FFF2-40B4-BE49-F238E27FC236}">
                <a16:creationId xmlns:a16="http://schemas.microsoft.com/office/drawing/2014/main" id="{2D299776-9BDF-859A-316E-EB3E7A4D3E9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-8967938" y="3074797"/>
            <a:ext cx="722085" cy="722085"/>
          </a:xfrm>
          <a:prstGeom prst="rect">
            <a:avLst/>
          </a:prstGeom>
        </p:spPr>
      </p:pic>
      <p:sp>
        <p:nvSpPr>
          <p:cNvPr id="78" name="!!Repo">
            <a:extLst>
              <a:ext uri="{FF2B5EF4-FFF2-40B4-BE49-F238E27FC236}">
                <a16:creationId xmlns:a16="http://schemas.microsoft.com/office/drawing/2014/main" id="{5639E588-6C93-AFD9-452C-7EC4F8FD0B9D}"/>
              </a:ext>
            </a:extLst>
          </p:cNvPr>
          <p:cNvSpPr txBox="1"/>
          <p:nvPr/>
        </p:nvSpPr>
        <p:spPr>
          <a:xfrm>
            <a:off x="-9285440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79" name="!!5">
            <a:extLst>
              <a:ext uri="{FF2B5EF4-FFF2-40B4-BE49-F238E27FC236}">
                <a16:creationId xmlns:a16="http://schemas.microsoft.com/office/drawing/2014/main" id="{3674F93A-07F5-325E-025C-88F16787519D}"/>
              </a:ext>
            </a:extLst>
          </p:cNvPr>
          <p:cNvSpPr/>
          <p:nvPr/>
        </p:nvSpPr>
        <p:spPr>
          <a:xfrm>
            <a:off x="-545062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0" name="!!DBRect">
            <a:extLst>
              <a:ext uri="{FF2B5EF4-FFF2-40B4-BE49-F238E27FC236}">
                <a16:creationId xmlns:a16="http://schemas.microsoft.com/office/drawing/2014/main" id="{6BA45B98-751A-1868-6254-3018757ADBEB}"/>
              </a:ext>
            </a:extLst>
          </p:cNvPr>
          <p:cNvSpPr/>
          <p:nvPr/>
        </p:nvSpPr>
        <p:spPr>
          <a:xfrm>
            <a:off x="-2176327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1" name="!!DBIcon" descr="Datenbank mit einfarbiger Füllung">
            <a:extLst>
              <a:ext uri="{FF2B5EF4-FFF2-40B4-BE49-F238E27FC236}">
                <a16:creationId xmlns:a16="http://schemas.microsoft.com/office/drawing/2014/main" id="{10DF080F-8FE0-E27D-B83F-33C2D99BD9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-2080170" y="3074797"/>
            <a:ext cx="722085" cy="722085"/>
          </a:xfrm>
          <a:prstGeom prst="rect">
            <a:avLst/>
          </a:prstGeom>
        </p:spPr>
      </p:pic>
      <p:sp>
        <p:nvSpPr>
          <p:cNvPr id="82" name="!!DB">
            <a:extLst>
              <a:ext uri="{FF2B5EF4-FFF2-40B4-BE49-F238E27FC236}">
                <a16:creationId xmlns:a16="http://schemas.microsoft.com/office/drawing/2014/main" id="{8A61F1AA-63E8-5A4F-207D-AD97D31F04B3}"/>
              </a:ext>
            </a:extLst>
          </p:cNvPr>
          <p:cNvSpPr txBox="1"/>
          <p:nvPr/>
        </p:nvSpPr>
        <p:spPr>
          <a:xfrm>
            <a:off x="-2397672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1116946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5934-B1AD-AFA4-6EEA-3FFF8DF8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BF304A90-101B-5FD6-1759-67DEB7419621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8521742-B4EE-E021-11DE-7F3674B04D5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BB42FE26-5E9E-9F27-7B7D-F31356690222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9" name="!!Rect2">
            <a:extLst>
              <a:ext uri="{FF2B5EF4-FFF2-40B4-BE49-F238E27FC236}">
                <a16:creationId xmlns:a16="http://schemas.microsoft.com/office/drawing/2014/main" id="{D44E929C-AD81-BA0F-430F-08E57F150C67}"/>
              </a:ext>
            </a:extLst>
          </p:cNvPr>
          <p:cNvSpPr/>
          <p:nvPr/>
        </p:nvSpPr>
        <p:spPr>
          <a:xfrm>
            <a:off x="6781800" y="4938377"/>
            <a:ext cx="2305051" cy="2108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D6C2C6A-DF48-1651-2079-6266871A1CA4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AB1ED65-14F5-5AB8-0463-9702D1E791F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C846A58-4106-A644-71B8-64903212811C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B5FC27EA-EB39-93FE-6C4A-71D93BEAF1B6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544CD3F7-1DEB-95EC-764B-8DEB8345B599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8415E83-999F-532F-F444-4008B45B1A2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946D0179-6630-4600-E185-2CC8721E86B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89B45B7F-85D9-21AD-DF33-E1C473EECA3C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4107BCA-6098-EFA2-29E8-95B262A4EEDD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97F09102-8C4D-0885-648D-EEAC9430F057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!!FrontendRect">
            <a:extLst>
              <a:ext uri="{FF2B5EF4-FFF2-40B4-BE49-F238E27FC236}">
                <a16:creationId xmlns:a16="http://schemas.microsoft.com/office/drawing/2014/main" id="{0F0CFB7E-2E9A-9B98-5C79-C4351F062AA0}"/>
              </a:ext>
            </a:extLst>
          </p:cNvPr>
          <p:cNvSpPr/>
          <p:nvPr/>
        </p:nvSpPr>
        <p:spPr>
          <a:xfrm>
            <a:off x="1274072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!!FrontendIcon" descr="Atom mit einfarbiger Füllung">
            <a:extLst>
              <a:ext uri="{FF2B5EF4-FFF2-40B4-BE49-F238E27FC236}">
                <a16:creationId xmlns:a16="http://schemas.microsoft.com/office/drawing/2014/main" id="{1438F89E-4FD3-2D47-B680-E3E6DF8F8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0229" y="3074797"/>
            <a:ext cx="722085" cy="722085"/>
          </a:xfrm>
          <a:prstGeom prst="rect">
            <a:avLst/>
          </a:prstGeom>
        </p:spPr>
      </p:pic>
      <p:sp>
        <p:nvSpPr>
          <p:cNvPr id="30" name="!!Frontend">
            <a:extLst>
              <a:ext uri="{FF2B5EF4-FFF2-40B4-BE49-F238E27FC236}">
                <a16:creationId xmlns:a16="http://schemas.microsoft.com/office/drawing/2014/main" id="{6EA83F28-1D01-8933-80BD-E4431B66FB0B}"/>
              </a:ext>
            </a:extLst>
          </p:cNvPr>
          <p:cNvSpPr txBox="1"/>
          <p:nvPr/>
        </p:nvSpPr>
        <p:spPr>
          <a:xfrm>
            <a:off x="1052727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228" name="!!1">
            <a:extLst>
              <a:ext uri="{FF2B5EF4-FFF2-40B4-BE49-F238E27FC236}">
                <a16:creationId xmlns:a16="http://schemas.microsoft.com/office/drawing/2014/main" id="{CFD0A748-0429-73C4-05AD-F7F1FAD9F564}"/>
              </a:ext>
            </a:extLst>
          </p:cNvPr>
          <p:cNvSpPr/>
          <p:nvPr/>
        </p:nvSpPr>
        <p:spPr>
          <a:xfrm>
            <a:off x="2284629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C8F49B62-1AD6-1B7A-2CBB-2B879290717D}"/>
              </a:ext>
            </a:extLst>
          </p:cNvPr>
          <p:cNvGrpSpPr/>
          <p:nvPr/>
        </p:nvGrpSpPr>
        <p:grpSpPr>
          <a:xfrm>
            <a:off x="-4713080" y="2110267"/>
            <a:ext cx="4549025" cy="3075997"/>
            <a:chOff x="908318" y="2110267"/>
            <a:chExt cx="4549025" cy="3075997"/>
          </a:xfrm>
        </p:grpSpPr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00537956-A873-5627-BC82-269A200DFC5D}"/>
                </a:ext>
              </a:extLst>
            </p:cNvPr>
            <p:cNvSpPr/>
            <p:nvPr/>
          </p:nvSpPr>
          <p:spPr>
            <a:xfrm>
              <a:off x="908318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9" name="Grafik 58" descr="Ein Bild, das Text, Screenshot, Zahl, Schrift enthält.">
              <a:extLst>
                <a:ext uri="{FF2B5EF4-FFF2-40B4-BE49-F238E27FC236}">
                  <a16:creationId xmlns:a16="http://schemas.microsoft.com/office/drawing/2014/main" id="{246B95AC-8C6E-4DF0-7AA1-9D75FC839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499"/>
            <a:stretch>
              <a:fillRect/>
            </a:stretch>
          </p:blipFill>
          <p:spPr>
            <a:xfrm>
              <a:off x="1005268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82" name="!!ControllerRect">
            <a:extLst>
              <a:ext uri="{FF2B5EF4-FFF2-40B4-BE49-F238E27FC236}">
                <a16:creationId xmlns:a16="http://schemas.microsoft.com/office/drawing/2014/main" id="{831D6792-38BA-2F3A-1620-32CD4B96CF99}"/>
              </a:ext>
            </a:extLst>
          </p:cNvPr>
          <p:cNvSpPr/>
          <p:nvPr/>
        </p:nvSpPr>
        <p:spPr>
          <a:xfrm>
            <a:off x="296046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3" name="!!ControllerIcon" descr="Gamecontroller mit einfarbiger Füllung">
            <a:extLst>
              <a:ext uri="{FF2B5EF4-FFF2-40B4-BE49-F238E27FC236}">
                <a16:creationId xmlns:a16="http://schemas.microsoft.com/office/drawing/2014/main" id="{E844E08B-042A-88AE-8483-FB08FDFDE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056623" y="3074797"/>
            <a:ext cx="722085" cy="722085"/>
          </a:xfrm>
          <a:prstGeom prst="rect">
            <a:avLst/>
          </a:prstGeom>
        </p:spPr>
      </p:pic>
      <p:sp>
        <p:nvSpPr>
          <p:cNvPr id="84" name="!!Controller">
            <a:extLst>
              <a:ext uri="{FF2B5EF4-FFF2-40B4-BE49-F238E27FC236}">
                <a16:creationId xmlns:a16="http://schemas.microsoft.com/office/drawing/2014/main" id="{2A318510-9952-9FC3-D161-1A27F9625629}"/>
              </a:ext>
            </a:extLst>
          </p:cNvPr>
          <p:cNvSpPr txBox="1"/>
          <p:nvPr/>
        </p:nvSpPr>
        <p:spPr>
          <a:xfrm>
            <a:off x="273912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85" name="!!2">
            <a:extLst>
              <a:ext uri="{FF2B5EF4-FFF2-40B4-BE49-F238E27FC236}">
                <a16:creationId xmlns:a16="http://schemas.microsoft.com/office/drawing/2014/main" id="{7106C064-823C-F22D-FD1B-118D732AF566}"/>
              </a:ext>
            </a:extLst>
          </p:cNvPr>
          <p:cNvSpPr/>
          <p:nvPr/>
        </p:nvSpPr>
        <p:spPr>
          <a:xfrm>
            <a:off x="397102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8" name="!!MapperRect">
            <a:extLst>
              <a:ext uri="{FF2B5EF4-FFF2-40B4-BE49-F238E27FC236}">
                <a16:creationId xmlns:a16="http://schemas.microsoft.com/office/drawing/2014/main" id="{FCD4E003-B73D-CDC3-1FF1-B4C724299DDF}"/>
              </a:ext>
            </a:extLst>
          </p:cNvPr>
          <p:cNvSpPr/>
          <p:nvPr/>
        </p:nvSpPr>
        <p:spPr>
          <a:xfrm>
            <a:off x="466589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9" name="!!MapperIcon" descr="Übertragen Silhouette">
            <a:extLst>
              <a:ext uri="{FF2B5EF4-FFF2-40B4-BE49-F238E27FC236}">
                <a16:creationId xmlns:a16="http://schemas.microsoft.com/office/drawing/2014/main" id="{8F051E6C-DE7E-594E-5012-8A1834D54D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62053" y="3074797"/>
            <a:ext cx="722085" cy="722085"/>
          </a:xfrm>
          <a:prstGeom prst="rect">
            <a:avLst/>
          </a:prstGeom>
        </p:spPr>
      </p:pic>
      <p:sp>
        <p:nvSpPr>
          <p:cNvPr id="90" name="!!Mapper">
            <a:extLst>
              <a:ext uri="{FF2B5EF4-FFF2-40B4-BE49-F238E27FC236}">
                <a16:creationId xmlns:a16="http://schemas.microsoft.com/office/drawing/2014/main" id="{11B7CFF2-3611-EAA9-9BF0-3B8DD91372DD}"/>
              </a:ext>
            </a:extLst>
          </p:cNvPr>
          <p:cNvSpPr txBox="1"/>
          <p:nvPr/>
        </p:nvSpPr>
        <p:spPr>
          <a:xfrm>
            <a:off x="444455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91" name="!!3">
            <a:extLst>
              <a:ext uri="{FF2B5EF4-FFF2-40B4-BE49-F238E27FC236}">
                <a16:creationId xmlns:a16="http://schemas.microsoft.com/office/drawing/2014/main" id="{BEED695E-F88C-DB9E-32FF-68D329C8F5C9}"/>
              </a:ext>
            </a:extLst>
          </p:cNvPr>
          <p:cNvSpPr/>
          <p:nvPr/>
        </p:nvSpPr>
        <p:spPr>
          <a:xfrm>
            <a:off x="567645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2" name="!!ServiceRect">
            <a:extLst>
              <a:ext uri="{FF2B5EF4-FFF2-40B4-BE49-F238E27FC236}">
                <a16:creationId xmlns:a16="http://schemas.microsoft.com/office/drawing/2014/main" id="{99E406F7-A96C-3865-A2CA-E27F16221E68}"/>
              </a:ext>
            </a:extLst>
          </p:cNvPr>
          <p:cNvSpPr/>
          <p:nvPr/>
        </p:nvSpPr>
        <p:spPr>
          <a:xfrm>
            <a:off x="637132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3" name="!!ServiceIcon" descr="Kellner mit einfarbiger Füllung">
            <a:extLst>
              <a:ext uri="{FF2B5EF4-FFF2-40B4-BE49-F238E27FC236}">
                <a16:creationId xmlns:a16="http://schemas.microsoft.com/office/drawing/2014/main" id="{EBE2CD90-D17B-666F-2E65-C1E3C985E1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467483" y="3074797"/>
            <a:ext cx="722085" cy="722085"/>
          </a:xfrm>
          <a:prstGeom prst="rect">
            <a:avLst/>
          </a:prstGeom>
        </p:spPr>
      </p:pic>
      <p:sp>
        <p:nvSpPr>
          <p:cNvPr id="94" name="!!Service">
            <a:extLst>
              <a:ext uri="{FF2B5EF4-FFF2-40B4-BE49-F238E27FC236}">
                <a16:creationId xmlns:a16="http://schemas.microsoft.com/office/drawing/2014/main" id="{0280EB27-297E-6053-623B-55A55F1EB173}"/>
              </a:ext>
            </a:extLst>
          </p:cNvPr>
          <p:cNvSpPr txBox="1"/>
          <p:nvPr/>
        </p:nvSpPr>
        <p:spPr>
          <a:xfrm>
            <a:off x="614998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95" name="!!4">
            <a:extLst>
              <a:ext uri="{FF2B5EF4-FFF2-40B4-BE49-F238E27FC236}">
                <a16:creationId xmlns:a16="http://schemas.microsoft.com/office/drawing/2014/main" id="{B1D89EE5-3D86-5ED2-C45E-BDB8DAC84236}"/>
              </a:ext>
            </a:extLst>
          </p:cNvPr>
          <p:cNvSpPr/>
          <p:nvPr/>
        </p:nvSpPr>
        <p:spPr>
          <a:xfrm>
            <a:off x="738188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6" name="!!RepoRect">
            <a:extLst>
              <a:ext uri="{FF2B5EF4-FFF2-40B4-BE49-F238E27FC236}">
                <a16:creationId xmlns:a16="http://schemas.microsoft.com/office/drawing/2014/main" id="{29D3F1F1-5353-D379-8687-39C968B80B98}"/>
              </a:ext>
            </a:extLst>
          </p:cNvPr>
          <p:cNvSpPr/>
          <p:nvPr/>
        </p:nvSpPr>
        <p:spPr>
          <a:xfrm>
            <a:off x="807675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7" name="!!RepoIcon" descr="Geöffneter Ordner mit einfarbiger Füllung">
            <a:extLst>
              <a:ext uri="{FF2B5EF4-FFF2-40B4-BE49-F238E27FC236}">
                <a16:creationId xmlns:a16="http://schemas.microsoft.com/office/drawing/2014/main" id="{D3D6150E-1BEF-1F40-5EAF-739E5C46F4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172913" y="3074797"/>
            <a:ext cx="722085" cy="722085"/>
          </a:xfrm>
          <a:prstGeom prst="rect">
            <a:avLst/>
          </a:prstGeom>
        </p:spPr>
      </p:pic>
      <p:sp>
        <p:nvSpPr>
          <p:cNvPr id="258" name="!!Repo">
            <a:extLst>
              <a:ext uri="{FF2B5EF4-FFF2-40B4-BE49-F238E27FC236}">
                <a16:creationId xmlns:a16="http://schemas.microsoft.com/office/drawing/2014/main" id="{3585B8B9-09C5-8494-F051-8563ECCB787C}"/>
              </a:ext>
            </a:extLst>
          </p:cNvPr>
          <p:cNvSpPr txBox="1"/>
          <p:nvPr/>
        </p:nvSpPr>
        <p:spPr>
          <a:xfrm>
            <a:off x="785541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59" name="!!5">
            <a:extLst>
              <a:ext uri="{FF2B5EF4-FFF2-40B4-BE49-F238E27FC236}">
                <a16:creationId xmlns:a16="http://schemas.microsoft.com/office/drawing/2014/main" id="{426CE552-C165-C967-3AE9-1CE6E9ABAEBB}"/>
              </a:ext>
            </a:extLst>
          </p:cNvPr>
          <p:cNvSpPr/>
          <p:nvPr/>
        </p:nvSpPr>
        <p:spPr>
          <a:xfrm>
            <a:off x="908731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0" name="!!DBRect">
            <a:extLst>
              <a:ext uri="{FF2B5EF4-FFF2-40B4-BE49-F238E27FC236}">
                <a16:creationId xmlns:a16="http://schemas.microsoft.com/office/drawing/2014/main" id="{58D5FABD-88B0-4EE7-FA73-8B130077E3DA}"/>
              </a:ext>
            </a:extLst>
          </p:cNvPr>
          <p:cNvSpPr/>
          <p:nvPr/>
        </p:nvSpPr>
        <p:spPr>
          <a:xfrm>
            <a:off x="978218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1" name="!!DBIcon" descr="Datenbank mit einfarbiger Füllung">
            <a:extLst>
              <a:ext uri="{FF2B5EF4-FFF2-40B4-BE49-F238E27FC236}">
                <a16:creationId xmlns:a16="http://schemas.microsoft.com/office/drawing/2014/main" id="{722A5365-3D8B-F92B-BEC1-5A2C2A760B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9878343" y="3074797"/>
            <a:ext cx="722085" cy="722085"/>
          </a:xfrm>
          <a:prstGeom prst="rect">
            <a:avLst/>
          </a:prstGeom>
        </p:spPr>
      </p:pic>
      <p:sp>
        <p:nvSpPr>
          <p:cNvPr id="262" name="!!DB">
            <a:extLst>
              <a:ext uri="{FF2B5EF4-FFF2-40B4-BE49-F238E27FC236}">
                <a16:creationId xmlns:a16="http://schemas.microsoft.com/office/drawing/2014/main" id="{6A2C370E-0159-7E90-44B4-7834DEC28984}"/>
              </a:ext>
            </a:extLst>
          </p:cNvPr>
          <p:cNvSpPr txBox="1"/>
          <p:nvPr/>
        </p:nvSpPr>
        <p:spPr>
          <a:xfrm>
            <a:off x="956084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250318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890B-A080-5EFA-F726-B2A64F78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!!1">
            <a:extLst>
              <a:ext uri="{FF2B5EF4-FFF2-40B4-BE49-F238E27FC236}">
                <a16:creationId xmlns:a16="http://schemas.microsoft.com/office/drawing/2014/main" id="{CA887E09-8B98-19A9-23E8-C32500D372E2}"/>
              </a:ext>
            </a:extLst>
          </p:cNvPr>
          <p:cNvSpPr/>
          <p:nvPr/>
        </p:nvSpPr>
        <p:spPr>
          <a:xfrm>
            <a:off x="908685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!!FrontendRect">
            <a:extLst>
              <a:ext uri="{FF2B5EF4-FFF2-40B4-BE49-F238E27FC236}">
                <a16:creationId xmlns:a16="http://schemas.microsoft.com/office/drawing/2014/main" id="{98FB8989-7DD5-4353-D4A5-2ECC68AB14F0}"/>
              </a:ext>
            </a:extLst>
          </p:cNvPr>
          <p:cNvSpPr/>
          <p:nvPr/>
        </p:nvSpPr>
        <p:spPr>
          <a:xfrm>
            <a:off x="6068784" y="1631312"/>
            <a:ext cx="3192239" cy="3278491"/>
          </a:xfrm>
          <a:prstGeom prst="roundRect">
            <a:avLst>
              <a:gd name="adj" fmla="val 5130"/>
            </a:avLst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!!FrontendIcon" descr="Atom mit einfarbiger Füllung">
            <a:extLst>
              <a:ext uri="{FF2B5EF4-FFF2-40B4-BE49-F238E27FC236}">
                <a16:creationId xmlns:a16="http://schemas.microsoft.com/office/drawing/2014/main" id="{DF0D34FC-C162-E905-D1A6-435B0DDF0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7726" y="3412980"/>
            <a:ext cx="45720" cy="4572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30E280C-A8E7-DC3F-4235-293C6EF1F700}"/>
              </a:ext>
            </a:extLst>
          </p:cNvPr>
          <p:cNvGrpSpPr/>
          <p:nvPr/>
        </p:nvGrpSpPr>
        <p:grpSpPr>
          <a:xfrm>
            <a:off x="2182856" y="2110267"/>
            <a:ext cx="4549025" cy="3075997"/>
            <a:chOff x="908318" y="2110267"/>
            <a:chExt cx="4549025" cy="3075997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EB467382-CB78-7FFB-9962-9C37EEDB239C}"/>
                </a:ext>
              </a:extLst>
            </p:cNvPr>
            <p:cNvSpPr/>
            <p:nvPr/>
          </p:nvSpPr>
          <p:spPr>
            <a:xfrm>
              <a:off x="908318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 descr="Ein Bild, das Text, Screenshot, Zahl, Schrift enthält.">
              <a:extLst>
                <a:ext uri="{FF2B5EF4-FFF2-40B4-BE49-F238E27FC236}">
                  <a16:creationId xmlns:a16="http://schemas.microsoft.com/office/drawing/2014/main" id="{01420815-E6BF-3148-FA6D-D139D50F2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499"/>
            <a:stretch>
              <a:fillRect/>
            </a:stretch>
          </p:blipFill>
          <p:spPr>
            <a:xfrm>
              <a:off x="1005268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0EF7CEE4-DE6B-E543-FB13-941D0EFA93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06"/>
          <a:stretch>
            <a:fillRect/>
          </a:stretch>
        </p:blipFill>
        <p:spPr>
          <a:xfrm>
            <a:off x="2279806" y="2204787"/>
            <a:ext cx="4348662" cy="2873505"/>
          </a:xfrm>
          <a:prstGeom prst="roundRect">
            <a:avLst>
              <a:gd name="adj" fmla="val 2082"/>
            </a:avLst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66523A76-679B-1D3F-A9EA-F7FD9E469D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" r="24786" b="-353"/>
          <a:stretch>
            <a:fillRect/>
          </a:stretch>
        </p:blipFill>
        <p:spPr>
          <a:xfrm>
            <a:off x="2279806" y="2211512"/>
            <a:ext cx="4348662" cy="2873505"/>
          </a:xfrm>
          <a:prstGeom prst="roundRect">
            <a:avLst>
              <a:gd name="adj" fmla="val 2082"/>
            </a:avLst>
          </a:prstGeom>
        </p:spPr>
      </p:pic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9408536-9C42-62F0-E3DB-356C0197A970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CB8F5F0-1119-FC19-588B-338A758833B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9A6689D-86C0-7CE9-B91B-C33C2381D626}"/>
              </a:ext>
            </a:extLst>
          </p:cNvPr>
          <p:cNvGrpSpPr/>
          <p:nvPr/>
        </p:nvGrpSpPr>
        <p:grpSpPr>
          <a:xfrm>
            <a:off x="6993157" y="4980368"/>
            <a:ext cx="1801890" cy="2179410"/>
            <a:chOff x="6993157" y="4980368"/>
            <a:chExt cx="1801890" cy="2179410"/>
          </a:xfrm>
        </p:grpSpPr>
        <p:pic>
          <p:nvPicPr>
            <p:cNvPr id="5" name="ME">
              <a:extLst>
                <a:ext uri="{FF2B5EF4-FFF2-40B4-BE49-F238E27FC236}">
                  <a16:creationId xmlns:a16="http://schemas.microsoft.com/office/drawing/2014/main" id="{54E9F58C-FECC-ACBE-4214-738A0CA83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3" name="Grafik 12" descr="Nach rechts zeigender Finger, Handrücken mit einfarbiger Füllung">
              <a:extLst>
                <a:ext uri="{FF2B5EF4-FFF2-40B4-BE49-F238E27FC236}">
                  <a16:creationId xmlns:a16="http://schemas.microsoft.com/office/drawing/2014/main" id="{EE3D2B3E-D7F6-3D60-FA86-83FE49655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DBD4D78-802A-1A95-D066-AAB3F0E48572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!!Rect2">
            <a:extLst>
              <a:ext uri="{FF2B5EF4-FFF2-40B4-BE49-F238E27FC236}">
                <a16:creationId xmlns:a16="http://schemas.microsoft.com/office/drawing/2014/main" id="{E64E640A-22A8-E093-02C5-DBA57584EF8F}"/>
              </a:ext>
            </a:extLst>
          </p:cNvPr>
          <p:cNvSpPr/>
          <p:nvPr/>
        </p:nvSpPr>
        <p:spPr>
          <a:xfrm>
            <a:off x="6781800" y="4938377"/>
            <a:ext cx="2305051" cy="2108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82C4BF30-86A9-E5D4-2DAB-7378F75C2A0D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68BF73F7-2562-CBCE-F80E-A1B70383F30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166CF0BB-842D-FC7C-5F1C-1CB04FAD8D65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DC67A3A-3EF4-B653-C420-32C061A675BD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47C10C52-834D-A592-A064-585F0B28DA51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21A4690-12C4-41C3-28CD-1A1842123A1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62C5705-2C80-6D39-4714-023E2489098B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EB700E62-7F32-4128-3FFC-132F04E15808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03DDE82-62B4-61BC-E6D1-EF45EEFB8CEB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4B7DB475-14CB-A713-7579-2DE283886CDA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!!Frontend">
            <a:extLst>
              <a:ext uri="{FF2B5EF4-FFF2-40B4-BE49-F238E27FC236}">
                <a16:creationId xmlns:a16="http://schemas.microsoft.com/office/drawing/2014/main" id="{749AC5BA-D640-933E-BED7-9E6B7563174E}"/>
              </a:ext>
            </a:extLst>
          </p:cNvPr>
          <p:cNvSpPr txBox="1"/>
          <p:nvPr/>
        </p:nvSpPr>
        <p:spPr>
          <a:xfrm>
            <a:off x="6519863" y="1787102"/>
            <a:ext cx="2423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231" name="!!ControllerRect">
            <a:extLst>
              <a:ext uri="{FF2B5EF4-FFF2-40B4-BE49-F238E27FC236}">
                <a16:creationId xmlns:a16="http://schemas.microsoft.com/office/drawing/2014/main" id="{5386244A-7E6D-064C-E326-27E281C8DFAC}"/>
              </a:ext>
            </a:extLst>
          </p:cNvPr>
          <p:cNvSpPr/>
          <p:nvPr/>
        </p:nvSpPr>
        <p:spPr>
          <a:xfrm>
            <a:off x="9781724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3" name="!!ControllerIcon" descr="Gamecontroller mit einfarbiger Füllung">
            <a:extLst>
              <a:ext uri="{FF2B5EF4-FFF2-40B4-BE49-F238E27FC236}">
                <a16:creationId xmlns:a16="http://schemas.microsoft.com/office/drawing/2014/main" id="{C4D437E8-2089-E83B-B066-7CF2747148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877881" y="3074797"/>
            <a:ext cx="722085" cy="722085"/>
          </a:xfrm>
          <a:prstGeom prst="rect">
            <a:avLst/>
          </a:prstGeom>
        </p:spPr>
      </p:pic>
      <p:sp>
        <p:nvSpPr>
          <p:cNvPr id="235" name="!!Controller">
            <a:extLst>
              <a:ext uri="{FF2B5EF4-FFF2-40B4-BE49-F238E27FC236}">
                <a16:creationId xmlns:a16="http://schemas.microsoft.com/office/drawing/2014/main" id="{20435146-20B2-B470-31F9-D4017C59D075}"/>
              </a:ext>
            </a:extLst>
          </p:cNvPr>
          <p:cNvSpPr txBox="1"/>
          <p:nvPr/>
        </p:nvSpPr>
        <p:spPr>
          <a:xfrm>
            <a:off x="9560379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236" name="!!2">
            <a:extLst>
              <a:ext uri="{FF2B5EF4-FFF2-40B4-BE49-F238E27FC236}">
                <a16:creationId xmlns:a16="http://schemas.microsoft.com/office/drawing/2014/main" id="{14DB691F-BAF3-0207-9340-ADA49B1EDDBE}"/>
              </a:ext>
            </a:extLst>
          </p:cNvPr>
          <p:cNvSpPr/>
          <p:nvPr/>
        </p:nvSpPr>
        <p:spPr>
          <a:xfrm>
            <a:off x="1079228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9" name="!!MapperRect">
            <a:extLst>
              <a:ext uri="{FF2B5EF4-FFF2-40B4-BE49-F238E27FC236}">
                <a16:creationId xmlns:a16="http://schemas.microsoft.com/office/drawing/2014/main" id="{C48F0403-F308-95DE-87FB-24E58829174F}"/>
              </a:ext>
            </a:extLst>
          </p:cNvPr>
          <p:cNvSpPr/>
          <p:nvPr/>
        </p:nvSpPr>
        <p:spPr>
          <a:xfrm>
            <a:off x="11487154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!!MapperIcon" descr="Übertragen Silhouette">
            <a:extLst>
              <a:ext uri="{FF2B5EF4-FFF2-40B4-BE49-F238E27FC236}">
                <a16:creationId xmlns:a16="http://schemas.microsoft.com/office/drawing/2014/main" id="{3DEFA55B-447B-987A-748D-49B056BD16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1583311" y="3074797"/>
            <a:ext cx="722085" cy="722085"/>
          </a:xfrm>
          <a:prstGeom prst="rect">
            <a:avLst/>
          </a:prstGeom>
        </p:spPr>
      </p:pic>
      <p:sp>
        <p:nvSpPr>
          <p:cNvPr id="241" name="!!Mapper">
            <a:extLst>
              <a:ext uri="{FF2B5EF4-FFF2-40B4-BE49-F238E27FC236}">
                <a16:creationId xmlns:a16="http://schemas.microsoft.com/office/drawing/2014/main" id="{23CC7874-A194-77B5-23C9-B4C2ED9AE701}"/>
              </a:ext>
            </a:extLst>
          </p:cNvPr>
          <p:cNvSpPr txBox="1"/>
          <p:nvPr/>
        </p:nvSpPr>
        <p:spPr>
          <a:xfrm>
            <a:off x="11265809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246" name="!!3">
            <a:extLst>
              <a:ext uri="{FF2B5EF4-FFF2-40B4-BE49-F238E27FC236}">
                <a16:creationId xmlns:a16="http://schemas.microsoft.com/office/drawing/2014/main" id="{A6B4F8AB-1592-2C2E-8682-11BB688158EF}"/>
              </a:ext>
            </a:extLst>
          </p:cNvPr>
          <p:cNvSpPr/>
          <p:nvPr/>
        </p:nvSpPr>
        <p:spPr>
          <a:xfrm>
            <a:off x="1249771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2" name="!!ServiceRect">
            <a:extLst>
              <a:ext uri="{FF2B5EF4-FFF2-40B4-BE49-F238E27FC236}">
                <a16:creationId xmlns:a16="http://schemas.microsoft.com/office/drawing/2014/main" id="{B06F6CB5-C180-4575-AF22-0038FA51C9FF}"/>
              </a:ext>
            </a:extLst>
          </p:cNvPr>
          <p:cNvSpPr/>
          <p:nvPr/>
        </p:nvSpPr>
        <p:spPr>
          <a:xfrm>
            <a:off x="13192584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3" name="!!ServiceIcon" descr="Kellner mit einfarbiger Füllung">
            <a:extLst>
              <a:ext uri="{FF2B5EF4-FFF2-40B4-BE49-F238E27FC236}">
                <a16:creationId xmlns:a16="http://schemas.microsoft.com/office/drawing/2014/main" id="{6197A01B-30C4-2D6C-35AF-D98760546DD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3288741" y="3074797"/>
            <a:ext cx="722085" cy="722085"/>
          </a:xfrm>
          <a:prstGeom prst="rect">
            <a:avLst/>
          </a:prstGeom>
        </p:spPr>
      </p:pic>
      <p:sp>
        <p:nvSpPr>
          <p:cNvPr id="44" name="!!Service">
            <a:extLst>
              <a:ext uri="{FF2B5EF4-FFF2-40B4-BE49-F238E27FC236}">
                <a16:creationId xmlns:a16="http://schemas.microsoft.com/office/drawing/2014/main" id="{2F69CCE9-5326-C57E-C0D6-7776711D793C}"/>
              </a:ext>
            </a:extLst>
          </p:cNvPr>
          <p:cNvSpPr txBox="1"/>
          <p:nvPr/>
        </p:nvSpPr>
        <p:spPr>
          <a:xfrm>
            <a:off x="12971239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45" name="!!4">
            <a:extLst>
              <a:ext uri="{FF2B5EF4-FFF2-40B4-BE49-F238E27FC236}">
                <a16:creationId xmlns:a16="http://schemas.microsoft.com/office/drawing/2014/main" id="{AA14EF78-2B4A-83E4-9273-9ADF0A05C78E}"/>
              </a:ext>
            </a:extLst>
          </p:cNvPr>
          <p:cNvSpPr/>
          <p:nvPr/>
        </p:nvSpPr>
        <p:spPr>
          <a:xfrm>
            <a:off x="1420314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!!RepoRect">
            <a:extLst>
              <a:ext uri="{FF2B5EF4-FFF2-40B4-BE49-F238E27FC236}">
                <a16:creationId xmlns:a16="http://schemas.microsoft.com/office/drawing/2014/main" id="{4D731D34-AF7B-FF8B-F5E4-9D1F59980443}"/>
              </a:ext>
            </a:extLst>
          </p:cNvPr>
          <p:cNvSpPr/>
          <p:nvPr/>
        </p:nvSpPr>
        <p:spPr>
          <a:xfrm>
            <a:off x="14898014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8" name="!!RepoIcon" descr="Geöffneter Ordner mit einfarbiger Füllung">
            <a:extLst>
              <a:ext uri="{FF2B5EF4-FFF2-40B4-BE49-F238E27FC236}">
                <a16:creationId xmlns:a16="http://schemas.microsoft.com/office/drawing/2014/main" id="{C43EB95E-5E3D-189F-630F-48DE3824FD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4994171" y="3074797"/>
            <a:ext cx="722085" cy="722085"/>
          </a:xfrm>
          <a:prstGeom prst="rect">
            <a:avLst/>
          </a:prstGeom>
        </p:spPr>
      </p:pic>
      <p:sp>
        <p:nvSpPr>
          <p:cNvPr id="49" name="!!Repo">
            <a:extLst>
              <a:ext uri="{FF2B5EF4-FFF2-40B4-BE49-F238E27FC236}">
                <a16:creationId xmlns:a16="http://schemas.microsoft.com/office/drawing/2014/main" id="{97072E97-37C0-04A5-4A3D-BAA4ADDD9284}"/>
              </a:ext>
            </a:extLst>
          </p:cNvPr>
          <p:cNvSpPr txBox="1"/>
          <p:nvPr/>
        </p:nvSpPr>
        <p:spPr>
          <a:xfrm>
            <a:off x="14676669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51" name="!!5">
            <a:extLst>
              <a:ext uri="{FF2B5EF4-FFF2-40B4-BE49-F238E27FC236}">
                <a16:creationId xmlns:a16="http://schemas.microsoft.com/office/drawing/2014/main" id="{E2090871-20DE-54CB-FC76-7D23CCA559CC}"/>
              </a:ext>
            </a:extLst>
          </p:cNvPr>
          <p:cNvSpPr/>
          <p:nvPr/>
        </p:nvSpPr>
        <p:spPr>
          <a:xfrm>
            <a:off x="1590857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!!DBRect">
            <a:extLst>
              <a:ext uri="{FF2B5EF4-FFF2-40B4-BE49-F238E27FC236}">
                <a16:creationId xmlns:a16="http://schemas.microsoft.com/office/drawing/2014/main" id="{950C2B7F-D025-0BEF-896B-2630B53A2767}"/>
              </a:ext>
            </a:extLst>
          </p:cNvPr>
          <p:cNvSpPr/>
          <p:nvPr/>
        </p:nvSpPr>
        <p:spPr>
          <a:xfrm>
            <a:off x="16603444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4" name="!!DBIcon" descr="Datenbank mit einfarbiger Füllung">
            <a:extLst>
              <a:ext uri="{FF2B5EF4-FFF2-40B4-BE49-F238E27FC236}">
                <a16:creationId xmlns:a16="http://schemas.microsoft.com/office/drawing/2014/main" id="{94B728C4-22BE-2BD1-1EBA-72F5CF7AEDB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6699601" y="3074797"/>
            <a:ext cx="722085" cy="722085"/>
          </a:xfrm>
          <a:prstGeom prst="rect">
            <a:avLst/>
          </a:prstGeom>
        </p:spPr>
      </p:pic>
      <p:sp>
        <p:nvSpPr>
          <p:cNvPr id="55" name="!!DB">
            <a:extLst>
              <a:ext uri="{FF2B5EF4-FFF2-40B4-BE49-F238E27FC236}">
                <a16:creationId xmlns:a16="http://schemas.microsoft.com/office/drawing/2014/main" id="{E6F2669A-8EAA-A57C-8BEA-BE3DDE66ECE3}"/>
              </a:ext>
            </a:extLst>
          </p:cNvPr>
          <p:cNvSpPr txBox="1"/>
          <p:nvPr/>
        </p:nvSpPr>
        <p:spPr>
          <a:xfrm>
            <a:off x="16382099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17" name="!!FrontendText">
            <a:extLst>
              <a:ext uri="{FF2B5EF4-FFF2-40B4-BE49-F238E27FC236}">
                <a16:creationId xmlns:a16="http://schemas.microsoft.com/office/drawing/2014/main" id="{57A8FE4B-A0D5-3023-9BEA-841F14706CB8}"/>
              </a:ext>
            </a:extLst>
          </p:cNvPr>
          <p:cNvSpPr txBox="1"/>
          <p:nvPr/>
        </p:nvSpPr>
        <p:spPr>
          <a:xfrm>
            <a:off x="6828038" y="2552700"/>
            <a:ext cx="22588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Params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Filter  +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Paging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1A7A982-0C0A-291F-9B18-0A5B55B39105}"/>
              </a:ext>
            </a:extLst>
          </p:cNvPr>
          <p:cNvGrpSpPr/>
          <p:nvPr/>
        </p:nvGrpSpPr>
        <p:grpSpPr>
          <a:xfrm>
            <a:off x="-6535170" y="2110267"/>
            <a:ext cx="4549025" cy="3075997"/>
            <a:chOff x="-11422732" y="2110267"/>
            <a:chExt cx="4549025" cy="3075997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7E547BE4-9BBC-3499-9C3F-525B5A5B9CDC}"/>
                </a:ext>
              </a:extLst>
            </p:cNvPr>
            <p:cNvSpPr/>
            <p:nvPr/>
          </p:nvSpPr>
          <p:spPr>
            <a:xfrm>
              <a:off x="-11422732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B02EBB79-FACD-73CD-7FF2-305333AC8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" r="321"/>
            <a:stretch/>
          </p:blipFill>
          <p:spPr>
            <a:xfrm>
              <a:off x="-11325782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57244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4.16667E-6 -0.322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32268 L -0.46498 -0.3631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55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498 -0.36319 L -0.4642 -0.1902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798A3-0F9B-8369-A7DC-1BD3B111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rontendRect">
            <a:extLst>
              <a:ext uri="{FF2B5EF4-FFF2-40B4-BE49-F238E27FC236}">
                <a16:creationId xmlns:a16="http://schemas.microsoft.com/office/drawing/2014/main" id="{1D9F498B-F7C7-7E0D-F1F1-F9BF2037F488}"/>
              </a:ext>
            </a:extLst>
          </p:cNvPr>
          <p:cNvSpPr/>
          <p:nvPr/>
        </p:nvSpPr>
        <p:spPr>
          <a:xfrm>
            <a:off x="462189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!!FrontendIcon" descr="Atom mit einfarbiger Füllung">
            <a:extLst>
              <a:ext uri="{FF2B5EF4-FFF2-40B4-BE49-F238E27FC236}">
                <a16:creationId xmlns:a16="http://schemas.microsoft.com/office/drawing/2014/main" id="{541A9406-0BF6-A13D-298A-45EDD0CAC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346" y="3074797"/>
            <a:ext cx="722085" cy="722085"/>
          </a:xfrm>
          <a:prstGeom prst="rect">
            <a:avLst/>
          </a:prstGeom>
        </p:spPr>
      </p:pic>
      <p:sp>
        <p:nvSpPr>
          <p:cNvPr id="6" name="!!Frontend">
            <a:extLst>
              <a:ext uri="{FF2B5EF4-FFF2-40B4-BE49-F238E27FC236}">
                <a16:creationId xmlns:a16="http://schemas.microsoft.com/office/drawing/2014/main" id="{52D13CAD-D2B5-DCFF-64EC-3E1847DA49B7}"/>
              </a:ext>
            </a:extLst>
          </p:cNvPr>
          <p:cNvSpPr txBox="1"/>
          <p:nvPr/>
        </p:nvSpPr>
        <p:spPr>
          <a:xfrm>
            <a:off x="240844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E61BC16-D0B0-CA46-0DD6-838536B47A84}"/>
              </a:ext>
            </a:extLst>
          </p:cNvPr>
          <p:cNvGrpSpPr/>
          <p:nvPr/>
        </p:nvGrpSpPr>
        <p:grpSpPr>
          <a:xfrm>
            <a:off x="-4792163" y="2110267"/>
            <a:ext cx="4549025" cy="3075997"/>
            <a:chOff x="908318" y="2110267"/>
            <a:chExt cx="4549025" cy="3075997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029E5D5E-7050-6DD4-A5CE-4592231D7FD8}"/>
                </a:ext>
              </a:extLst>
            </p:cNvPr>
            <p:cNvSpPr/>
            <p:nvPr/>
          </p:nvSpPr>
          <p:spPr>
            <a:xfrm>
              <a:off x="908318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" name="Grafik 6" descr="Ein Bild, das Text, Screenshot, Zahl, Schrift enthält.">
              <a:extLst>
                <a:ext uri="{FF2B5EF4-FFF2-40B4-BE49-F238E27FC236}">
                  <a16:creationId xmlns:a16="http://schemas.microsoft.com/office/drawing/2014/main" id="{0A0A3C87-BC48-6058-EDDE-B2212C35C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499"/>
            <a:stretch>
              <a:fillRect/>
            </a:stretch>
          </p:blipFill>
          <p:spPr>
            <a:xfrm>
              <a:off x="1005268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931BAEE6-6AF8-5A4A-876C-FEE3C983FE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06"/>
          <a:stretch>
            <a:fillRect/>
          </a:stretch>
        </p:blipFill>
        <p:spPr>
          <a:xfrm>
            <a:off x="-4707871" y="2204787"/>
            <a:ext cx="4348662" cy="2873505"/>
          </a:xfrm>
          <a:prstGeom prst="roundRect">
            <a:avLst>
              <a:gd name="adj" fmla="val 2082"/>
            </a:avLst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31F6390-CFAF-8CD1-EA21-BC78A68810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" r="24786" b="-353"/>
          <a:stretch>
            <a:fillRect/>
          </a:stretch>
        </p:blipFill>
        <p:spPr>
          <a:xfrm>
            <a:off x="-4701542" y="2211512"/>
            <a:ext cx="4348662" cy="2873505"/>
          </a:xfrm>
          <a:prstGeom prst="roundRect">
            <a:avLst>
              <a:gd name="adj" fmla="val 2082"/>
            </a:avLst>
          </a:prstGeom>
        </p:spPr>
      </p:pic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45DBB90-2E74-D142-E05E-692FF3BA6CE2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C79B941-9C37-27EB-19B6-1AF4924A289F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C52E9E53-8AE1-9FC3-C4B4-1B2655F5F763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3D0664A-4C5E-B1AC-CFB0-B91259EB01A5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0B34229-3183-B92C-AD77-6640987CB39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1BDC00D3-16FF-717C-A97E-048BAAD51803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E00362E-2170-FF1B-D26B-AA42499C4E32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5D3DEC75-A3DD-9D32-B72C-0E0AF0F195DA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D51004F-97FC-1EB9-8B6E-D7E9C5BB7B9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9FF28082-7C36-8924-BBFE-232A2CED2A6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BFF8777E-48E2-840E-FEA1-F0A3557FB1D0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17D0776-4BD1-0EBA-AE81-D1C6237EBB3A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4E5EB653-1205-258E-C0A7-A3103C5B76E6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!!1">
            <a:extLst>
              <a:ext uri="{FF2B5EF4-FFF2-40B4-BE49-F238E27FC236}">
                <a16:creationId xmlns:a16="http://schemas.microsoft.com/office/drawing/2014/main" id="{BE09ADCA-1D8A-835D-459A-AB673A79F342}"/>
              </a:ext>
            </a:extLst>
          </p:cNvPr>
          <p:cNvSpPr/>
          <p:nvPr/>
        </p:nvSpPr>
        <p:spPr>
          <a:xfrm>
            <a:off x="1472746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!!2">
            <a:extLst>
              <a:ext uri="{FF2B5EF4-FFF2-40B4-BE49-F238E27FC236}">
                <a16:creationId xmlns:a16="http://schemas.microsoft.com/office/drawing/2014/main" id="{6C1A7F71-E139-2990-E28F-B2A540F5941C}"/>
              </a:ext>
            </a:extLst>
          </p:cNvPr>
          <p:cNvSpPr/>
          <p:nvPr/>
        </p:nvSpPr>
        <p:spPr>
          <a:xfrm>
            <a:off x="9301840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!!MapperRect">
            <a:extLst>
              <a:ext uri="{FF2B5EF4-FFF2-40B4-BE49-F238E27FC236}">
                <a16:creationId xmlns:a16="http://schemas.microsoft.com/office/drawing/2014/main" id="{F7BA68D2-166B-AEC2-8015-8C8906AD3853}"/>
              </a:ext>
            </a:extLst>
          </p:cNvPr>
          <p:cNvSpPr/>
          <p:nvPr/>
        </p:nvSpPr>
        <p:spPr>
          <a:xfrm>
            <a:off x="999671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4" name="!!MapperIcon" descr="Übertragen Silhouette">
            <a:extLst>
              <a:ext uri="{FF2B5EF4-FFF2-40B4-BE49-F238E27FC236}">
                <a16:creationId xmlns:a16="http://schemas.microsoft.com/office/drawing/2014/main" id="{06BFE85D-B5B7-1DCC-07D0-A9716DA423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092870" y="3074797"/>
            <a:ext cx="722085" cy="722085"/>
          </a:xfrm>
          <a:prstGeom prst="rect">
            <a:avLst/>
          </a:prstGeom>
        </p:spPr>
      </p:pic>
      <p:sp>
        <p:nvSpPr>
          <p:cNvPr id="225" name="!!Mapper">
            <a:extLst>
              <a:ext uri="{FF2B5EF4-FFF2-40B4-BE49-F238E27FC236}">
                <a16:creationId xmlns:a16="http://schemas.microsoft.com/office/drawing/2014/main" id="{E49CEC28-9ADD-ADDE-A5F9-308D9714851C}"/>
              </a:ext>
            </a:extLst>
          </p:cNvPr>
          <p:cNvSpPr txBox="1"/>
          <p:nvPr/>
        </p:nvSpPr>
        <p:spPr>
          <a:xfrm>
            <a:off x="977536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226" name="!!3">
            <a:extLst>
              <a:ext uri="{FF2B5EF4-FFF2-40B4-BE49-F238E27FC236}">
                <a16:creationId xmlns:a16="http://schemas.microsoft.com/office/drawing/2014/main" id="{B71E43DD-E027-3364-89F0-6449185F02D1}"/>
              </a:ext>
            </a:extLst>
          </p:cNvPr>
          <p:cNvSpPr/>
          <p:nvPr/>
        </p:nvSpPr>
        <p:spPr>
          <a:xfrm>
            <a:off x="11007270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7" name="!!ServiceRect">
            <a:extLst>
              <a:ext uri="{FF2B5EF4-FFF2-40B4-BE49-F238E27FC236}">
                <a16:creationId xmlns:a16="http://schemas.microsoft.com/office/drawing/2014/main" id="{EE115B08-16DD-0318-82FB-56A480ACB5CD}"/>
              </a:ext>
            </a:extLst>
          </p:cNvPr>
          <p:cNvSpPr/>
          <p:nvPr/>
        </p:nvSpPr>
        <p:spPr>
          <a:xfrm>
            <a:off x="1170214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9" name="!!ServiceIcon" descr="Kellner mit einfarbiger Füllung">
            <a:extLst>
              <a:ext uri="{FF2B5EF4-FFF2-40B4-BE49-F238E27FC236}">
                <a16:creationId xmlns:a16="http://schemas.microsoft.com/office/drawing/2014/main" id="{02B1C13F-93AA-7A2E-7487-1016A913E4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798300" y="3074797"/>
            <a:ext cx="722085" cy="722085"/>
          </a:xfrm>
          <a:prstGeom prst="rect">
            <a:avLst/>
          </a:prstGeom>
        </p:spPr>
      </p:pic>
      <p:sp>
        <p:nvSpPr>
          <p:cNvPr id="230" name="!!Service">
            <a:extLst>
              <a:ext uri="{FF2B5EF4-FFF2-40B4-BE49-F238E27FC236}">
                <a16:creationId xmlns:a16="http://schemas.microsoft.com/office/drawing/2014/main" id="{83B9F09E-6612-8E08-C45B-F76559708D6F}"/>
              </a:ext>
            </a:extLst>
          </p:cNvPr>
          <p:cNvSpPr txBox="1"/>
          <p:nvPr/>
        </p:nvSpPr>
        <p:spPr>
          <a:xfrm>
            <a:off x="1148079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32" name="!!4">
            <a:extLst>
              <a:ext uri="{FF2B5EF4-FFF2-40B4-BE49-F238E27FC236}">
                <a16:creationId xmlns:a16="http://schemas.microsoft.com/office/drawing/2014/main" id="{A3C114A2-9029-2BF3-386B-2EE3789847B5}"/>
              </a:ext>
            </a:extLst>
          </p:cNvPr>
          <p:cNvSpPr/>
          <p:nvPr/>
        </p:nvSpPr>
        <p:spPr>
          <a:xfrm>
            <a:off x="12712700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4" name="!!RepoRect">
            <a:extLst>
              <a:ext uri="{FF2B5EF4-FFF2-40B4-BE49-F238E27FC236}">
                <a16:creationId xmlns:a16="http://schemas.microsoft.com/office/drawing/2014/main" id="{B8C0BE13-2428-A61C-2A8F-96C5F4B6DCC4}"/>
              </a:ext>
            </a:extLst>
          </p:cNvPr>
          <p:cNvSpPr/>
          <p:nvPr/>
        </p:nvSpPr>
        <p:spPr>
          <a:xfrm>
            <a:off x="1340757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7" name="!!RepoIcon" descr="Geöffneter Ordner mit einfarbiger Füllung">
            <a:extLst>
              <a:ext uri="{FF2B5EF4-FFF2-40B4-BE49-F238E27FC236}">
                <a16:creationId xmlns:a16="http://schemas.microsoft.com/office/drawing/2014/main" id="{835C7E2F-A4B3-45FC-D98D-CC49358C8D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3503730" y="3074797"/>
            <a:ext cx="722085" cy="722085"/>
          </a:xfrm>
          <a:prstGeom prst="rect">
            <a:avLst/>
          </a:prstGeom>
        </p:spPr>
      </p:pic>
      <p:sp>
        <p:nvSpPr>
          <p:cNvPr id="238" name="!!Repo">
            <a:extLst>
              <a:ext uri="{FF2B5EF4-FFF2-40B4-BE49-F238E27FC236}">
                <a16:creationId xmlns:a16="http://schemas.microsoft.com/office/drawing/2014/main" id="{28673C31-9B9F-1748-DF27-4D46C88657B3}"/>
              </a:ext>
            </a:extLst>
          </p:cNvPr>
          <p:cNvSpPr txBox="1"/>
          <p:nvPr/>
        </p:nvSpPr>
        <p:spPr>
          <a:xfrm>
            <a:off x="1318622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42" name="!!5">
            <a:extLst>
              <a:ext uri="{FF2B5EF4-FFF2-40B4-BE49-F238E27FC236}">
                <a16:creationId xmlns:a16="http://schemas.microsoft.com/office/drawing/2014/main" id="{340BC6B1-D43F-652E-BBDE-8C0FB0C33E04}"/>
              </a:ext>
            </a:extLst>
          </p:cNvPr>
          <p:cNvSpPr/>
          <p:nvPr/>
        </p:nvSpPr>
        <p:spPr>
          <a:xfrm>
            <a:off x="14418130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3" name="!!DBRect">
            <a:extLst>
              <a:ext uri="{FF2B5EF4-FFF2-40B4-BE49-F238E27FC236}">
                <a16:creationId xmlns:a16="http://schemas.microsoft.com/office/drawing/2014/main" id="{9BFF7F28-5475-7B56-F3D3-94434A99FC37}"/>
              </a:ext>
            </a:extLst>
          </p:cNvPr>
          <p:cNvSpPr/>
          <p:nvPr/>
        </p:nvSpPr>
        <p:spPr>
          <a:xfrm>
            <a:off x="1511300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4" name="!!DBIcon" descr="Datenbank mit einfarbiger Füllung">
            <a:extLst>
              <a:ext uri="{FF2B5EF4-FFF2-40B4-BE49-F238E27FC236}">
                <a16:creationId xmlns:a16="http://schemas.microsoft.com/office/drawing/2014/main" id="{05A83BEC-4CA6-9A68-8AD2-D254AD5F59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5209160" y="3074797"/>
            <a:ext cx="722085" cy="722085"/>
          </a:xfrm>
          <a:prstGeom prst="rect">
            <a:avLst/>
          </a:prstGeom>
        </p:spPr>
      </p:pic>
      <p:sp>
        <p:nvSpPr>
          <p:cNvPr id="245" name="!!DB">
            <a:extLst>
              <a:ext uri="{FF2B5EF4-FFF2-40B4-BE49-F238E27FC236}">
                <a16:creationId xmlns:a16="http://schemas.microsoft.com/office/drawing/2014/main" id="{441B6BA5-5FEC-B1E0-0317-826B0362101F}"/>
              </a:ext>
            </a:extLst>
          </p:cNvPr>
          <p:cNvSpPr txBox="1"/>
          <p:nvPr/>
        </p:nvSpPr>
        <p:spPr>
          <a:xfrm>
            <a:off x="1489165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60" name="!!ControllerRect">
            <a:extLst>
              <a:ext uri="{FF2B5EF4-FFF2-40B4-BE49-F238E27FC236}">
                <a16:creationId xmlns:a16="http://schemas.microsoft.com/office/drawing/2014/main" id="{C1A19525-A6D8-8C50-B862-C2B41B9CD241}"/>
              </a:ext>
            </a:extLst>
          </p:cNvPr>
          <p:cNvSpPr/>
          <p:nvPr/>
        </p:nvSpPr>
        <p:spPr>
          <a:xfrm>
            <a:off x="6068784" y="1631312"/>
            <a:ext cx="3192239" cy="3278491"/>
          </a:xfrm>
          <a:prstGeom prst="roundRect">
            <a:avLst>
              <a:gd name="adj" fmla="val 5130"/>
            </a:avLst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" name="!!ControllerIcon" descr="Gamecontroller mit einfarbiger Füllung">
            <a:extLst>
              <a:ext uri="{FF2B5EF4-FFF2-40B4-BE49-F238E27FC236}">
                <a16:creationId xmlns:a16="http://schemas.microsoft.com/office/drawing/2014/main" id="{83A1C7C0-C33D-F510-8F43-1139D5C7FE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856128" y="3409341"/>
            <a:ext cx="52998" cy="52998"/>
          </a:xfrm>
          <a:prstGeom prst="rect">
            <a:avLst/>
          </a:prstGeom>
        </p:spPr>
      </p:pic>
      <p:sp>
        <p:nvSpPr>
          <p:cNvPr id="61" name="!!Controller">
            <a:extLst>
              <a:ext uri="{FF2B5EF4-FFF2-40B4-BE49-F238E27FC236}">
                <a16:creationId xmlns:a16="http://schemas.microsoft.com/office/drawing/2014/main" id="{C8D36342-4124-2614-51A0-5F3B13570682}"/>
              </a:ext>
            </a:extLst>
          </p:cNvPr>
          <p:cNvSpPr txBox="1"/>
          <p:nvPr/>
        </p:nvSpPr>
        <p:spPr>
          <a:xfrm>
            <a:off x="6519863" y="1787102"/>
            <a:ext cx="2423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62" name="!!FrontendText">
            <a:extLst>
              <a:ext uri="{FF2B5EF4-FFF2-40B4-BE49-F238E27FC236}">
                <a16:creationId xmlns:a16="http://schemas.microsoft.com/office/drawing/2014/main" id="{E3B6F2CC-F677-7DC8-DC14-FD3A13DB17CA}"/>
              </a:ext>
            </a:extLst>
          </p:cNvPr>
          <p:cNvSpPr txBox="1"/>
          <p:nvPr/>
        </p:nvSpPr>
        <p:spPr>
          <a:xfrm>
            <a:off x="438150" y="4189918"/>
            <a:ext cx="2928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" b="1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" b="1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Params</a:t>
            </a:r>
            <a:b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Filter  + </a:t>
            </a: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Paging</a:t>
            </a: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7439EDE8-A6D2-A974-8B0A-1A1DDD4C7A12}"/>
              </a:ext>
            </a:extLst>
          </p:cNvPr>
          <p:cNvGrpSpPr/>
          <p:nvPr/>
        </p:nvGrpSpPr>
        <p:grpSpPr>
          <a:xfrm>
            <a:off x="2026103" y="2110267"/>
            <a:ext cx="4549025" cy="3075997"/>
            <a:chOff x="-11422732" y="2110267"/>
            <a:chExt cx="4549025" cy="3075997"/>
          </a:xfrm>
        </p:grpSpPr>
        <p:sp>
          <p:nvSpPr>
            <p:cNvPr id="64" name="Rechteck: abgerundete Ecken 63">
              <a:extLst>
                <a:ext uri="{FF2B5EF4-FFF2-40B4-BE49-F238E27FC236}">
                  <a16:creationId xmlns:a16="http://schemas.microsoft.com/office/drawing/2014/main" id="{404118F4-B6C1-BE2F-0409-98C0444C2AF0}"/>
                </a:ext>
              </a:extLst>
            </p:cNvPr>
            <p:cNvSpPr/>
            <p:nvPr/>
          </p:nvSpPr>
          <p:spPr>
            <a:xfrm>
              <a:off x="-11422732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349B82FC-1DE6-6AD1-599B-0B3B47325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" r="321"/>
            <a:stretch/>
          </p:blipFill>
          <p:spPr>
            <a:xfrm>
              <a:off x="-11325782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68" name="Rechteck 67">
            <a:extLst>
              <a:ext uri="{FF2B5EF4-FFF2-40B4-BE49-F238E27FC236}">
                <a16:creationId xmlns:a16="http://schemas.microsoft.com/office/drawing/2014/main" id="{DCE3369A-AE2E-CD3E-0E38-D3EBA7C3900C}"/>
              </a:ext>
            </a:extLst>
          </p:cNvPr>
          <p:cNvSpPr/>
          <p:nvPr/>
        </p:nvSpPr>
        <p:spPr>
          <a:xfrm>
            <a:off x="2357438" y="2552933"/>
            <a:ext cx="1919287" cy="154334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CC5B300F-BA7E-AB06-BA4D-4F6F00EE5D6C}"/>
              </a:ext>
            </a:extLst>
          </p:cNvPr>
          <p:cNvSpPr/>
          <p:nvPr/>
        </p:nvSpPr>
        <p:spPr>
          <a:xfrm>
            <a:off x="2279926" y="2973357"/>
            <a:ext cx="2961821" cy="171450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3A352BD-5F80-A982-2414-9ED1C92A9A26}"/>
              </a:ext>
            </a:extLst>
          </p:cNvPr>
          <p:cNvSpPr/>
          <p:nvPr/>
        </p:nvSpPr>
        <p:spPr>
          <a:xfrm>
            <a:off x="2264340" y="4282250"/>
            <a:ext cx="3551534" cy="321499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!!ControllerText">
            <a:extLst>
              <a:ext uri="{FF2B5EF4-FFF2-40B4-BE49-F238E27FC236}">
                <a16:creationId xmlns:a16="http://schemas.microsoft.com/office/drawing/2014/main" id="{A6B33A29-CB20-063D-A8AD-3ED479166105}"/>
              </a:ext>
            </a:extLst>
          </p:cNvPr>
          <p:cNvSpPr txBox="1"/>
          <p:nvPr/>
        </p:nvSpPr>
        <p:spPr>
          <a:xfrm>
            <a:off x="6828038" y="2552700"/>
            <a:ext cx="2258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Request &amp; Response DTO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DTO Mapper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537944E4-9055-F4B6-E0F7-B7E98F7F34A7}"/>
              </a:ext>
            </a:extLst>
          </p:cNvPr>
          <p:cNvSpPr/>
          <p:nvPr/>
        </p:nvSpPr>
        <p:spPr>
          <a:xfrm>
            <a:off x="3353630" y="2397068"/>
            <a:ext cx="1341325" cy="154334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60377968-77BB-D7FD-30A1-5A6A977DAC00}"/>
              </a:ext>
            </a:extLst>
          </p:cNvPr>
          <p:cNvSpPr/>
          <p:nvPr/>
        </p:nvSpPr>
        <p:spPr>
          <a:xfrm>
            <a:off x="3623427" y="4715871"/>
            <a:ext cx="2075987" cy="171450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!!WebDTO">
            <a:extLst>
              <a:ext uri="{FF2B5EF4-FFF2-40B4-BE49-F238E27FC236}">
                <a16:creationId xmlns:a16="http://schemas.microsoft.com/office/drawing/2014/main" id="{6FF17C1C-5E9D-D57D-086F-8A0B2734B6DB}"/>
              </a:ext>
            </a:extLst>
          </p:cNvPr>
          <p:cNvSpPr/>
          <p:nvPr/>
        </p:nvSpPr>
        <p:spPr>
          <a:xfrm>
            <a:off x="-4832980" y="1443091"/>
            <a:ext cx="4549025" cy="1729373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8" name="!!DomainModel">
            <a:extLst>
              <a:ext uri="{FF2B5EF4-FFF2-40B4-BE49-F238E27FC236}">
                <a16:creationId xmlns:a16="http://schemas.microsoft.com/office/drawing/2014/main" id="{50CD9A35-12A2-4834-128A-84C972E73EFF}"/>
              </a:ext>
            </a:extLst>
          </p:cNvPr>
          <p:cNvSpPr/>
          <p:nvPr/>
        </p:nvSpPr>
        <p:spPr>
          <a:xfrm>
            <a:off x="-4832980" y="3745882"/>
            <a:ext cx="4549025" cy="1669027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!!Domain">
            <a:extLst>
              <a:ext uri="{FF2B5EF4-FFF2-40B4-BE49-F238E27FC236}">
                <a16:creationId xmlns:a16="http://schemas.microsoft.com/office/drawing/2014/main" id="{8DC55D01-60EB-AD7B-E512-A687D49E09BA}"/>
              </a:ext>
            </a:extLst>
          </p:cNvPr>
          <p:cNvSpPr txBox="1"/>
          <p:nvPr/>
        </p:nvSpPr>
        <p:spPr>
          <a:xfrm>
            <a:off x="-3856215" y="3221829"/>
            <a:ext cx="2423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255F32B7-6F92-F70D-4DAC-3EEE7B3B2326}"/>
              </a:ext>
            </a:extLst>
          </p:cNvPr>
          <p:cNvCxnSpPr>
            <a:cxnSpLocks/>
          </p:cNvCxnSpPr>
          <p:nvPr/>
        </p:nvCxnSpPr>
        <p:spPr>
          <a:xfrm>
            <a:off x="-4103906" y="3172464"/>
            <a:ext cx="0" cy="59626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653EAFBD-06CD-20F0-4206-1D9126C89877}"/>
              </a:ext>
            </a:extLst>
          </p:cNvPr>
          <p:cNvCxnSpPr>
            <a:cxnSpLocks/>
          </p:cNvCxnSpPr>
          <p:nvPr/>
        </p:nvCxnSpPr>
        <p:spPr>
          <a:xfrm flipV="1">
            <a:off x="-1092101" y="3151092"/>
            <a:ext cx="0" cy="60313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F4161C2F-57D3-57F1-D1A6-1ADC98CF3630}"/>
              </a:ext>
            </a:extLst>
          </p:cNvPr>
          <p:cNvSpPr txBox="1"/>
          <p:nvPr/>
        </p:nvSpPr>
        <p:spPr>
          <a:xfrm>
            <a:off x="-4826526" y="1524541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 DTO</a:t>
            </a:r>
          </a:p>
        </p:txBody>
      </p:sp>
      <p:cxnSp>
        <p:nvCxnSpPr>
          <p:cNvPr id="83" name="!!LineDTO">
            <a:extLst>
              <a:ext uri="{FF2B5EF4-FFF2-40B4-BE49-F238E27FC236}">
                <a16:creationId xmlns:a16="http://schemas.microsoft.com/office/drawing/2014/main" id="{C9542D52-1CBC-9F27-4437-0F36E7BCB048}"/>
              </a:ext>
            </a:extLst>
          </p:cNvPr>
          <p:cNvCxnSpPr/>
          <p:nvPr/>
        </p:nvCxnSpPr>
        <p:spPr>
          <a:xfrm>
            <a:off x="-4634770" y="1922910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feld 83">
            <a:extLst>
              <a:ext uri="{FF2B5EF4-FFF2-40B4-BE49-F238E27FC236}">
                <a16:creationId xmlns:a16="http://schemas.microsoft.com/office/drawing/2014/main" id="{C6981235-0BDE-246A-A044-015BFF6F4436}"/>
              </a:ext>
            </a:extLst>
          </p:cNvPr>
          <p:cNvSpPr txBox="1"/>
          <p:nvPr/>
        </p:nvSpPr>
        <p:spPr>
          <a:xfrm>
            <a:off x="-4634770" y="2143140"/>
            <a:ext cx="3410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EmployeeSearchFiltersDto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EmployeeSearchResponseDto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92BF4F90-CE47-85AD-F645-82E217D4BA27}"/>
              </a:ext>
            </a:extLst>
          </p:cNvPr>
          <p:cNvSpPr txBox="1"/>
          <p:nvPr/>
        </p:nvSpPr>
        <p:spPr>
          <a:xfrm>
            <a:off x="-4826526" y="3813880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Model</a:t>
            </a:r>
          </a:p>
        </p:txBody>
      </p:sp>
      <p:cxnSp>
        <p:nvCxnSpPr>
          <p:cNvPr id="88" name="!!LineDomain">
            <a:extLst>
              <a:ext uri="{FF2B5EF4-FFF2-40B4-BE49-F238E27FC236}">
                <a16:creationId xmlns:a16="http://schemas.microsoft.com/office/drawing/2014/main" id="{FC68366B-8919-8F48-D3FC-9E65D3C6767B}"/>
              </a:ext>
            </a:extLst>
          </p:cNvPr>
          <p:cNvCxnSpPr/>
          <p:nvPr/>
        </p:nvCxnSpPr>
        <p:spPr>
          <a:xfrm>
            <a:off x="-4634770" y="4212249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ED2CB38F-7D36-F24C-D424-74AEC334976F}"/>
              </a:ext>
            </a:extLst>
          </p:cNvPr>
          <p:cNvSpPr txBox="1"/>
          <p:nvPr/>
        </p:nvSpPr>
        <p:spPr>
          <a:xfrm>
            <a:off x="-4625698" y="4453572"/>
            <a:ext cx="341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EmployeeSearchCriteria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5C83749-C919-F3D5-CDF7-5A3B99D95E05}"/>
              </a:ext>
            </a:extLst>
          </p:cNvPr>
          <p:cNvGrpSpPr/>
          <p:nvPr/>
        </p:nvGrpSpPr>
        <p:grpSpPr>
          <a:xfrm>
            <a:off x="7094767" y="2808198"/>
            <a:ext cx="1801890" cy="2179410"/>
            <a:chOff x="6993157" y="4980368"/>
            <a:chExt cx="1801890" cy="2179410"/>
          </a:xfrm>
        </p:grpSpPr>
        <p:pic>
          <p:nvPicPr>
            <p:cNvPr id="11" name="ME">
              <a:extLst>
                <a:ext uri="{FF2B5EF4-FFF2-40B4-BE49-F238E27FC236}">
                  <a16:creationId xmlns:a16="http://schemas.microsoft.com/office/drawing/2014/main" id="{620F4F95-BF46-16EE-1495-E8B25EE74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7" name="Grafik 16" descr="Nach rechts zeigender Finger, Handrücken mit einfarbiger Füllung">
              <a:extLst>
                <a:ext uri="{FF2B5EF4-FFF2-40B4-BE49-F238E27FC236}">
                  <a16:creationId xmlns:a16="http://schemas.microsoft.com/office/drawing/2014/main" id="{DA0E171F-6F73-8018-2BEE-376E3D974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567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50651 -0.218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26" y="-1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651 -0.21875 L -0.51029 -0.150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1029 -0.15093 L -0.50651 0.0490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3" grpId="0" animBg="1"/>
      <p:bldP spid="7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F9B1F-A450-A3AF-42AF-B4536C88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7794DE7-60BE-4EB4-42EA-B5E5DFD7BEC0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C885A9B-0CD8-684A-B961-45434F320C7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436F7BCE-ACD8-9619-D6E0-BB823E63FDD4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65353737-EAA7-1EB6-504F-D6E21B58040B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3136A29F-C239-AB0C-4D65-3F64E7442936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C6143DE-600A-75A2-F9BE-7FCAD474C6A6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CECCC35-821C-65DB-F944-7669137D82F1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81D63B32-9F2F-766E-E7FE-7E3B2298FE33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CE9B3EC-8D4A-0BE3-A803-874DAF28404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CBB3A07B-03CC-B9B3-1A95-F9C62413A8E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B5561EDB-D964-BD9D-5057-088CF0F49C47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9262944-5EE2-0838-E446-2221788B606F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F918B074-111E-15D8-0EB5-54BF22D5B22A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!!ControllerRect">
            <a:extLst>
              <a:ext uri="{FF2B5EF4-FFF2-40B4-BE49-F238E27FC236}">
                <a16:creationId xmlns:a16="http://schemas.microsoft.com/office/drawing/2014/main" id="{22285EE6-DBA6-789D-ABF2-6B643D78318D}"/>
              </a:ext>
            </a:extLst>
          </p:cNvPr>
          <p:cNvSpPr/>
          <p:nvPr/>
        </p:nvSpPr>
        <p:spPr>
          <a:xfrm>
            <a:off x="40673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!!ControllerIcon" descr="Gamecontroller mit einfarbiger Füllung">
            <a:extLst>
              <a:ext uri="{FF2B5EF4-FFF2-40B4-BE49-F238E27FC236}">
                <a16:creationId xmlns:a16="http://schemas.microsoft.com/office/drawing/2014/main" id="{BD14CA85-B362-A889-5A69-39BFC7765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2895" y="3074797"/>
            <a:ext cx="722085" cy="722085"/>
          </a:xfrm>
          <a:prstGeom prst="rect">
            <a:avLst/>
          </a:prstGeom>
        </p:spPr>
      </p:pic>
      <p:sp>
        <p:nvSpPr>
          <p:cNvPr id="30" name="!!Controller">
            <a:extLst>
              <a:ext uri="{FF2B5EF4-FFF2-40B4-BE49-F238E27FC236}">
                <a16:creationId xmlns:a16="http://schemas.microsoft.com/office/drawing/2014/main" id="{10D84638-75E1-F71E-95D5-1F4435A6BD9D}"/>
              </a:ext>
            </a:extLst>
          </p:cNvPr>
          <p:cNvSpPr txBox="1"/>
          <p:nvPr/>
        </p:nvSpPr>
        <p:spPr>
          <a:xfrm>
            <a:off x="18539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10" name="!!FrontendRect">
            <a:extLst>
              <a:ext uri="{FF2B5EF4-FFF2-40B4-BE49-F238E27FC236}">
                <a16:creationId xmlns:a16="http://schemas.microsoft.com/office/drawing/2014/main" id="{DC5EFD39-11EF-093A-0792-B472A45CAF9C}"/>
              </a:ext>
            </a:extLst>
          </p:cNvPr>
          <p:cNvSpPr/>
          <p:nvPr/>
        </p:nvSpPr>
        <p:spPr>
          <a:xfrm>
            <a:off x="-127965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!!FrontendIcon" descr="Atom mit einfarbiger Füllung">
            <a:extLst>
              <a:ext uri="{FF2B5EF4-FFF2-40B4-BE49-F238E27FC236}">
                <a16:creationId xmlns:a16="http://schemas.microsoft.com/office/drawing/2014/main" id="{BBFD3DFC-9F06-8339-1066-D9A8866E6B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83499" y="3074797"/>
            <a:ext cx="722085" cy="722085"/>
          </a:xfrm>
          <a:prstGeom prst="rect">
            <a:avLst/>
          </a:prstGeom>
        </p:spPr>
      </p:pic>
      <p:sp>
        <p:nvSpPr>
          <p:cNvPr id="17" name="!!Frontend">
            <a:extLst>
              <a:ext uri="{FF2B5EF4-FFF2-40B4-BE49-F238E27FC236}">
                <a16:creationId xmlns:a16="http://schemas.microsoft.com/office/drawing/2014/main" id="{808B6601-01C3-3636-AD54-FDC29633AA65}"/>
              </a:ext>
            </a:extLst>
          </p:cNvPr>
          <p:cNvSpPr txBox="1"/>
          <p:nvPr/>
        </p:nvSpPr>
        <p:spPr>
          <a:xfrm>
            <a:off x="-150100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18" name="!!1">
            <a:extLst>
              <a:ext uri="{FF2B5EF4-FFF2-40B4-BE49-F238E27FC236}">
                <a16:creationId xmlns:a16="http://schemas.microsoft.com/office/drawing/2014/main" id="{85017B53-2D94-F738-7CA7-06CA02691853}"/>
              </a:ext>
            </a:extLst>
          </p:cNvPr>
          <p:cNvSpPr/>
          <p:nvPr/>
        </p:nvSpPr>
        <p:spPr>
          <a:xfrm>
            <a:off x="-269099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8" name="!!2">
            <a:extLst>
              <a:ext uri="{FF2B5EF4-FFF2-40B4-BE49-F238E27FC236}">
                <a16:creationId xmlns:a16="http://schemas.microsoft.com/office/drawing/2014/main" id="{C3B22813-15E7-50C5-2D2D-C172483B5968}"/>
              </a:ext>
            </a:extLst>
          </p:cNvPr>
          <p:cNvSpPr/>
          <p:nvPr/>
        </p:nvSpPr>
        <p:spPr>
          <a:xfrm>
            <a:off x="1417295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6" name="!!3">
            <a:extLst>
              <a:ext uri="{FF2B5EF4-FFF2-40B4-BE49-F238E27FC236}">
                <a16:creationId xmlns:a16="http://schemas.microsoft.com/office/drawing/2014/main" id="{E388F4A1-3F34-B6C1-CB01-9B984C839917}"/>
              </a:ext>
            </a:extLst>
          </p:cNvPr>
          <p:cNvSpPr/>
          <p:nvPr/>
        </p:nvSpPr>
        <p:spPr>
          <a:xfrm>
            <a:off x="926102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9" name="!!ServiceRect">
            <a:extLst>
              <a:ext uri="{FF2B5EF4-FFF2-40B4-BE49-F238E27FC236}">
                <a16:creationId xmlns:a16="http://schemas.microsoft.com/office/drawing/2014/main" id="{35FCE10C-0C3D-A8DC-B40E-5F1FACC9AA73}"/>
              </a:ext>
            </a:extLst>
          </p:cNvPr>
          <p:cNvSpPr/>
          <p:nvPr/>
        </p:nvSpPr>
        <p:spPr>
          <a:xfrm>
            <a:off x="995589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!!ServiceIcon" descr="Kellner mit einfarbiger Füllung">
            <a:extLst>
              <a:ext uri="{FF2B5EF4-FFF2-40B4-BE49-F238E27FC236}">
                <a16:creationId xmlns:a16="http://schemas.microsoft.com/office/drawing/2014/main" id="{47415674-F6E3-C96A-17CC-AD12D3E31A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052053" y="3074797"/>
            <a:ext cx="722085" cy="722085"/>
          </a:xfrm>
          <a:prstGeom prst="rect">
            <a:avLst/>
          </a:prstGeom>
        </p:spPr>
      </p:pic>
      <p:sp>
        <p:nvSpPr>
          <p:cNvPr id="241" name="!!Service">
            <a:extLst>
              <a:ext uri="{FF2B5EF4-FFF2-40B4-BE49-F238E27FC236}">
                <a16:creationId xmlns:a16="http://schemas.microsoft.com/office/drawing/2014/main" id="{A35ED9D8-B7D8-428D-C31A-CF0B2D75AC76}"/>
              </a:ext>
            </a:extLst>
          </p:cNvPr>
          <p:cNvSpPr txBox="1"/>
          <p:nvPr/>
        </p:nvSpPr>
        <p:spPr>
          <a:xfrm>
            <a:off x="973455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46" name="!!4">
            <a:extLst>
              <a:ext uri="{FF2B5EF4-FFF2-40B4-BE49-F238E27FC236}">
                <a16:creationId xmlns:a16="http://schemas.microsoft.com/office/drawing/2014/main" id="{9A8CAB56-328A-2F78-03F2-97257DC4FC63}"/>
              </a:ext>
            </a:extLst>
          </p:cNvPr>
          <p:cNvSpPr/>
          <p:nvPr/>
        </p:nvSpPr>
        <p:spPr>
          <a:xfrm>
            <a:off x="1096645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7" name="!!RepoRect">
            <a:extLst>
              <a:ext uri="{FF2B5EF4-FFF2-40B4-BE49-F238E27FC236}">
                <a16:creationId xmlns:a16="http://schemas.microsoft.com/office/drawing/2014/main" id="{64F4D4A9-8737-AB69-1F75-A18EA327367A}"/>
              </a:ext>
            </a:extLst>
          </p:cNvPr>
          <p:cNvSpPr/>
          <p:nvPr/>
        </p:nvSpPr>
        <p:spPr>
          <a:xfrm>
            <a:off x="1166132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8" name="!!RepoIcon" descr="Geöffneter Ordner mit einfarbiger Füllung">
            <a:extLst>
              <a:ext uri="{FF2B5EF4-FFF2-40B4-BE49-F238E27FC236}">
                <a16:creationId xmlns:a16="http://schemas.microsoft.com/office/drawing/2014/main" id="{48D6A30A-5D8C-8337-4980-D84510CF05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757483" y="3074797"/>
            <a:ext cx="722085" cy="722085"/>
          </a:xfrm>
          <a:prstGeom prst="rect">
            <a:avLst/>
          </a:prstGeom>
        </p:spPr>
      </p:pic>
      <p:sp>
        <p:nvSpPr>
          <p:cNvPr id="249" name="!!Repo">
            <a:extLst>
              <a:ext uri="{FF2B5EF4-FFF2-40B4-BE49-F238E27FC236}">
                <a16:creationId xmlns:a16="http://schemas.microsoft.com/office/drawing/2014/main" id="{D0C144CB-7F16-AEE5-B80D-9391A207E8B8}"/>
              </a:ext>
            </a:extLst>
          </p:cNvPr>
          <p:cNvSpPr txBox="1"/>
          <p:nvPr/>
        </p:nvSpPr>
        <p:spPr>
          <a:xfrm>
            <a:off x="1143998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50" name="!!5">
            <a:extLst>
              <a:ext uri="{FF2B5EF4-FFF2-40B4-BE49-F238E27FC236}">
                <a16:creationId xmlns:a16="http://schemas.microsoft.com/office/drawing/2014/main" id="{FCCD5140-2485-BCC2-04E3-EF3565571FD4}"/>
              </a:ext>
            </a:extLst>
          </p:cNvPr>
          <p:cNvSpPr/>
          <p:nvPr/>
        </p:nvSpPr>
        <p:spPr>
          <a:xfrm>
            <a:off x="12671883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1" name="!!DBRect">
            <a:extLst>
              <a:ext uri="{FF2B5EF4-FFF2-40B4-BE49-F238E27FC236}">
                <a16:creationId xmlns:a16="http://schemas.microsoft.com/office/drawing/2014/main" id="{092E4092-7973-2E94-842F-B70FC1996DD5}"/>
              </a:ext>
            </a:extLst>
          </p:cNvPr>
          <p:cNvSpPr/>
          <p:nvPr/>
        </p:nvSpPr>
        <p:spPr>
          <a:xfrm>
            <a:off x="13366756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2" name="!!DBIcon" descr="Datenbank mit einfarbiger Füllung">
            <a:extLst>
              <a:ext uri="{FF2B5EF4-FFF2-40B4-BE49-F238E27FC236}">
                <a16:creationId xmlns:a16="http://schemas.microsoft.com/office/drawing/2014/main" id="{721A2C35-5778-AEEC-F792-B93D0EC60A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462913" y="3074797"/>
            <a:ext cx="722085" cy="72208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B8C25A5-C4BF-3DC0-5A2C-A6BD3C802BF6}"/>
              </a:ext>
            </a:extLst>
          </p:cNvPr>
          <p:cNvGrpSpPr/>
          <p:nvPr/>
        </p:nvGrpSpPr>
        <p:grpSpPr>
          <a:xfrm>
            <a:off x="-4897553" y="2110267"/>
            <a:ext cx="4549025" cy="3075997"/>
            <a:chOff x="-11422732" y="2110267"/>
            <a:chExt cx="4549025" cy="3075997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6300FCDD-A3E2-743D-AC19-BCBA8B0BFA2F}"/>
                </a:ext>
              </a:extLst>
            </p:cNvPr>
            <p:cNvSpPr/>
            <p:nvPr/>
          </p:nvSpPr>
          <p:spPr>
            <a:xfrm>
              <a:off x="-11422732" y="2110267"/>
              <a:ext cx="4549025" cy="3075997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21FDAB7F-C915-01BE-5E39-8C8300DD1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" r="321"/>
            <a:stretch/>
          </p:blipFill>
          <p:spPr>
            <a:xfrm>
              <a:off x="-11325782" y="2204788"/>
              <a:ext cx="4348662" cy="2873505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F3EC6738-2DD8-6880-4BB5-9FAB33A5FB95}"/>
              </a:ext>
            </a:extLst>
          </p:cNvPr>
          <p:cNvSpPr/>
          <p:nvPr/>
        </p:nvSpPr>
        <p:spPr>
          <a:xfrm>
            <a:off x="-4566218" y="2552933"/>
            <a:ext cx="1919287" cy="154334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34DF554-2C90-3F6D-2E5E-2B01CF2DAC0F}"/>
              </a:ext>
            </a:extLst>
          </p:cNvPr>
          <p:cNvSpPr/>
          <p:nvPr/>
        </p:nvSpPr>
        <p:spPr>
          <a:xfrm>
            <a:off x="-4643730" y="2973357"/>
            <a:ext cx="2961821" cy="171450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6ECBE9D-0D1E-EE92-AD4A-3B666844548B}"/>
              </a:ext>
            </a:extLst>
          </p:cNvPr>
          <p:cNvSpPr/>
          <p:nvPr/>
        </p:nvSpPr>
        <p:spPr>
          <a:xfrm>
            <a:off x="-4659316" y="4282250"/>
            <a:ext cx="3551534" cy="321499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4119F2-B253-CD50-43AC-56288E0AB8CF}"/>
              </a:ext>
            </a:extLst>
          </p:cNvPr>
          <p:cNvSpPr/>
          <p:nvPr/>
        </p:nvSpPr>
        <p:spPr>
          <a:xfrm>
            <a:off x="-3570026" y="2397068"/>
            <a:ext cx="1341325" cy="154334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C78B76D-E2C6-DFA8-27C6-D4C398BB2BA2}"/>
              </a:ext>
            </a:extLst>
          </p:cNvPr>
          <p:cNvSpPr/>
          <p:nvPr/>
        </p:nvSpPr>
        <p:spPr>
          <a:xfrm>
            <a:off x="-3300229" y="4715871"/>
            <a:ext cx="2075987" cy="171450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!!DB">
            <a:extLst>
              <a:ext uri="{FF2B5EF4-FFF2-40B4-BE49-F238E27FC236}">
                <a16:creationId xmlns:a16="http://schemas.microsoft.com/office/drawing/2014/main" id="{FDB4BBC4-2DC9-8453-7B8D-7E443B51CEE1}"/>
              </a:ext>
            </a:extLst>
          </p:cNvPr>
          <p:cNvSpPr txBox="1"/>
          <p:nvPr/>
        </p:nvSpPr>
        <p:spPr>
          <a:xfrm>
            <a:off x="13145411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35" name="!!MapperRect">
            <a:extLst>
              <a:ext uri="{FF2B5EF4-FFF2-40B4-BE49-F238E27FC236}">
                <a16:creationId xmlns:a16="http://schemas.microsoft.com/office/drawing/2014/main" id="{D7048F5F-8224-EA27-B8D1-765C6629211B}"/>
              </a:ext>
            </a:extLst>
          </p:cNvPr>
          <p:cNvSpPr/>
          <p:nvPr/>
        </p:nvSpPr>
        <p:spPr>
          <a:xfrm>
            <a:off x="6068784" y="1631312"/>
            <a:ext cx="3192239" cy="3278491"/>
          </a:xfrm>
          <a:prstGeom prst="roundRect">
            <a:avLst>
              <a:gd name="adj" fmla="val 5130"/>
            </a:avLst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3" name="!!MapperIcon" descr="Übertragen Silhouette">
            <a:extLst>
              <a:ext uri="{FF2B5EF4-FFF2-40B4-BE49-F238E27FC236}">
                <a16:creationId xmlns:a16="http://schemas.microsoft.com/office/drawing/2014/main" id="{EB9F9E4B-298D-58C1-F169-548555959C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852109" y="2965898"/>
            <a:ext cx="45719" cy="45719"/>
          </a:xfrm>
          <a:prstGeom prst="rect">
            <a:avLst/>
          </a:prstGeom>
        </p:spPr>
      </p:pic>
      <p:sp>
        <p:nvSpPr>
          <p:cNvPr id="255" name="!!WebDTO">
            <a:extLst>
              <a:ext uri="{FF2B5EF4-FFF2-40B4-BE49-F238E27FC236}">
                <a16:creationId xmlns:a16="http://schemas.microsoft.com/office/drawing/2014/main" id="{45612A1F-62D6-EE8D-EC90-0E0CADF3E9B5}"/>
              </a:ext>
            </a:extLst>
          </p:cNvPr>
          <p:cNvSpPr/>
          <p:nvPr/>
        </p:nvSpPr>
        <p:spPr>
          <a:xfrm>
            <a:off x="2026103" y="1443091"/>
            <a:ext cx="4549025" cy="1729373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!!Mapper">
            <a:extLst>
              <a:ext uri="{FF2B5EF4-FFF2-40B4-BE49-F238E27FC236}">
                <a16:creationId xmlns:a16="http://schemas.microsoft.com/office/drawing/2014/main" id="{7FE70E52-42DB-854C-DAEC-53FC16935D93}"/>
              </a:ext>
            </a:extLst>
          </p:cNvPr>
          <p:cNvSpPr txBox="1"/>
          <p:nvPr/>
        </p:nvSpPr>
        <p:spPr>
          <a:xfrm>
            <a:off x="6519863" y="1787102"/>
            <a:ext cx="2423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37" name="!!DomainModel">
            <a:extLst>
              <a:ext uri="{FF2B5EF4-FFF2-40B4-BE49-F238E27FC236}">
                <a16:creationId xmlns:a16="http://schemas.microsoft.com/office/drawing/2014/main" id="{ACA93981-0DC2-2C9E-19DD-DF2CC15D8399}"/>
              </a:ext>
            </a:extLst>
          </p:cNvPr>
          <p:cNvSpPr/>
          <p:nvPr/>
        </p:nvSpPr>
        <p:spPr>
          <a:xfrm>
            <a:off x="2026103" y="3745882"/>
            <a:ext cx="4549025" cy="1669027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!!Domain">
            <a:extLst>
              <a:ext uri="{FF2B5EF4-FFF2-40B4-BE49-F238E27FC236}">
                <a16:creationId xmlns:a16="http://schemas.microsoft.com/office/drawing/2014/main" id="{B2478E46-74B9-F456-7EF8-C27A16BE584C}"/>
              </a:ext>
            </a:extLst>
          </p:cNvPr>
          <p:cNvSpPr txBox="1"/>
          <p:nvPr/>
        </p:nvSpPr>
        <p:spPr>
          <a:xfrm>
            <a:off x="3002868" y="3221829"/>
            <a:ext cx="2423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68402399-6530-1ABE-CC33-F0D8A82D9ABE}"/>
              </a:ext>
            </a:extLst>
          </p:cNvPr>
          <p:cNvCxnSpPr>
            <a:cxnSpLocks/>
          </p:cNvCxnSpPr>
          <p:nvPr/>
        </p:nvCxnSpPr>
        <p:spPr>
          <a:xfrm>
            <a:off x="2755177" y="3172464"/>
            <a:ext cx="0" cy="59626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4BE9980-AE69-42FB-993F-CE831660A2AB}"/>
              </a:ext>
            </a:extLst>
          </p:cNvPr>
          <p:cNvCxnSpPr>
            <a:cxnSpLocks/>
          </p:cNvCxnSpPr>
          <p:nvPr/>
        </p:nvCxnSpPr>
        <p:spPr>
          <a:xfrm flipV="1">
            <a:off x="5766982" y="3151092"/>
            <a:ext cx="0" cy="60313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5013708F-8923-868A-7AD2-F32920957AE6}"/>
              </a:ext>
            </a:extLst>
          </p:cNvPr>
          <p:cNvSpPr txBox="1"/>
          <p:nvPr/>
        </p:nvSpPr>
        <p:spPr>
          <a:xfrm>
            <a:off x="2032557" y="1524541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 DTO</a:t>
            </a:r>
          </a:p>
        </p:txBody>
      </p:sp>
      <p:cxnSp>
        <p:nvCxnSpPr>
          <p:cNvPr id="52" name="!!LineDTO">
            <a:extLst>
              <a:ext uri="{FF2B5EF4-FFF2-40B4-BE49-F238E27FC236}">
                <a16:creationId xmlns:a16="http://schemas.microsoft.com/office/drawing/2014/main" id="{861E56C1-F872-0A8B-8BF1-FADD9045C42A}"/>
              </a:ext>
            </a:extLst>
          </p:cNvPr>
          <p:cNvCxnSpPr/>
          <p:nvPr/>
        </p:nvCxnSpPr>
        <p:spPr>
          <a:xfrm>
            <a:off x="2224313" y="1922910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470B8844-A3E6-9E4B-D7C2-4F06CF42E140}"/>
              </a:ext>
            </a:extLst>
          </p:cNvPr>
          <p:cNvSpPr txBox="1"/>
          <p:nvPr/>
        </p:nvSpPr>
        <p:spPr>
          <a:xfrm>
            <a:off x="2224313" y="2143140"/>
            <a:ext cx="3410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EmployeeSearchFiltersDto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EmployeeSearchResponseDto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B3605784-47AE-FE1A-DA55-AF2CA2BA508F}"/>
              </a:ext>
            </a:extLst>
          </p:cNvPr>
          <p:cNvSpPr txBox="1"/>
          <p:nvPr/>
        </p:nvSpPr>
        <p:spPr>
          <a:xfrm>
            <a:off x="2032557" y="3813880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Model</a:t>
            </a:r>
          </a:p>
        </p:txBody>
      </p:sp>
      <p:cxnSp>
        <p:nvCxnSpPr>
          <p:cNvPr id="55" name="!!LineDomain">
            <a:extLst>
              <a:ext uri="{FF2B5EF4-FFF2-40B4-BE49-F238E27FC236}">
                <a16:creationId xmlns:a16="http://schemas.microsoft.com/office/drawing/2014/main" id="{79F25190-FCF3-594C-E27B-76B64B65D8F7}"/>
              </a:ext>
            </a:extLst>
          </p:cNvPr>
          <p:cNvCxnSpPr/>
          <p:nvPr/>
        </p:nvCxnSpPr>
        <p:spPr>
          <a:xfrm>
            <a:off x="2224313" y="4212249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EC85A1AA-DACC-7DED-2C6D-3DD967FE3F84}"/>
              </a:ext>
            </a:extLst>
          </p:cNvPr>
          <p:cNvSpPr txBox="1"/>
          <p:nvPr/>
        </p:nvSpPr>
        <p:spPr>
          <a:xfrm>
            <a:off x="2233385" y="4453572"/>
            <a:ext cx="341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EmployeeSearchCriteria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!!MapperText">
            <a:extLst>
              <a:ext uri="{FF2B5EF4-FFF2-40B4-BE49-F238E27FC236}">
                <a16:creationId xmlns:a16="http://schemas.microsoft.com/office/drawing/2014/main" id="{2969D38E-C7CE-8B13-4985-56C3A9747433}"/>
              </a:ext>
            </a:extLst>
          </p:cNvPr>
          <p:cNvSpPr txBox="1"/>
          <p:nvPr/>
        </p:nvSpPr>
        <p:spPr>
          <a:xfrm>
            <a:off x="6828038" y="2552700"/>
            <a:ext cx="2258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Adapter nutzen </a:t>
            </a:r>
            <a:r>
              <a:rPr lang="de-DE" b="1" dirty="0"/>
              <a:t>eigene Modelle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!!ControllerText">
            <a:extLst>
              <a:ext uri="{FF2B5EF4-FFF2-40B4-BE49-F238E27FC236}">
                <a16:creationId xmlns:a16="http://schemas.microsoft.com/office/drawing/2014/main" id="{D16235FB-13D5-9580-1FE8-DA36573D1BA5}"/>
              </a:ext>
            </a:extLst>
          </p:cNvPr>
          <p:cNvSpPr txBox="1"/>
          <p:nvPr/>
        </p:nvSpPr>
        <p:spPr>
          <a:xfrm>
            <a:off x="76275" y="4165991"/>
            <a:ext cx="66092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 &amp; Response DTO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DTO Mapper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3989975C-483C-083F-2B4B-C990738C71BD}"/>
              </a:ext>
            </a:extLst>
          </p:cNvPr>
          <p:cNvGrpSpPr/>
          <p:nvPr/>
        </p:nvGrpSpPr>
        <p:grpSpPr>
          <a:xfrm>
            <a:off x="-4891090" y="2350037"/>
            <a:ext cx="4549025" cy="2837376"/>
            <a:chOff x="2026103" y="2350037"/>
            <a:chExt cx="4549025" cy="2837376"/>
          </a:xfrm>
        </p:grpSpPr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52AF6E28-6519-688E-34A8-0E74F0070A68}"/>
                </a:ext>
              </a:extLst>
            </p:cNvPr>
            <p:cNvSpPr/>
            <p:nvPr/>
          </p:nvSpPr>
          <p:spPr>
            <a:xfrm>
              <a:off x="2026103" y="2350037"/>
              <a:ext cx="4549025" cy="283737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6" name="Grafik 75">
              <a:extLst>
                <a:ext uri="{FF2B5EF4-FFF2-40B4-BE49-F238E27FC236}">
                  <a16:creationId xmlns:a16="http://schemas.microsoft.com/office/drawing/2014/main" id="{2B3D4B05-B5DB-E9A3-7884-8C1BC4489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" r="784"/>
            <a:stretch/>
          </p:blipFill>
          <p:spPr>
            <a:xfrm>
              <a:off x="2123053" y="2444558"/>
              <a:ext cx="4348662" cy="2633912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9546415C-5F0E-11EA-0051-5C5DB865E981}"/>
              </a:ext>
            </a:extLst>
          </p:cNvPr>
          <p:cNvSpPr/>
          <p:nvPr/>
        </p:nvSpPr>
        <p:spPr>
          <a:xfrm>
            <a:off x="-5361796" y="1682860"/>
            <a:ext cx="3079297" cy="980472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75CC23F7-1E44-9123-F1BE-999854AF80A1}"/>
              </a:ext>
            </a:extLst>
          </p:cNvPr>
          <p:cNvSpPr txBox="1"/>
          <p:nvPr/>
        </p:nvSpPr>
        <p:spPr>
          <a:xfrm>
            <a:off x="-5361796" y="1743820"/>
            <a:ext cx="307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Port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8CF5B91-8E71-20C1-17D0-0851A2D1DA3B}"/>
              </a:ext>
            </a:extLst>
          </p:cNvPr>
          <p:cNvCxnSpPr>
            <a:cxnSpLocks/>
          </p:cNvCxnSpPr>
          <p:nvPr/>
        </p:nvCxnSpPr>
        <p:spPr>
          <a:xfrm>
            <a:off x="-5218243" y="2173096"/>
            <a:ext cx="27921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8007C902-FC52-A8DA-4CC4-DA5D33398351}"/>
              </a:ext>
            </a:extLst>
          </p:cNvPr>
          <p:cNvSpPr txBox="1"/>
          <p:nvPr/>
        </p:nvSpPr>
        <p:spPr>
          <a:xfrm>
            <a:off x="-5361796" y="2210938"/>
            <a:ext cx="30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EmployeeDiscoveryService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6F8B9D1-6878-D863-3E58-C36959F4CACC}"/>
              </a:ext>
            </a:extLst>
          </p:cNvPr>
          <p:cNvGrpSpPr/>
          <p:nvPr/>
        </p:nvGrpSpPr>
        <p:grpSpPr>
          <a:xfrm>
            <a:off x="7085540" y="2808198"/>
            <a:ext cx="1801890" cy="2179410"/>
            <a:chOff x="6993157" y="4980368"/>
            <a:chExt cx="1801890" cy="2179410"/>
          </a:xfrm>
        </p:grpSpPr>
        <p:pic>
          <p:nvPicPr>
            <p:cNvPr id="14" name="ME">
              <a:extLst>
                <a:ext uri="{FF2B5EF4-FFF2-40B4-BE49-F238E27FC236}">
                  <a16:creationId xmlns:a16="http://schemas.microsoft.com/office/drawing/2014/main" id="{D6B61B92-494A-95EC-7EFB-B3F7E414B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5" name="Grafik 14" descr="Nach rechts zeigender Finger, Handrücken mit einfarbiger Füllung">
              <a:extLst>
                <a:ext uri="{FF2B5EF4-FFF2-40B4-BE49-F238E27FC236}">
                  <a16:creationId xmlns:a16="http://schemas.microsoft.com/office/drawing/2014/main" id="{5E6484D6-C60A-A9AE-634F-82F85C95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4766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96296E-6 L -0.52057 -0.2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29" y="-1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057 -0.20486 L -0.51485 0.1421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1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E71C-798F-5EAB-2B77-E6E012C2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6F1D282-ACC1-1AE2-C4A4-CB7B20022407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125E0781-F1BF-4478-32DB-8291817D9DB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30A6B79A-E6BF-2C75-01D7-4BE1776ED61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9611349-AAAD-A1CF-3DCA-B10A757CD89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F900DED-F0C0-7259-289A-C4208251B166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7E9F46C-5C8B-FD0C-A405-EB8EAA16D7D1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71558049-5BFB-1370-3BE5-A40B5B97942C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362168D2-EA93-5CD6-3BF7-FE3483FB6AD4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595741E-92B4-2BC4-142D-FDA66049637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43BC5236-36BD-217F-3A00-83A2A2514BAA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CFEB6FA7-1961-65A1-6782-AF6DB46B5E04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5DBBDCF-70C3-7C4A-C35A-22EDE647D539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8484F13A-4A6E-3B0D-2E9D-8CEA69907525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5" name="!!WebDTO">
            <a:extLst>
              <a:ext uri="{FF2B5EF4-FFF2-40B4-BE49-F238E27FC236}">
                <a16:creationId xmlns:a16="http://schemas.microsoft.com/office/drawing/2014/main" id="{1C83BBDC-D25A-AFB9-1B3A-BE60C1F1FA46}"/>
              </a:ext>
            </a:extLst>
          </p:cNvPr>
          <p:cNvSpPr/>
          <p:nvPr/>
        </p:nvSpPr>
        <p:spPr>
          <a:xfrm>
            <a:off x="-5897972" y="1443091"/>
            <a:ext cx="4549025" cy="1729373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!!DomainModel">
            <a:extLst>
              <a:ext uri="{FF2B5EF4-FFF2-40B4-BE49-F238E27FC236}">
                <a16:creationId xmlns:a16="http://schemas.microsoft.com/office/drawing/2014/main" id="{D7A6D727-F9BA-CF66-1E8C-0552CB37E3EF}"/>
              </a:ext>
            </a:extLst>
          </p:cNvPr>
          <p:cNvSpPr/>
          <p:nvPr/>
        </p:nvSpPr>
        <p:spPr>
          <a:xfrm>
            <a:off x="-5897972" y="3745882"/>
            <a:ext cx="4549025" cy="1669027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!!Domain">
            <a:extLst>
              <a:ext uri="{FF2B5EF4-FFF2-40B4-BE49-F238E27FC236}">
                <a16:creationId xmlns:a16="http://schemas.microsoft.com/office/drawing/2014/main" id="{CD403864-977B-8088-E24C-CBC99EC117B0}"/>
              </a:ext>
            </a:extLst>
          </p:cNvPr>
          <p:cNvSpPr txBox="1"/>
          <p:nvPr/>
        </p:nvSpPr>
        <p:spPr>
          <a:xfrm>
            <a:off x="-4921207" y="3221829"/>
            <a:ext cx="2423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93AB8AA-2701-09A7-1CDC-D3DF3700D325}"/>
              </a:ext>
            </a:extLst>
          </p:cNvPr>
          <p:cNvCxnSpPr>
            <a:cxnSpLocks/>
          </p:cNvCxnSpPr>
          <p:nvPr/>
        </p:nvCxnSpPr>
        <p:spPr>
          <a:xfrm>
            <a:off x="-5168898" y="3172464"/>
            <a:ext cx="0" cy="59626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A2F284E-C313-89FD-E315-EC2C02A26D76}"/>
              </a:ext>
            </a:extLst>
          </p:cNvPr>
          <p:cNvCxnSpPr>
            <a:cxnSpLocks/>
          </p:cNvCxnSpPr>
          <p:nvPr/>
        </p:nvCxnSpPr>
        <p:spPr>
          <a:xfrm flipV="1">
            <a:off x="-2157093" y="3151092"/>
            <a:ext cx="0" cy="60313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MapperRect">
            <a:extLst>
              <a:ext uri="{FF2B5EF4-FFF2-40B4-BE49-F238E27FC236}">
                <a16:creationId xmlns:a16="http://schemas.microsoft.com/office/drawing/2014/main" id="{277D9581-55B9-6085-282D-CFFFE93FE86D}"/>
              </a:ext>
            </a:extLst>
          </p:cNvPr>
          <p:cNvSpPr/>
          <p:nvPr/>
        </p:nvSpPr>
        <p:spPr>
          <a:xfrm>
            <a:off x="419655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0CCDE2B-B473-1476-9F3D-907241D9DFD5}"/>
              </a:ext>
            </a:extLst>
          </p:cNvPr>
          <p:cNvSpPr txBox="1"/>
          <p:nvPr/>
        </p:nvSpPr>
        <p:spPr>
          <a:xfrm>
            <a:off x="-5891518" y="1524541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 DTO</a:t>
            </a:r>
          </a:p>
        </p:txBody>
      </p:sp>
      <p:cxnSp>
        <p:nvCxnSpPr>
          <p:cNvPr id="52" name="!!LineDTO">
            <a:extLst>
              <a:ext uri="{FF2B5EF4-FFF2-40B4-BE49-F238E27FC236}">
                <a16:creationId xmlns:a16="http://schemas.microsoft.com/office/drawing/2014/main" id="{9331AA65-C44D-DB5E-908F-E62CDF0D1E19}"/>
              </a:ext>
            </a:extLst>
          </p:cNvPr>
          <p:cNvCxnSpPr/>
          <p:nvPr/>
        </p:nvCxnSpPr>
        <p:spPr>
          <a:xfrm>
            <a:off x="-5699762" y="1922910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9026CFD1-8780-5816-DFC9-31F7BCF583F0}"/>
              </a:ext>
            </a:extLst>
          </p:cNvPr>
          <p:cNvSpPr txBox="1"/>
          <p:nvPr/>
        </p:nvSpPr>
        <p:spPr>
          <a:xfrm>
            <a:off x="-5699762" y="2143140"/>
            <a:ext cx="3410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EmployeeSearchFiltersDto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EmployeeSearchResponseDto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2C10E50B-A125-123D-8212-1CF152613859}"/>
              </a:ext>
            </a:extLst>
          </p:cNvPr>
          <p:cNvSpPr txBox="1"/>
          <p:nvPr/>
        </p:nvSpPr>
        <p:spPr>
          <a:xfrm>
            <a:off x="-5891518" y="3813880"/>
            <a:ext cx="454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Model</a:t>
            </a:r>
          </a:p>
        </p:txBody>
      </p:sp>
      <p:cxnSp>
        <p:nvCxnSpPr>
          <p:cNvPr id="55" name="!!LineDomain">
            <a:extLst>
              <a:ext uri="{FF2B5EF4-FFF2-40B4-BE49-F238E27FC236}">
                <a16:creationId xmlns:a16="http://schemas.microsoft.com/office/drawing/2014/main" id="{80D1B138-10C6-AB6A-D9DB-5B68968A6CAC}"/>
              </a:ext>
            </a:extLst>
          </p:cNvPr>
          <p:cNvCxnSpPr/>
          <p:nvPr/>
        </p:nvCxnSpPr>
        <p:spPr>
          <a:xfrm>
            <a:off x="-5699762" y="4212249"/>
            <a:ext cx="40875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134DDA8A-EED3-C6EC-89DD-7CF0D95ED55D}"/>
              </a:ext>
            </a:extLst>
          </p:cNvPr>
          <p:cNvSpPr txBox="1"/>
          <p:nvPr/>
        </p:nvSpPr>
        <p:spPr>
          <a:xfrm>
            <a:off x="-5690690" y="4453572"/>
            <a:ext cx="341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EmployeeSearchCriteria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!!FrontendRect">
            <a:extLst>
              <a:ext uri="{FF2B5EF4-FFF2-40B4-BE49-F238E27FC236}">
                <a16:creationId xmlns:a16="http://schemas.microsoft.com/office/drawing/2014/main" id="{B0D1E304-1E59-64D0-43C2-EBEDCDA7F637}"/>
              </a:ext>
            </a:extLst>
          </p:cNvPr>
          <p:cNvSpPr/>
          <p:nvPr/>
        </p:nvSpPr>
        <p:spPr>
          <a:xfrm>
            <a:off x="-2972169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!!FrontendIcon" descr="Atom mit einfarbiger Füllung">
            <a:extLst>
              <a:ext uri="{FF2B5EF4-FFF2-40B4-BE49-F238E27FC236}">
                <a16:creationId xmlns:a16="http://schemas.microsoft.com/office/drawing/2014/main" id="{1396A1CC-63DB-C8FF-896D-8131EAE97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876012" y="3074797"/>
            <a:ext cx="722085" cy="722085"/>
          </a:xfrm>
          <a:prstGeom prst="rect">
            <a:avLst/>
          </a:prstGeom>
        </p:spPr>
      </p:pic>
      <p:sp>
        <p:nvSpPr>
          <p:cNvPr id="5" name="!!Frontend">
            <a:extLst>
              <a:ext uri="{FF2B5EF4-FFF2-40B4-BE49-F238E27FC236}">
                <a16:creationId xmlns:a16="http://schemas.microsoft.com/office/drawing/2014/main" id="{C8BFB6FB-CCA0-78FB-5928-CE7B34AC6768}"/>
              </a:ext>
            </a:extLst>
          </p:cNvPr>
          <p:cNvSpPr txBox="1"/>
          <p:nvPr/>
        </p:nvSpPr>
        <p:spPr>
          <a:xfrm>
            <a:off x="-3193514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6" name="!!1">
            <a:extLst>
              <a:ext uri="{FF2B5EF4-FFF2-40B4-BE49-F238E27FC236}">
                <a16:creationId xmlns:a16="http://schemas.microsoft.com/office/drawing/2014/main" id="{016C5EA4-FD67-1878-18C1-AE0E1DC44AE4}"/>
              </a:ext>
            </a:extLst>
          </p:cNvPr>
          <p:cNvSpPr/>
          <p:nvPr/>
        </p:nvSpPr>
        <p:spPr>
          <a:xfrm>
            <a:off x="-196161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!!ControllerRect">
            <a:extLst>
              <a:ext uri="{FF2B5EF4-FFF2-40B4-BE49-F238E27FC236}">
                <a16:creationId xmlns:a16="http://schemas.microsoft.com/office/drawing/2014/main" id="{3056F8EB-0FB5-FC1C-065F-D99506A82581}"/>
              </a:ext>
            </a:extLst>
          </p:cNvPr>
          <p:cNvSpPr/>
          <p:nvPr/>
        </p:nvSpPr>
        <p:spPr>
          <a:xfrm>
            <a:off x="-1285775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!!ControllerIcon" descr="Gamecontroller mit einfarbiger Füllung">
            <a:extLst>
              <a:ext uri="{FF2B5EF4-FFF2-40B4-BE49-F238E27FC236}">
                <a16:creationId xmlns:a16="http://schemas.microsoft.com/office/drawing/2014/main" id="{96838290-977D-A0AC-947F-5F9E34291A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-1189618" y="3074797"/>
            <a:ext cx="722085" cy="722085"/>
          </a:xfrm>
          <a:prstGeom prst="rect">
            <a:avLst/>
          </a:prstGeom>
        </p:spPr>
      </p:pic>
      <p:sp>
        <p:nvSpPr>
          <p:cNvPr id="9" name="!!Controller">
            <a:extLst>
              <a:ext uri="{FF2B5EF4-FFF2-40B4-BE49-F238E27FC236}">
                <a16:creationId xmlns:a16="http://schemas.microsoft.com/office/drawing/2014/main" id="{84ED8DEF-4599-485E-C2C7-BBDF344AA046}"/>
              </a:ext>
            </a:extLst>
          </p:cNvPr>
          <p:cNvSpPr txBox="1"/>
          <p:nvPr/>
        </p:nvSpPr>
        <p:spPr>
          <a:xfrm>
            <a:off x="-1507120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12" name="!!2">
            <a:extLst>
              <a:ext uri="{FF2B5EF4-FFF2-40B4-BE49-F238E27FC236}">
                <a16:creationId xmlns:a16="http://schemas.microsoft.com/office/drawing/2014/main" id="{6D5E444E-2817-81A3-F4E7-9082184EE75E}"/>
              </a:ext>
            </a:extLst>
          </p:cNvPr>
          <p:cNvSpPr/>
          <p:nvPr/>
        </p:nvSpPr>
        <p:spPr>
          <a:xfrm>
            <a:off x="-275218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!!MapperIcon" descr="Übertragen Silhouette">
            <a:extLst>
              <a:ext uri="{FF2B5EF4-FFF2-40B4-BE49-F238E27FC236}">
                <a16:creationId xmlns:a16="http://schemas.microsoft.com/office/drawing/2014/main" id="{7FC4097B-82D4-B28A-E42E-E1A936B932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15812" y="3074797"/>
            <a:ext cx="722085" cy="722085"/>
          </a:xfrm>
          <a:prstGeom prst="rect">
            <a:avLst/>
          </a:prstGeom>
        </p:spPr>
      </p:pic>
      <p:sp>
        <p:nvSpPr>
          <p:cNvPr id="15" name="!!Mapper">
            <a:extLst>
              <a:ext uri="{FF2B5EF4-FFF2-40B4-BE49-F238E27FC236}">
                <a16:creationId xmlns:a16="http://schemas.microsoft.com/office/drawing/2014/main" id="{292AD200-6163-8216-A88B-13F3366DF24F}"/>
              </a:ext>
            </a:extLst>
          </p:cNvPr>
          <p:cNvSpPr txBox="1"/>
          <p:nvPr/>
        </p:nvSpPr>
        <p:spPr>
          <a:xfrm>
            <a:off x="198310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16" name="!!3">
            <a:extLst>
              <a:ext uri="{FF2B5EF4-FFF2-40B4-BE49-F238E27FC236}">
                <a16:creationId xmlns:a16="http://schemas.microsoft.com/office/drawing/2014/main" id="{D3F7009A-9E10-3843-4D18-B671F689B8E9}"/>
              </a:ext>
            </a:extLst>
          </p:cNvPr>
          <p:cNvSpPr/>
          <p:nvPr/>
        </p:nvSpPr>
        <p:spPr>
          <a:xfrm>
            <a:off x="143021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4" name="!!4">
            <a:extLst>
              <a:ext uri="{FF2B5EF4-FFF2-40B4-BE49-F238E27FC236}">
                <a16:creationId xmlns:a16="http://schemas.microsoft.com/office/drawing/2014/main" id="{2C8C567F-7B2F-4DB3-8DBF-CD4188C382AF}"/>
              </a:ext>
            </a:extLst>
          </p:cNvPr>
          <p:cNvSpPr/>
          <p:nvPr/>
        </p:nvSpPr>
        <p:spPr>
          <a:xfrm>
            <a:off x="9179728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5" name="!!RepoRect">
            <a:extLst>
              <a:ext uri="{FF2B5EF4-FFF2-40B4-BE49-F238E27FC236}">
                <a16:creationId xmlns:a16="http://schemas.microsoft.com/office/drawing/2014/main" id="{864E7FEA-C32A-B063-DEC2-993C34403E45}"/>
              </a:ext>
            </a:extLst>
          </p:cNvPr>
          <p:cNvSpPr/>
          <p:nvPr/>
        </p:nvSpPr>
        <p:spPr>
          <a:xfrm>
            <a:off x="9874601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6" name="!!RepoIcon" descr="Geöffneter Ordner mit einfarbiger Füllung">
            <a:extLst>
              <a:ext uri="{FF2B5EF4-FFF2-40B4-BE49-F238E27FC236}">
                <a16:creationId xmlns:a16="http://schemas.microsoft.com/office/drawing/2014/main" id="{01CA75A3-B115-3FBB-A815-40F9BD162E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970758" y="3074797"/>
            <a:ext cx="722085" cy="722085"/>
          </a:xfrm>
          <a:prstGeom prst="rect">
            <a:avLst/>
          </a:prstGeom>
        </p:spPr>
      </p:pic>
      <p:sp>
        <p:nvSpPr>
          <p:cNvPr id="227" name="!!Repo">
            <a:extLst>
              <a:ext uri="{FF2B5EF4-FFF2-40B4-BE49-F238E27FC236}">
                <a16:creationId xmlns:a16="http://schemas.microsoft.com/office/drawing/2014/main" id="{8965C066-780F-EEAB-AE10-092B5078E3D5}"/>
              </a:ext>
            </a:extLst>
          </p:cNvPr>
          <p:cNvSpPr txBox="1"/>
          <p:nvPr/>
        </p:nvSpPr>
        <p:spPr>
          <a:xfrm>
            <a:off x="9653256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29" name="!!5">
            <a:extLst>
              <a:ext uri="{FF2B5EF4-FFF2-40B4-BE49-F238E27FC236}">
                <a16:creationId xmlns:a16="http://schemas.microsoft.com/office/drawing/2014/main" id="{155CB385-7459-D8CF-3C3D-29118C23A348}"/>
              </a:ext>
            </a:extLst>
          </p:cNvPr>
          <p:cNvSpPr/>
          <p:nvPr/>
        </p:nvSpPr>
        <p:spPr>
          <a:xfrm>
            <a:off x="10885158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0" name="!!DBRect">
            <a:extLst>
              <a:ext uri="{FF2B5EF4-FFF2-40B4-BE49-F238E27FC236}">
                <a16:creationId xmlns:a16="http://schemas.microsoft.com/office/drawing/2014/main" id="{42B3D4C8-8EED-12B9-4F10-849139FD5986}"/>
              </a:ext>
            </a:extLst>
          </p:cNvPr>
          <p:cNvSpPr/>
          <p:nvPr/>
        </p:nvSpPr>
        <p:spPr>
          <a:xfrm>
            <a:off x="11580031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1" name="!!DBIcon" descr="Datenbank mit einfarbiger Füllung">
            <a:extLst>
              <a:ext uri="{FF2B5EF4-FFF2-40B4-BE49-F238E27FC236}">
                <a16:creationId xmlns:a16="http://schemas.microsoft.com/office/drawing/2014/main" id="{9CD72CF5-3BE8-32D5-F5B8-7A22E8F094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1676188" y="3074797"/>
            <a:ext cx="722085" cy="722085"/>
          </a:xfrm>
          <a:prstGeom prst="rect">
            <a:avLst/>
          </a:prstGeom>
        </p:spPr>
      </p:pic>
      <p:sp>
        <p:nvSpPr>
          <p:cNvPr id="232" name="!!DB">
            <a:extLst>
              <a:ext uri="{FF2B5EF4-FFF2-40B4-BE49-F238E27FC236}">
                <a16:creationId xmlns:a16="http://schemas.microsoft.com/office/drawing/2014/main" id="{E93C8186-1B2A-3EE8-F37B-4F132DB9D7EF}"/>
              </a:ext>
            </a:extLst>
          </p:cNvPr>
          <p:cNvSpPr txBox="1"/>
          <p:nvPr/>
        </p:nvSpPr>
        <p:spPr>
          <a:xfrm>
            <a:off x="11358686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48" name="!!MapperText">
            <a:extLst>
              <a:ext uri="{FF2B5EF4-FFF2-40B4-BE49-F238E27FC236}">
                <a16:creationId xmlns:a16="http://schemas.microsoft.com/office/drawing/2014/main" id="{F766969D-5D17-AE47-665B-F905303D001A}"/>
              </a:ext>
            </a:extLst>
          </p:cNvPr>
          <p:cNvSpPr txBox="1"/>
          <p:nvPr/>
        </p:nvSpPr>
        <p:spPr>
          <a:xfrm>
            <a:off x="169958" y="4170745"/>
            <a:ext cx="576062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</a:rPr>
              <a:t>Adapter nutzen </a:t>
            </a:r>
            <a:r>
              <a:rPr lang="de-DE" sz="100" b="1" dirty="0">
                <a:noFill/>
              </a:rPr>
              <a:t>eigene Modelle</a:t>
            </a: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!!ServiceRect">
            <a:extLst>
              <a:ext uri="{FF2B5EF4-FFF2-40B4-BE49-F238E27FC236}">
                <a16:creationId xmlns:a16="http://schemas.microsoft.com/office/drawing/2014/main" id="{E8295F50-8657-07CB-6537-369E1A2FFC53}"/>
              </a:ext>
            </a:extLst>
          </p:cNvPr>
          <p:cNvSpPr/>
          <p:nvPr/>
        </p:nvSpPr>
        <p:spPr>
          <a:xfrm>
            <a:off x="6068784" y="1631312"/>
            <a:ext cx="3192239" cy="3278491"/>
          </a:xfrm>
          <a:prstGeom prst="roundRect">
            <a:avLst>
              <a:gd name="adj" fmla="val 5130"/>
            </a:avLst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!!ServiceIcon" descr="Kellner mit einfarbiger Füllung">
            <a:extLst>
              <a:ext uri="{FF2B5EF4-FFF2-40B4-BE49-F238E27FC236}">
                <a16:creationId xmlns:a16="http://schemas.microsoft.com/office/drawing/2014/main" id="{437767E2-8980-D430-F9CF-316CEB75D2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2568419" y="3353161"/>
            <a:ext cx="45719" cy="45719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7E4553A-BB69-91DD-FFBD-98F05B5F611F}"/>
              </a:ext>
            </a:extLst>
          </p:cNvPr>
          <p:cNvGrpSpPr/>
          <p:nvPr/>
        </p:nvGrpSpPr>
        <p:grpSpPr>
          <a:xfrm>
            <a:off x="2026103" y="2350037"/>
            <a:ext cx="4549025" cy="2837376"/>
            <a:chOff x="2026103" y="2350037"/>
            <a:chExt cx="4549025" cy="2837376"/>
          </a:xfrm>
        </p:grpSpPr>
        <p:sp>
          <p:nvSpPr>
            <p:cNvPr id="235" name="Rechteck: abgerundete Ecken 234">
              <a:extLst>
                <a:ext uri="{FF2B5EF4-FFF2-40B4-BE49-F238E27FC236}">
                  <a16:creationId xmlns:a16="http://schemas.microsoft.com/office/drawing/2014/main" id="{125D61E5-9814-75B0-1D82-EC6D6BBE1883}"/>
                </a:ext>
              </a:extLst>
            </p:cNvPr>
            <p:cNvSpPr/>
            <p:nvPr/>
          </p:nvSpPr>
          <p:spPr>
            <a:xfrm>
              <a:off x="2026103" y="2350037"/>
              <a:ext cx="4549025" cy="283737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7" name="Grafik 236">
              <a:extLst>
                <a:ext uri="{FF2B5EF4-FFF2-40B4-BE49-F238E27FC236}">
                  <a16:creationId xmlns:a16="http://schemas.microsoft.com/office/drawing/2014/main" id="{7A3250A1-660F-2971-ACE9-C0D7145C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" r="784"/>
            <a:stretch/>
          </p:blipFill>
          <p:spPr>
            <a:xfrm>
              <a:off x="2123053" y="2444558"/>
              <a:ext cx="4348662" cy="2633912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242" name="!!Service">
            <a:extLst>
              <a:ext uri="{FF2B5EF4-FFF2-40B4-BE49-F238E27FC236}">
                <a16:creationId xmlns:a16="http://schemas.microsoft.com/office/drawing/2014/main" id="{3E482924-2BC7-05E1-CF5C-5D3DDF0739AE}"/>
              </a:ext>
            </a:extLst>
          </p:cNvPr>
          <p:cNvSpPr txBox="1"/>
          <p:nvPr/>
        </p:nvSpPr>
        <p:spPr>
          <a:xfrm>
            <a:off x="6519863" y="1787102"/>
            <a:ext cx="2423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43" name="Rechteck: abgerundete Ecken 242">
            <a:extLst>
              <a:ext uri="{FF2B5EF4-FFF2-40B4-BE49-F238E27FC236}">
                <a16:creationId xmlns:a16="http://schemas.microsoft.com/office/drawing/2014/main" id="{B88CFF03-B7E5-C578-7FE9-52467F829FAF}"/>
              </a:ext>
            </a:extLst>
          </p:cNvPr>
          <p:cNvSpPr/>
          <p:nvPr/>
        </p:nvSpPr>
        <p:spPr>
          <a:xfrm>
            <a:off x="1555397" y="1682860"/>
            <a:ext cx="3079297" cy="980472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4" name="Textfeld 243">
            <a:extLst>
              <a:ext uri="{FF2B5EF4-FFF2-40B4-BE49-F238E27FC236}">
                <a16:creationId xmlns:a16="http://schemas.microsoft.com/office/drawing/2014/main" id="{94DCB277-D5D9-7237-6786-623B6E37930C}"/>
              </a:ext>
            </a:extLst>
          </p:cNvPr>
          <p:cNvSpPr txBox="1"/>
          <p:nvPr/>
        </p:nvSpPr>
        <p:spPr>
          <a:xfrm>
            <a:off x="1555397" y="1743820"/>
            <a:ext cx="307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Port</a:t>
            </a:r>
          </a:p>
        </p:txBody>
      </p: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91E7632F-8954-72C7-3E37-2AF21D9C8E18}"/>
              </a:ext>
            </a:extLst>
          </p:cNvPr>
          <p:cNvCxnSpPr>
            <a:cxnSpLocks/>
          </p:cNvCxnSpPr>
          <p:nvPr/>
        </p:nvCxnSpPr>
        <p:spPr>
          <a:xfrm>
            <a:off x="1698950" y="2173096"/>
            <a:ext cx="27921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E4C2FACD-68CB-EAD7-BC42-685DFA4D07C2}"/>
              </a:ext>
            </a:extLst>
          </p:cNvPr>
          <p:cNvSpPr txBox="1"/>
          <p:nvPr/>
        </p:nvSpPr>
        <p:spPr>
          <a:xfrm>
            <a:off x="1555397" y="2210938"/>
            <a:ext cx="30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EmployeeDiscoveryService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61F2B84-FDA8-641B-B9BF-10FA41598F32}"/>
              </a:ext>
            </a:extLst>
          </p:cNvPr>
          <p:cNvSpPr/>
          <p:nvPr/>
        </p:nvSpPr>
        <p:spPr>
          <a:xfrm>
            <a:off x="2270759" y="3467045"/>
            <a:ext cx="3504810" cy="321499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!!ServiceText">
            <a:extLst>
              <a:ext uri="{FF2B5EF4-FFF2-40B4-BE49-F238E27FC236}">
                <a16:creationId xmlns:a16="http://schemas.microsoft.com/office/drawing/2014/main" id="{786A8416-6E8E-2738-F798-7D077FDB3CA0}"/>
              </a:ext>
            </a:extLst>
          </p:cNvPr>
          <p:cNvSpPr txBox="1"/>
          <p:nvPr/>
        </p:nvSpPr>
        <p:spPr>
          <a:xfrm>
            <a:off x="6828038" y="2552700"/>
            <a:ext cx="2258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Koordiniert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Validiert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Handling</a:t>
            </a:r>
          </a:p>
        </p:txBody>
      </p:sp>
      <p:grpSp>
        <p:nvGrpSpPr>
          <p:cNvPr id="281" name="Gruppieren 280">
            <a:extLst>
              <a:ext uri="{FF2B5EF4-FFF2-40B4-BE49-F238E27FC236}">
                <a16:creationId xmlns:a16="http://schemas.microsoft.com/office/drawing/2014/main" id="{423579D2-B2A9-0399-688F-8F5500A49A49}"/>
              </a:ext>
            </a:extLst>
          </p:cNvPr>
          <p:cNvGrpSpPr/>
          <p:nvPr/>
        </p:nvGrpSpPr>
        <p:grpSpPr>
          <a:xfrm>
            <a:off x="-5447084" y="4262229"/>
            <a:ext cx="3183789" cy="1841933"/>
            <a:chOff x="2224313" y="4234132"/>
            <a:chExt cx="3183789" cy="1841933"/>
          </a:xfrm>
        </p:grpSpPr>
        <p:sp>
          <p:nvSpPr>
            <p:cNvPr id="282" name="Rechteck: abgerundete Ecken 281">
              <a:extLst>
                <a:ext uri="{FF2B5EF4-FFF2-40B4-BE49-F238E27FC236}">
                  <a16:creationId xmlns:a16="http://schemas.microsoft.com/office/drawing/2014/main" id="{23D24CD3-F75B-FA2E-7BF1-5C5814B891C2}"/>
                </a:ext>
              </a:extLst>
            </p:cNvPr>
            <p:cNvSpPr/>
            <p:nvPr/>
          </p:nvSpPr>
          <p:spPr>
            <a:xfrm>
              <a:off x="2224313" y="4234132"/>
              <a:ext cx="1398747" cy="1841933"/>
            </a:xfrm>
            <a:prstGeom prst="roundRect">
              <a:avLst>
                <a:gd name="adj" fmla="val 105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3" name="Textfeld 282">
              <a:extLst>
                <a:ext uri="{FF2B5EF4-FFF2-40B4-BE49-F238E27FC236}">
                  <a16:creationId xmlns:a16="http://schemas.microsoft.com/office/drawing/2014/main" id="{B2EF930C-4286-6FC3-9CC1-36CE8CBB980C}"/>
                </a:ext>
              </a:extLst>
            </p:cNvPr>
            <p:cNvSpPr txBox="1"/>
            <p:nvPr/>
          </p:nvSpPr>
          <p:spPr>
            <a:xfrm>
              <a:off x="2233385" y="4264232"/>
              <a:ext cx="1389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Specification</a:t>
              </a:r>
              <a:endParaRPr lang="de-DE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Rechteck: abgerundete Ecken 283">
              <a:extLst>
                <a:ext uri="{FF2B5EF4-FFF2-40B4-BE49-F238E27FC236}">
                  <a16:creationId xmlns:a16="http://schemas.microsoft.com/office/drawing/2014/main" id="{40CCF71F-4193-D1CA-B336-0CDC3EB4E176}"/>
                </a:ext>
              </a:extLst>
            </p:cNvPr>
            <p:cNvSpPr/>
            <p:nvPr/>
          </p:nvSpPr>
          <p:spPr>
            <a:xfrm>
              <a:off x="2328805" y="4652055"/>
              <a:ext cx="3079297" cy="1339170"/>
            </a:xfrm>
            <a:prstGeom prst="roundRect">
              <a:avLst>
                <a:gd name="adj" fmla="val 4272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5" name="Textfeld 284">
              <a:extLst>
                <a:ext uri="{FF2B5EF4-FFF2-40B4-BE49-F238E27FC236}">
                  <a16:creationId xmlns:a16="http://schemas.microsoft.com/office/drawing/2014/main" id="{D92E1FB6-2E42-0C7D-778C-F306368A0B53}"/>
                </a:ext>
              </a:extLst>
            </p:cNvPr>
            <p:cNvSpPr txBox="1"/>
            <p:nvPr/>
          </p:nvSpPr>
          <p:spPr>
            <a:xfrm>
              <a:off x="2848656" y="4720282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</a:t>
              </a:r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Profile</a:t>
              </a:r>
            </a:p>
          </p:txBody>
        </p:sp>
        <p:cxnSp>
          <p:nvCxnSpPr>
            <p:cNvPr id="286" name="Gerader Verbinder 285">
              <a:extLst>
                <a:ext uri="{FF2B5EF4-FFF2-40B4-BE49-F238E27FC236}">
                  <a16:creationId xmlns:a16="http://schemas.microsoft.com/office/drawing/2014/main" id="{2FCE9D6D-7760-F213-53F8-D446D5FD985C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149558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feld 286">
              <a:extLst>
                <a:ext uri="{FF2B5EF4-FFF2-40B4-BE49-F238E27FC236}">
                  <a16:creationId xmlns:a16="http://schemas.microsoft.com/office/drawing/2014/main" id="{92B53AD3-9237-A753-5825-BF9A3FDAB51B}"/>
                </a:ext>
              </a:extLst>
            </p:cNvPr>
            <p:cNvSpPr txBox="1"/>
            <p:nvPr/>
          </p:nvSpPr>
          <p:spPr>
            <a:xfrm>
              <a:off x="2848656" y="5187400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Skills / </a:t>
              </a:r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Categories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Textfeld 287">
              <a:extLst>
                <a:ext uri="{FF2B5EF4-FFF2-40B4-BE49-F238E27FC236}">
                  <a16:creationId xmlns:a16="http://schemas.microsoft.com/office/drawing/2014/main" id="{F1D952D4-340B-B832-7E47-37D0EEAFF973}"/>
                </a:ext>
              </a:extLst>
            </p:cNvPr>
            <p:cNvSpPr txBox="1"/>
            <p:nvPr/>
          </p:nvSpPr>
          <p:spPr>
            <a:xfrm>
              <a:off x="2848656" y="5580815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Availability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9" name="Gerader Verbinder 288">
              <a:extLst>
                <a:ext uri="{FF2B5EF4-FFF2-40B4-BE49-F238E27FC236}">
                  <a16:creationId xmlns:a16="http://schemas.microsoft.com/office/drawing/2014/main" id="{2F077428-78F6-46E1-9486-9E6B51416440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562790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90" name="Grafik 289" descr="Caretzeichen nach unten mit einfarbiger Füllung">
              <a:extLst>
                <a:ext uri="{FF2B5EF4-FFF2-40B4-BE49-F238E27FC236}">
                  <a16:creationId xmlns:a16="http://schemas.microsoft.com/office/drawing/2014/main" id="{8AE4DB08-8592-2F88-82E6-EAD2C9408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4768016"/>
              <a:ext cx="296702" cy="296702"/>
            </a:xfrm>
            <a:prstGeom prst="rect">
              <a:avLst/>
            </a:prstGeom>
          </p:spPr>
        </p:pic>
        <p:pic>
          <p:nvPicPr>
            <p:cNvPr id="291" name="Grafik 290" descr="Caretzeichen nach unten mit einfarbiger Füllung">
              <a:extLst>
                <a:ext uri="{FF2B5EF4-FFF2-40B4-BE49-F238E27FC236}">
                  <a16:creationId xmlns:a16="http://schemas.microsoft.com/office/drawing/2014/main" id="{98E2FE38-F6F1-6F0F-7E10-D82AB6BC7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5220486"/>
              <a:ext cx="296702" cy="296702"/>
            </a:xfrm>
            <a:prstGeom prst="rect">
              <a:avLst/>
            </a:prstGeom>
          </p:spPr>
        </p:pic>
        <p:pic>
          <p:nvPicPr>
            <p:cNvPr id="292" name="Grafik 291" descr="Caretzeichen nach unten mit einfarbiger Füllung">
              <a:extLst>
                <a:ext uri="{FF2B5EF4-FFF2-40B4-BE49-F238E27FC236}">
                  <a16:creationId xmlns:a16="http://schemas.microsoft.com/office/drawing/2014/main" id="{337AAA83-E4F5-9309-F52D-199B4E6FD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5616636"/>
              <a:ext cx="296702" cy="296702"/>
            </a:xfrm>
            <a:prstGeom prst="rect">
              <a:avLst/>
            </a:prstGeom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A7CCA4D-716D-F12A-2B40-FDEC9F04685A}"/>
              </a:ext>
            </a:extLst>
          </p:cNvPr>
          <p:cNvGrpSpPr/>
          <p:nvPr/>
        </p:nvGrpSpPr>
        <p:grpSpPr>
          <a:xfrm>
            <a:off x="7085293" y="2808198"/>
            <a:ext cx="1801890" cy="2179410"/>
            <a:chOff x="6993157" y="4980368"/>
            <a:chExt cx="1801890" cy="2179410"/>
          </a:xfrm>
        </p:grpSpPr>
        <p:pic>
          <p:nvPicPr>
            <p:cNvPr id="11" name="ME">
              <a:extLst>
                <a:ext uri="{FF2B5EF4-FFF2-40B4-BE49-F238E27FC236}">
                  <a16:creationId xmlns:a16="http://schemas.microsoft.com/office/drawing/2014/main" id="{0F1472B3-BB4A-988D-D5C4-5A9FFE9F7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7" name="Grafik 16" descr="Nach rechts zeigender Finger, Handrücken mit einfarbiger Füllung">
              <a:extLst>
                <a:ext uri="{FF2B5EF4-FFF2-40B4-BE49-F238E27FC236}">
                  <a16:creationId xmlns:a16="http://schemas.microsoft.com/office/drawing/2014/main" id="{259A87AE-1264-548D-D879-20F01A041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0D1AAA3B-61A5-E28A-4FFE-C1A6DD7EB26D}"/>
              </a:ext>
            </a:extLst>
          </p:cNvPr>
          <p:cNvGrpSpPr/>
          <p:nvPr/>
        </p:nvGrpSpPr>
        <p:grpSpPr>
          <a:xfrm>
            <a:off x="-6759247" y="2171080"/>
            <a:ext cx="5473470" cy="2017613"/>
            <a:chOff x="2026103" y="2110268"/>
            <a:chExt cx="4764396" cy="175623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71E5B371-A25A-06DF-C47F-A728A134BC05}"/>
                </a:ext>
              </a:extLst>
            </p:cNvPr>
            <p:cNvSpPr/>
            <p:nvPr/>
          </p:nvSpPr>
          <p:spPr>
            <a:xfrm>
              <a:off x="2026103" y="2110268"/>
              <a:ext cx="4764396" cy="175623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43413862-1F2F-9BB6-EEFE-23AF60D1B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5" t="14" r="21347" b="-14"/>
            <a:stretch>
              <a:fillRect/>
            </a:stretch>
          </p:blipFill>
          <p:spPr>
            <a:xfrm>
              <a:off x="2118631" y="2220844"/>
              <a:ext cx="4572895" cy="1550645"/>
            </a:xfrm>
            <a:prstGeom prst="roundRect">
              <a:avLst>
                <a:gd name="adj" fmla="val 2082"/>
              </a:avLst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0C95040-E597-84CF-8A77-2896004B6868}"/>
              </a:ext>
            </a:extLst>
          </p:cNvPr>
          <p:cNvGrpSpPr/>
          <p:nvPr/>
        </p:nvGrpSpPr>
        <p:grpSpPr>
          <a:xfrm>
            <a:off x="-7258149" y="1437650"/>
            <a:ext cx="3079297" cy="980472"/>
            <a:chOff x="1231443" y="1589645"/>
            <a:chExt cx="3079297" cy="980472"/>
          </a:xfrm>
        </p:grpSpPr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2CCBF5BA-CDE7-8590-3A7A-79AAE9224BDC}"/>
                </a:ext>
              </a:extLst>
            </p:cNvPr>
            <p:cNvSpPr/>
            <p:nvPr/>
          </p:nvSpPr>
          <p:spPr>
            <a:xfrm>
              <a:off x="1231443" y="1589645"/>
              <a:ext cx="3079297" cy="980472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AE42DCEC-1A98-288B-1561-9C0F7517BF45}"/>
                </a:ext>
              </a:extLst>
            </p:cNvPr>
            <p:cNvSpPr txBox="1"/>
            <p:nvPr/>
          </p:nvSpPr>
          <p:spPr>
            <a:xfrm>
              <a:off x="1231443" y="1650605"/>
              <a:ext cx="307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Outbound Port</a:t>
              </a:r>
            </a:p>
          </p:txBody>
        </p:sp>
        <p:cxnSp>
          <p:nvCxnSpPr>
            <p:cNvPr id="228" name="Gerader Verbinder 227">
              <a:extLst>
                <a:ext uri="{FF2B5EF4-FFF2-40B4-BE49-F238E27FC236}">
                  <a16:creationId xmlns:a16="http://schemas.microsoft.com/office/drawing/2014/main" id="{280C77ED-197D-00C8-8FAE-246689421168}"/>
                </a:ext>
              </a:extLst>
            </p:cNvPr>
            <p:cNvCxnSpPr>
              <a:cxnSpLocks/>
            </p:cNvCxnSpPr>
            <p:nvPr/>
          </p:nvCxnSpPr>
          <p:spPr>
            <a:xfrm>
              <a:off x="1374996" y="2079881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8BCD164E-FAAC-9A2C-E144-430BECA0502A}"/>
                </a:ext>
              </a:extLst>
            </p:cNvPr>
            <p:cNvSpPr txBox="1"/>
            <p:nvPr/>
          </p:nvSpPr>
          <p:spPr>
            <a:xfrm>
              <a:off x="1231443" y="2117723"/>
              <a:ext cx="3079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EmployeeRepository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75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96296E-6 L -0.56003 -0.226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8" y="-1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6003 -0.22639 L -0.5069 -0.0627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4857-9ED3-CB35-44AA-71ACFCAE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71733678-DE6C-AC1B-1DCC-66B9E50D22BC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509C1BF-8085-A730-BB4B-3D27D64C1BE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E398D7B-8662-48F0-9FE4-484C48EAAFF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53E68A29-2C4C-EE2A-8C8E-0479E41749B8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8C2D64D-C274-570F-7580-A26EAC4CFBCD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6CF042B3-9841-4995-E25A-B4D7D2D2B5A0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A95AA0A-BADC-0A10-EF05-AD0FC1151436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7CEFAA9D-F3D7-9559-0258-A7BFE687B57B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466C46B-A8D2-D431-6F17-EE08A13734AD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1E86889B-20C5-1DD2-8947-66FF5C3B939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4422C14-F495-D4BA-4073-64668995BDC2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56E0307-E488-9B72-9ACC-BB3A44F8CC1B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BB55ADC0-CFD2-BE89-AFD9-490DA0F119A3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!!ServiceRect">
            <a:extLst>
              <a:ext uri="{FF2B5EF4-FFF2-40B4-BE49-F238E27FC236}">
                <a16:creationId xmlns:a16="http://schemas.microsoft.com/office/drawing/2014/main" id="{A2B0C9F7-4984-E64D-9EE0-94B8E4518FE5}"/>
              </a:ext>
            </a:extLst>
          </p:cNvPr>
          <p:cNvSpPr/>
          <p:nvPr/>
        </p:nvSpPr>
        <p:spPr>
          <a:xfrm>
            <a:off x="413201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9" name="!!ServiceIcon" descr="Kellner mit einfarbiger Füllung">
            <a:extLst>
              <a:ext uri="{FF2B5EF4-FFF2-40B4-BE49-F238E27FC236}">
                <a16:creationId xmlns:a16="http://schemas.microsoft.com/office/drawing/2014/main" id="{97B21082-6186-9A3E-431F-87E0EF003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9358" y="3074797"/>
            <a:ext cx="722085" cy="722085"/>
          </a:xfrm>
          <a:prstGeom prst="rect">
            <a:avLst/>
          </a:prstGeom>
        </p:spPr>
      </p:pic>
      <p:sp>
        <p:nvSpPr>
          <p:cNvPr id="240" name="!!Service">
            <a:extLst>
              <a:ext uri="{FF2B5EF4-FFF2-40B4-BE49-F238E27FC236}">
                <a16:creationId xmlns:a16="http://schemas.microsoft.com/office/drawing/2014/main" id="{A50544B3-E799-593D-1D9D-1C1BBD62BAE1}"/>
              </a:ext>
            </a:extLst>
          </p:cNvPr>
          <p:cNvSpPr txBox="1"/>
          <p:nvPr/>
        </p:nvSpPr>
        <p:spPr>
          <a:xfrm>
            <a:off x="191856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5EAE7215-D7C4-FA43-3890-4FD5D4BAB51F}"/>
              </a:ext>
            </a:extLst>
          </p:cNvPr>
          <p:cNvGrpSpPr/>
          <p:nvPr/>
        </p:nvGrpSpPr>
        <p:grpSpPr>
          <a:xfrm>
            <a:off x="-4920400" y="2350037"/>
            <a:ext cx="4549025" cy="2837376"/>
            <a:chOff x="2026103" y="2350037"/>
            <a:chExt cx="4549025" cy="2837376"/>
          </a:xfrm>
        </p:grpSpPr>
        <p:sp>
          <p:nvSpPr>
            <p:cNvPr id="235" name="Rechteck: abgerundete Ecken 234">
              <a:extLst>
                <a:ext uri="{FF2B5EF4-FFF2-40B4-BE49-F238E27FC236}">
                  <a16:creationId xmlns:a16="http://schemas.microsoft.com/office/drawing/2014/main" id="{B3231725-3C29-A5B5-D885-D5E3A489BD8E}"/>
                </a:ext>
              </a:extLst>
            </p:cNvPr>
            <p:cNvSpPr/>
            <p:nvPr/>
          </p:nvSpPr>
          <p:spPr>
            <a:xfrm>
              <a:off x="2026103" y="2350037"/>
              <a:ext cx="4549025" cy="283737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37" name="Grafik 236">
              <a:extLst>
                <a:ext uri="{FF2B5EF4-FFF2-40B4-BE49-F238E27FC236}">
                  <a16:creationId xmlns:a16="http://schemas.microsoft.com/office/drawing/2014/main" id="{AE572A68-EA1C-7596-9379-CBAC9A831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" r="784"/>
            <a:stretch/>
          </p:blipFill>
          <p:spPr>
            <a:xfrm>
              <a:off x="2123053" y="2444558"/>
              <a:ext cx="4348662" cy="2633912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243" name="Rechteck: abgerundete Ecken 242">
            <a:extLst>
              <a:ext uri="{FF2B5EF4-FFF2-40B4-BE49-F238E27FC236}">
                <a16:creationId xmlns:a16="http://schemas.microsoft.com/office/drawing/2014/main" id="{9D32A1B7-2463-1C06-FE8D-D96D257CC531}"/>
              </a:ext>
            </a:extLst>
          </p:cNvPr>
          <p:cNvSpPr/>
          <p:nvPr/>
        </p:nvSpPr>
        <p:spPr>
          <a:xfrm>
            <a:off x="-5391106" y="1682860"/>
            <a:ext cx="3079297" cy="980472"/>
          </a:xfrm>
          <a:prstGeom prst="roundRect">
            <a:avLst>
              <a:gd name="adj" fmla="val 3884"/>
            </a:avLst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4" name="Textfeld 243">
            <a:extLst>
              <a:ext uri="{FF2B5EF4-FFF2-40B4-BE49-F238E27FC236}">
                <a16:creationId xmlns:a16="http://schemas.microsoft.com/office/drawing/2014/main" id="{29E95FC4-5BB7-CF03-6A39-56ABAEFDD3CB}"/>
              </a:ext>
            </a:extLst>
          </p:cNvPr>
          <p:cNvSpPr txBox="1"/>
          <p:nvPr/>
        </p:nvSpPr>
        <p:spPr>
          <a:xfrm>
            <a:off x="-5391106" y="1743820"/>
            <a:ext cx="307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Port</a:t>
            </a:r>
          </a:p>
        </p:txBody>
      </p: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9D032AEA-2633-8A99-FA00-35EA19F431A9}"/>
              </a:ext>
            </a:extLst>
          </p:cNvPr>
          <p:cNvCxnSpPr>
            <a:cxnSpLocks/>
          </p:cNvCxnSpPr>
          <p:nvPr/>
        </p:nvCxnSpPr>
        <p:spPr>
          <a:xfrm>
            <a:off x="-5247553" y="2173096"/>
            <a:ext cx="279218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9646D44-BB80-342E-896D-47130671AB5B}"/>
              </a:ext>
            </a:extLst>
          </p:cNvPr>
          <p:cNvSpPr txBox="1"/>
          <p:nvPr/>
        </p:nvSpPr>
        <p:spPr>
          <a:xfrm>
            <a:off x="-5391106" y="2210938"/>
            <a:ext cx="307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EmployeeDiscoveryService</a:t>
            </a:r>
            <a:endParaRPr lang="de-D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0229615-3676-649A-A576-F2D08B856203}"/>
              </a:ext>
            </a:extLst>
          </p:cNvPr>
          <p:cNvSpPr/>
          <p:nvPr/>
        </p:nvSpPr>
        <p:spPr>
          <a:xfrm>
            <a:off x="-4675744" y="3462349"/>
            <a:ext cx="3504810" cy="321499"/>
          </a:xfrm>
          <a:prstGeom prst="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!!FrontendRect">
            <a:extLst>
              <a:ext uri="{FF2B5EF4-FFF2-40B4-BE49-F238E27FC236}">
                <a16:creationId xmlns:a16="http://schemas.microsoft.com/office/drawing/2014/main" id="{60701AB3-FF63-824D-34B6-3F0855684138}"/>
              </a:ext>
            </a:extLst>
          </p:cNvPr>
          <p:cNvSpPr/>
          <p:nvPr/>
        </p:nvSpPr>
        <p:spPr>
          <a:xfrm>
            <a:off x="-468405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!!FrontendIcon" descr="Atom mit einfarbiger Füllung">
            <a:extLst>
              <a:ext uri="{FF2B5EF4-FFF2-40B4-BE49-F238E27FC236}">
                <a16:creationId xmlns:a16="http://schemas.microsoft.com/office/drawing/2014/main" id="{E2C0FCF7-16AA-0F51-3B11-02BFE7C6C1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587896" y="3074797"/>
            <a:ext cx="722085" cy="722085"/>
          </a:xfrm>
          <a:prstGeom prst="rect">
            <a:avLst/>
          </a:prstGeom>
        </p:spPr>
      </p:pic>
      <p:sp>
        <p:nvSpPr>
          <p:cNvPr id="17" name="!!Frontend">
            <a:extLst>
              <a:ext uri="{FF2B5EF4-FFF2-40B4-BE49-F238E27FC236}">
                <a16:creationId xmlns:a16="http://schemas.microsoft.com/office/drawing/2014/main" id="{35963F6A-3B5E-8957-F475-051C88B8B2C9}"/>
              </a:ext>
            </a:extLst>
          </p:cNvPr>
          <p:cNvSpPr txBox="1"/>
          <p:nvPr/>
        </p:nvSpPr>
        <p:spPr>
          <a:xfrm>
            <a:off x="-490539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18" name="!!1">
            <a:extLst>
              <a:ext uri="{FF2B5EF4-FFF2-40B4-BE49-F238E27FC236}">
                <a16:creationId xmlns:a16="http://schemas.microsoft.com/office/drawing/2014/main" id="{E52D621B-E891-3DE2-C6E7-026FE4C81D2D}"/>
              </a:ext>
            </a:extLst>
          </p:cNvPr>
          <p:cNvSpPr/>
          <p:nvPr/>
        </p:nvSpPr>
        <p:spPr>
          <a:xfrm>
            <a:off x="-3673496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!!ControllerRect">
            <a:extLst>
              <a:ext uri="{FF2B5EF4-FFF2-40B4-BE49-F238E27FC236}">
                <a16:creationId xmlns:a16="http://schemas.microsoft.com/office/drawing/2014/main" id="{5FEF908E-0492-AD42-33E5-B433F94FBC77}"/>
              </a:ext>
            </a:extLst>
          </p:cNvPr>
          <p:cNvSpPr/>
          <p:nvPr/>
        </p:nvSpPr>
        <p:spPr>
          <a:xfrm>
            <a:off x="-2997659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" name="!!ControllerIcon" descr="Gamecontroller mit einfarbiger Füllung">
            <a:extLst>
              <a:ext uri="{FF2B5EF4-FFF2-40B4-BE49-F238E27FC236}">
                <a16:creationId xmlns:a16="http://schemas.microsoft.com/office/drawing/2014/main" id="{91BCA15C-DA6E-1346-9BDD-BD765FB480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-2901502" y="3074797"/>
            <a:ext cx="722085" cy="722085"/>
          </a:xfrm>
          <a:prstGeom prst="rect">
            <a:avLst/>
          </a:prstGeom>
        </p:spPr>
      </p:pic>
      <p:sp>
        <p:nvSpPr>
          <p:cNvPr id="21" name="!!Controller">
            <a:extLst>
              <a:ext uri="{FF2B5EF4-FFF2-40B4-BE49-F238E27FC236}">
                <a16:creationId xmlns:a16="http://schemas.microsoft.com/office/drawing/2014/main" id="{7860836F-D1E7-C020-8595-CCFD040027CD}"/>
              </a:ext>
            </a:extLst>
          </p:cNvPr>
          <p:cNvSpPr txBox="1"/>
          <p:nvPr/>
        </p:nvSpPr>
        <p:spPr>
          <a:xfrm>
            <a:off x="-3219004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25" name="!!2">
            <a:extLst>
              <a:ext uri="{FF2B5EF4-FFF2-40B4-BE49-F238E27FC236}">
                <a16:creationId xmlns:a16="http://schemas.microsoft.com/office/drawing/2014/main" id="{7162808E-B3C1-935C-20E1-170DAA2EA9B0}"/>
              </a:ext>
            </a:extLst>
          </p:cNvPr>
          <p:cNvSpPr/>
          <p:nvPr/>
        </p:nvSpPr>
        <p:spPr>
          <a:xfrm>
            <a:off x="-198710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0" name="!!MapperRect">
            <a:extLst>
              <a:ext uri="{FF2B5EF4-FFF2-40B4-BE49-F238E27FC236}">
                <a16:creationId xmlns:a16="http://schemas.microsoft.com/office/drawing/2014/main" id="{5DBB16DB-D612-D850-7CBE-9BFE4ACE5D4D}"/>
              </a:ext>
            </a:extLst>
          </p:cNvPr>
          <p:cNvSpPr/>
          <p:nvPr/>
        </p:nvSpPr>
        <p:spPr>
          <a:xfrm>
            <a:off x="-1292229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8" name="!!MapperIcon" descr="Übertragen Silhouette">
            <a:extLst>
              <a:ext uri="{FF2B5EF4-FFF2-40B4-BE49-F238E27FC236}">
                <a16:creationId xmlns:a16="http://schemas.microsoft.com/office/drawing/2014/main" id="{84E6DAB5-5DE7-E3B1-5C36-FB1B0D1BF0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-1196072" y="3074797"/>
            <a:ext cx="722085" cy="722085"/>
          </a:xfrm>
          <a:prstGeom prst="rect">
            <a:avLst/>
          </a:prstGeom>
        </p:spPr>
      </p:pic>
      <p:sp>
        <p:nvSpPr>
          <p:cNvPr id="233" name="!!Mapper">
            <a:extLst>
              <a:ext uri="{FF2B5EF4-FFF2-40B4-BE49-F238E27FC236}">
                <a16:creationId xmlns:a16="http://schemas.microsoft.com/office/drawing/2014/main" id="{DEE175F3-F065-DB86-997D-AF4A6CB0974B}"/>
              </a:ext>
            </a:extLst>
          </p:cNvPr>
          <p:cNvSpPr txBox="1"/>
          <p:nvPr/>
        </p:nvSpPr>
        <p:spPr>
          <a:xfrm>
            <a:off x="-1513574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234" name="!!3">
            <a:extLst>
              <a:ext uri="{FF2B5EF4-FFF2-40B4-BE49-F238E27FC236}">
                <a16:creationId xmlns:a16="http://schemas.microsoft.com/office/drawing/2014/main" id="{F0FE37AB-D55C-7507-564A-6849D5D8E405}"/>
              </a:ext>
            </a:extLst>
          </p:cNvPr>
          <p:cNvSpPr/>
          <p:nvPr/>
        </p:nvSpPr>
        <p:spPr>
          <a:xfrm>
            <a:off x="-281672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1" name="!!4">
            <a:extLst>
              <a:ext uri="{FF2B5EF4-FFF2-40B4-BE49-F238E27FC236}">
                <a16:creationId xmlns:a16="http://schemas.microsoft.com/office/drawing/2014/main" id="{4E71A211-A4DD-DC93-447E-C9E03D648F4C}"/>
              </a:ext>
            </a:extLst>
          </p:cNvPr>
          <p:cNvSpPr/>
          <p:nvPr/>
        </p:nvSpPr>
        <p:spPr>
          <a:xfrm>
            <a:off x="1423758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9" name="!!5">
            <a:extLst>
              <a:ext uri="{FF2B5EF4-FFF2-40B4-BE49-F238E27FC236}">
                <a16:creationId xmlns:a16="http://schemas.microsoft.com/office/drawing/2014/main" id="{B132578D-02C7-74BA-4715-DB3DB398F98F}"/>
              </a:ext>
            </a:extLst>
          </p:cNvPr>
          <p:cNvSpPr/>
          <p:nvPr/>
        </p:nvSpPr>
        <p:spPr>
          <a:xfrm>
            <a:off x="10114600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0" name="!!DBRect">
            <a:extLst>
              <a:ext uri="{FF2B5EF4-FFF2-40B4-BE49-F238E27FC236}">
                <a16:creationId xmlns:a16="http://schemas.microsoft.com/office/drawing/2014/main" id="{0756F76E-CB61-5FB1-F088-D4AA9630E846}"/>
              </a:ext>
            </a:extLst>
          </p:cNvPr>
          <p:cNvSpPr/>
          <p:nvPr/>
        </p:nvSpPr>
        <p:spPr>
          <a:xfrm>
            <a:off x="10809473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1" name="!!DBIcon" descr="Datenbank mit einfarbiger Füllung">
            <a:extLst>
              <a:ext uri="{FF2B5EF4-FFF2-40B4-BE49-F238E27FC236}">
                <a16:creationId xmlns:a16="http://schemas.microsoft.com/office/drawing/2014/main" id="{56F888CB-09D1-E82D-3B30-4E5FB03DFC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905630" y="3074797"/>
            <a:ext cx="722085" cy="722085"/>
          </a:xfrm>
          <a:prstGeom prst="rect">
            <a:avLst/>
          </a:prstGeom>
        </p:spPr>
      </p:pic>
      <p:sp>
        <p:nvSpPr>
          <p:cNvPr id="252" name="!!DB">
            <a:extLst>
              <a:ext uri="{FF2B5EF4-FFF2-40B4-BE49-F238E27FC236}">
                <a16:creationId xmlns:a16="http://schemas.microsoft.com/office/drawing/2014/main" id="{5D300A94-3C57-789D-8760-C3F5FCDD6A22}"/>
              </a:ext>
            </a:extLst>
          </p:cNvPr>
          <p:cNvSpPr txBox="1"/>
          <p:nvPr/>
        </p:nvSpPr>
        <p:spPr>
          <a:xfrm>
            <a:off x="10588128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90" name="!!RepoRect">
            <a:extLst>
              <a:ext uri="{FF2B5EF4-FFF2-40B4-BE49-F238E27FC236}">
                <a16:creationId xmlns:a16="http://schemas.microsoft.com/office/drawing/2014/main" id="{A9F09EA8-0F4B-5F87-3D0B-59E6BC462A24}"/>
              </a:ext>
            </a:extLst>
          </p:cNvPr>
          <p:cNvSpPr/>
          <p:nvPr/>
        </p:nvSpPr>
        <p:spPr>
          <a:xfrm>
            <a:off x="7033920" y="1631312"/>
            <a:ext cx="3192239" cy="3278491"/>
          </a:xfrm>
          <a:prstGeom prst="roundRect">
            <a:avLst>
              <a:gd name="adj" fmla="val 5130"/>
            </a:avLst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80" name="!!RepoIcon" descr="Geöffneter Ordner mit einfarbiger Füllung">
            <a:extLst>
              <a:ext uri="{FF2B5EF4-FFF2-40B4-BE49-F238E27FC236}">
                <a16:creationId xmlns:a16="http://schemas.microsoft.com/office/drawing/2014/main" id="{EAFF06B1-B4D6-1A9A-EB21-C532F13ECF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350422" y="3406944"/>
            <a:ext cx="45719" cy="45719"/>
          </a:xfrm>
          <a:prstGeom prst="rect">
            <a:avLst/>
          </a:prstGeom>
        </p:spPr>
      </p:pic>
      <p:sp>
        <p:nvSpPr>
          <p:cNvPr id="91" name="!!Repo">
            <a:extLst>
              <a:ext uri="{FF2B5EF4-FFF2-40B4-BE49-F238E27FC236}">
                <a16:creationId xmlns:a16="http://schemas.microsoft.com/office/drawing/2014/main" id="{B5AEBAA0-C193-E850-CDD5-517374D37CE9}"/>
              </a:ext>
            </a:extLst>
          </p:cNvPr>
          <p:cNvSpPr txBox="1"/>
          <p:nvPr/>
        </p:nvSpPr>
        <p:spPr>
          <a:xfrm>
            <a:off x="7356184" y="1789986"/>
            <a:ext cx="258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79" name="!!ServiceText">
            <a:extLst>
              <a:ext uri="{FF2B5EF4-FFF2-40B4-BE49-F238E27FC236}">
                <a16:creationId xmlns:a16="http://schemas.microsoft.com/office/drawing/2014/main" id="{84DE247A-A1FE-EEC5-75CB-5D63098D7017}"/>
              </a:ext>
            </a:extLst>
          </p:cNvPr>
          <p:cNvSpPr txBox="1"/>
          <p:nvPr/>
        </p:nvSpPr>
        <p:spPr>
          <a:xfrm>
            <a:off x="170246" y="4164884"/>
            <a:ext cx="62333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</a:rPr>
              <a:t>Koordiniert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Validiert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 err="1">
                <a:noFill/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lang="de-DE" sz="100" dirty="0">
                <a:noFill/>
                <a:latin typeface="Arial" panose="020B0604020202020204" pitchFamily="34" charset="0"/>
                <a:cs typeface="Arial" panose="020B0604020202020204" pitchFamily="34" charset="0"/>
              </a:rPr>
              <a:t> Handling</a:t>
            </a:r>
          </a:p>
        </p:txBody>
      </p: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5747DD74-CCF8-D535-3494-3DA0A6AF0CF5}"/>
              </a:ext>
            </a:extLst>
          </p:cNvPr>
          <p:cNvGrpSpPr/>
          <p:nvPr/>
        </p:nvGrpSpPr>
        <p:grpSpPr>
          <a:xfrm>
            <a:off x="1922660" y="2171080"/>
            <a:ext cx="5473470" cy="2017613"/>
            <a:chOff x="2026103" y="2110268"/>
            <a:chExt cx="4764396" cy="1756236"/>
          </a:xfrm>
        </p:grpSpPr>
        <p:sp>
          <p:nvSpPr>
            <p:cNvPr id="259" name="Rechteck: abgerundete Ecken 258">
              <a:extLst>
                <a:ext uri="{FF2B5EF4-FFF2-40B4-BE49-F238E27FC236}">
                  <a16:creationId xmlns:a16="http://schemas.microsoft.com/office/drawing/2014/main" id="{74876151-7E7F-2DD1-4263-E0528DEAB20E}"/>
                </a:ext>
              </a:extLst>
            </p:cNvPr>
            <p:cNvSpPr/>
            <p:nvPr/>
          </p:nvSpPr>
          <p:spPr>
            <a:xfrm>
              <a:off x="2026103" y="2110268"/>
              <a:ext cx="4764396" cy="175623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60" name="Grafik 259">
              <a:extLst>
                <a:ext uri="{FF2B5EF4-FFF2-40B4-BE49-F238E27FC236}">
                  <a16:creationId xmlns:a16="http://schemas.microsoft.com/office/drawing/2014/main" id="{D3C5C3B1-1E8D-8C9C-60A0-68D72B5D1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5" t="14" r="21347" b="-14"/>
            <a:stretch>
              <a:fillRect/>
            </a:stretch>
          </p:blipFill>
          <p:spPr>
            <a:xfrm>
              <a:off x="2118631" y="2220844"/>
              <a:ext cx="4572895" cy="1550645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276" name="!!RepoText">
            <a:extLst>
              <a:ext uri="{FF2B5EF4-FFF2-40B4-BE49-F238E27FC236}">
                <a16:creationId xmlns:a16="http://schemas.microsoft.com/office/drawing/2014/main" id="{61BAE071-0763-2735-8FDB-54AD41DE6F62}"/>
              </a:ext>
            </a:extLst>
          </p:cNvPr>
          <p:cNvSpPr txBox="1"/>
          <p:nvPr/>
        </p:nvSpPr>
        <p:spPr>
          <a:xfrm>
            <a:off x="7356184" y="2670392"/>
            <a:ext cx="2258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Adapter nutzt </a:t>
            </a:r>
            <a:r>
              <a:rPr lang="de-DE" b="1" dirty="0"/>
              <a:t>JPA Repository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Entity spiegelt DB-Tabelle wider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7" name="Gruppieren 256">
            <a:extLst>
              <a:ext uri="{FF2B5EF4-FFF2-40B4-BE49-F238E27FC236}">
                <a16:creationId xmlns:a16="http://schemas.microsoft.com/office/drawing/2014/main" id="{8D530AA2-AA50-BD22-4F7C-9BA80452127C}"/>
              </a:ext>
            </a:extLst>
          </p:cNvPr>
          <p:cNvGrpSpPr/>
          <p:nvPr/>
        </p:nvGrpSpPr>
        <p:grpSpPr>
          <a:xfrm>
            <a:off x="1423758" y="1437650"/>
            <a:ext cx="3079297" cy="980472"/>
            <a:chOff x="1231443" y="1589645"/>
            <a:chExt cx="3079297" cy="980472"/>
          </a:xfrm>
        </p:grpSpPr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8B4D0864-733D-BCB2-F468-BAF1BA25D31B}"/>
                </a:ext>
              </a:extLst>
            </p:cNvPr>
            <p:cNvSpPr/>
            <p:nvPr/>
          </p:nvSpPr>
          <p:spPr>
            <a:xfrm>
              <a:off x="1231443" y="1589645"/>
              <a:ext cx="3079297" cy="980472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E884FCBB-02F9-1122-D41F-3BF9F55947A7}"/>
                </a:ext>
              </a:extLst>
            </p:cNvPr>
            <p:cNvSpPr txBox="1"/>
            <p:nvPr/>
          </p:nvSpPr>
          <p:spPr>
            <a:xfrm>
              <a:off x="1231443" y="1650605"/>
              <a:ext cx="307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Outbound Port</a:t>
              </a:r>
            </a:p>
          </p:txBody>
        </p: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382A6AB5-C25C-50DB-27D3-891386F74F96}"/>
                </a:ext>
              </a:extLst>
            </p:cNvPr>
            <p:cNvCxnSpPr>
              <a:cxnSpLocks/>
            </p:cNvCxnSpPr>
            <p:nvPr/>
          </p:nvCxnSpPr>
          <p:spPr>
            <a:xfrm>
              <a:off x="1374996" y="2079881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feld 255">
              <a:extLst>
                <a:ext uri="{FF2B5EF4-FFF2-40B4-BE49-F238E27FC236}">
                  <a16:creationId xmlns:a16="http://schemas.microsoft.com/office/drawing/2014/main" id="{7897CDE5-9F04-404E-70B0-2ECBF34B92CB}"/>
                </a:ext>
              </a:extLst>
            </p:cNvPr>
            <p:cNvSpPr txBox="1"/>
            <p:nvPr/>
          </p:nvSpPr>
          <p:spPr>
            <a:xfrm>
              <a:off x="1231443" y="2117723"/>
              <a:ext cx="3079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EmployeeRepository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5" name="Gruppieren 274">
            <a:extLst>
              <a:ext uri="{FF2B5EF4-FFF2-40B4-BE49-F238E27FC236}">
                <a16:creationId xmlns:a16="http://schemas.microsoft.com/office/drawing/2014/main" id="{2980CC16-8FC3-96EF-5081-EFF36E63EABC}"/>
              </a:ext>
            </a:extLst>
          </p:cNvPr>
          <p:cNvGrpSpPr/>
          <p:nvPr/>
        </p:nvGrpSpPr>
        <p:grpSpPr>
          <a:xfrm>
            <a:off x="2026103" y="4262229"/>
            <a:ext cx="3183789" cy="1841933"/>
            <a:chOff x="2224313" y="4234132"/>
            <a:chExt cx="3183789" cy="1841933"/>
          </a:xfrm>
        </p:grpSpPr>
        <p:sp>
          <p:nvSpPr>
            <p:cNvPr id="262" name="Rechteck: abgerundete Ecken 261">
              <a:extLst>
                <a:ext uri="{FF2B5EF4-FFF2-40B4-BE49-F238E27FC236}">
                  <a16:creationId xmlns:a16="http://schemas.microsoft.com/office/drawing/2014/main" id="{C5B95403-B8FC-703B-F12A-F7FB611AE4CE}"/>
                </a:ext>
              </a:extLst>
            </p:cNvPr>
            <p:cNvSpPr/>
            <p:nvPr/>
          </p:nvSpPr>
          <p:spPr>
            <a:xfrm>
              <a:off x="2224313" y="4234132"/>
              <a:ext cx="1398747" cy="1841933"/>
            </a:xfrm>
            <a:prstGeom prst="roundRect">
              <a:avLst>
                <a:gd name="adj" fmla="val 105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C8787B6F-FE33-C6F2-6A38-74CBB9DFEF69}"/>
                </a:ext>
              </a:extLst>
            </p:cNvPr>
            <p:cNvSpPr txBox="1"/>
            <p:nvPr/>
          </p:nvSpPr>
          <p:spPr>
            <a:xfrm>
              <a:off x="2233385" y="4264232"/>
              <a:ext cx="1389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Specification</a:t>
              </a:r>
              <a:endParaRPr lang="de-DE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Rechteck: abgerundete Ecken 264">
              <a:extLst>
                <a:ext uri="{FF2B5EF4-FFF2-40B4-BE49-F238E27FC236}">
                  <a16:creationId xmlns:a16="http://schemas.microsoft.com/office/drawing/2014/main" id="{1CEB39BC-084A-024A-86AC-9403196C893D}"/>
                </a:ext>
              </a:extLst>
            </p:cNvPr>
            <p:cNvSpPr/>
            <p:nvPr/>
          </p:nvSpPr>
          <p:spPr>
            <a:xfrm>
              <a:off x="2328805" y="4652055"/>
              <a:ext cx="3079297" cy="1339170"/>
            </a:xfrm>
            <a:prstGeom prst="roundRect">
              <a:avLst>
                <a:gd name="adj" fmla="val 4272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34DF8303-B0D5-BA4D-26A7-04998657EE8F}"/>
                </a:ext>
              </a:extLst>
            </p:cNvPr>
            <p:cNvSpPr txBox="1"/>
            <p:nvPr/>
          </p:nvSpPr>
          <p:spPr>
            <a:xfrm>
              <a:off x="2848656" y="4720282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</a:t>
              </a:r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Profile</a:t>
              </a:r>
            </a:p>
          </p:txBody>
        </p: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27B52999-150A-61C3-7AC8-6C3A4E0C910D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149558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feld 267">
              <a:extLst>
                <a:ext uri="{FF2B5EF4-FFF2-40B4-BE49-F238E27FC236}">
                  <a16:creationId xmlns:a16="http://schemas.microsoft.com/office/drawing/2014/main" id="{618537D3-AE77-616D-F5C0-BFC3D6B86C08}"/>
                </a:ext>
              </a:extLst>
            </p:cNvPr>
            <p:cNvSpPr txBox="1"/>
            <p:nvPr/>
          </p:nvSpPr>
          <p:spPr>
            <a:xfrm>
              <a:off x="2848656" y="5187400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Skills / </a:t>
              </a:r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Categories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9D28F4A8-A059-C5A1-1940-1E95E51D2935}"/>
                </a:ext>
              </a:extLst>
            </p:cNvPr>
            <p:cNvSpPr txBox="1"/>
            <p:nvPr/>
          </p:nvSpPr>
          <p:spPr>
            <a:xfrm>
              <a:off x="2848656" y="5580815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Availability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72EB94ED-97D1-3C06-331C-5F96DA0C1210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562790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2" name="Grafik 271" descr="Caretzeichen nach unten mit einfarbiger Füllung">
              <a:extLst>
                <a:ext uri="{FF2B5EF4-FFF2-40B4-BE49-F238E27FC236}">
                  <a16:creationId xmlns:a16="http://schemas.microsoft.com/office/drawing/2014/main" id="{26FB1357-434F-A73C-E671-FF33F9F92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51954" y="4768016"/>
              <a:ext cx="296702" cy="296702"/>
            </a:xfrm>
            <a:prstGeom prst="rect">
              <a:avLst/>
            </a:prstGeom>
          </p:spPr>
        </p:pic>
        <p:pic>
          <p:nvPicPr>
            <p:cNvPr id="273" name="Grafik 272" descr="Caretzeichen nach unten mit einfarbiger Füllung">
              <a:extLst>
                <a:ext uri="{FF2B5EF4-FFF2-40B4-BE49-F238E27FC236}">
                  <a16:creationId xmlns:a16="http://schemas.microsoft.com/office/drawing/2014/main" id="{320CBF96-52AF-0DFA-D617-D4415FB97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51954" y="5220486"/>
              <a:ext cx="296702" cy="296702"/>
            </a:xfrm>
            <a:prstGeom prst="rect">
              <a:avLst/>
            </a:prstGeom>
          </p:spPr>
        </p:pic>
        <p:pic>
          <p:nvPicPr>
            <p:cNvPr id="274" name="Grafik 273" descr="Caretzeichen nach unten mit einfarbiger Füllung">
              <a:extLst>
                <a:ext uri="{FF2B5EF4-FFF2-40B4-BE49-F238E27FC236}">
                  <a16:creationId xmlns:a16="http://schemas.microsoft.com/office/drawing/2014/main" id="{688BC484-6636-EA16-58A5-CE8B90686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51954" y="5616636"/>
              <a:ext cx="296702" cy="296702"/>
            </a:xfrm>
            <a:prstGeom prst="rect">
              <a:avLst/>
            </a:prstGeom>
          </p:spPr>
        </p:pic>
      </p:grpSp>
      <p:sp>
        <p:nvSpPr>
          <p:cNvPr id="284" name="Rechteck: abgerundete Ecken 283">
            <a:extLst>
              <a:ext uri="{FF2B5EF4-FFF2-40B4-BE49-F238E27FC236}">
                <a16:creationId xmlns:a16="http://schemas.microsoft.com/office/drawing/2014/main" id="{6FAA5569-5318-E6C5-5784-DCF89F3D07DE}"/>
              </a:ext>
            </a:extLst>
          </p:cNvPr>
          <p:cNvSpPr/>
          <p:nvPr/>
        </p:nvSpPr>
        <p:spPr>
          <a:xfrm>
            <a:off x="-4215954" y="1965728"/>
            <a:ext cx="2214267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User</a:t>
            </a:r>
          </a:p>
        </p:txBody>
      </p:sp>
      <p:sp>
        <p:nvSpPr>
          <p:cNvPr id="285" name="Rechteck: abgerundete Ecken 284">
            <a:extLst>
              <a:ext uri="{FF2B5EF4-FFF2-40B4-BE49-F238E27FC236}">
                <a16:creationId xmlns:a16="http://schemas.microsoft.com/office/drawing/2014/main" id="{F896CDAE-23F1-B601-9287-7266FC54DF11}"/>
              </a:ext>
            </a:extLst>
          </p:cNvPr>
          <p:cNvSpPr/>
          <p:nvPr/>
        </p:nvSpPr>
        <p:spPr>
          <a:xfrm>
            <a:off x="-7178426" y="3232232"/>
            <a:ext cx="2206700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EmployeeProfile</a:t>
            </a:r>
            <a:endParaRPr lang="de-DE" dirty="0"/>
          </a:p>
        </p:txBody>
      </p:sp>
      <p:sp>
        <p:nvSpPr>
          <p:cNvPr id="286" name="Rechteck: abgerundete Ecken 285">
            <a:extLst>
              <a:ext uri="{FF2B5EF4-FFF2-40B4-BE49-F238E27FC236}">
                <a16:creationId xmlns:a16="http://schemas.microsoft.com/office/drawing/2014/main" id="{9AC5404F-579E-F37D-04D9-EE4ED3D2E4BD}"/>
              </a:ext>
            </a:extLst>
          </p:cNvPr>
          <p:cNvSpPr/>
          <p:nvPr/>
        </p:nvSpPr>
        <p:spPr>
          <a:xfrm>
            <a:off x="-10247270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Position</a:t>
            </a:r>
          </a:p>
        </p:txBody>
      </p:sp>
      <p:sp>
        <p:nvSpPr>
          <p:cNvPr id="287" name="Rechteck: abgerundete Ecken 286">
            <a:extLst>
              <a:ext uri="{FF2B5EF4-FFF2-40B4-BE49-F238E27FC236}">
                <a16:creationId xmlns:a16="http://schemas.microsoft.com/office/drawing/2014/main" id="{786B45D1-B316-5537-9E7E-5C6ADA8BF193}"/>
              </a:ext>
            </a:extLst>
          </p:cNvPr>
          <p:cNvSpPr/>
          <p:nvPr/>
        </p:nvSpPr>
        <p:spPr>
          <a:xfrm>
            <a:off x="21948635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288" name="Rechteck: abgerundete Ecken 287">
            <a:extLst>
              <a:ext uri="{FF2B5EF4-FFF2-40B4-BE49-F238E27FC236}">
                <a16:creationId xmlns:a16="http://schemas.microsoft.com/office/drawing/2014/main" id="{27FF3886-1CEE-05F8-EE28-462BC346DE24}"/>
              </a:ext>
            </a:extLst>
          </p:cNvPr>
          <p:cNvSpPr/>
          <p:nvPr/>
        </p:nvSpPr>
        <p:spPr>
          <a:xfrm>
            <a:off x="17969904" y="3222608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Skill</a:t>
            </a:r>
            <a:endParaRPr lang="de-DE" dirty="0"/>
          </a:p>
        </p:txBody>
      </p:sp>
      <p:sp>
        <p:nvSpPr>
          <p:cNvPr id="289" name="Rechteck: abgerundete Ecken 288">
            <a:extLst>
              <a:ext uri="{FF2B5EF4-FFF2-40B4-BE49-F238E27FC236}">
                <a16:creationId xmlns:a16="http://schemas.microsoft.com/office/drawing/2014/main" id="{20FB9F29-D6E1-D1F9-958B-E0B23FCBFDD3}"/>
              </a:ext>
            </a:extLst>
          </p:cNvPr>
          <p:cNvSpPr/>
          <p:nvPr/>
        </p:nvSpPr>
        <p:spPr>
          <a:xfrm>
            <a:off x="14047224" y="1936193"/>
            <a:ext cx="2214267" cy="574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EmployeeSkill</a:t>
            </a:r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074F9AF-8F7D-6F15-1487-5C62FE56ED9A}"/>
              </a:ext>
            </a:extLst>
          </p:cNvPr>
          <p:cNvGrpSpPr/>
          <p:nvPr/>
        </p:nvGrpSpPr>
        <p:grpSpPr>
          <a:xfrm>
            <a:off x="7991718" y="2753482"/>
            <a:ext cx="1801890" cy="2179410"/>
            <a:chOff x="6993157" y="4980368"/>
            <a:chExt cx="1801890" cy="2179410"/>
          </a:xfrm>
        </p:grpSpPr>
        <p:pic>
          <p:nvPicPr>
            <p:cNvPr id="4" name="ME">
              <a:extLst>
                <a:ext uri="{FF2B5EF4-FFF2-40B4-BE49-F238E27FC236}">
                  <a16:creationId xmlns:a16="http://schemas.microsoft.com/office/drawing/2014/main" id="{EE96AD68-CDE1-007E-7ED7-072A6C4E5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5" name="Grafik 4" descr="Nach rechts zeigender Finger, Handrücken mit einfarbiger Füllung">
              <a:extLst>
                <a:ext uri="{FF2B5EF4-FFF2-40B4-BE49-F238E27FC236}">
                  <a16:creationId xmlns:a16="http://schemas.microsoft.com/office/drawing/2014/main" id="{2F19CA2C-FBC6-33D7-9632-6715CFA3A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1366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-0.63946 -0.2606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979" y="-1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946 -0.26065 L -0.60196 0.0673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1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ACEB-9C6B-4FFA-0F5B-4D98BCE4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C35B40A-BD39-2017-0E62-F8E027C06A2E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05EC40D-48D7-0A00-583C-D9775DB5A1C8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198FF06-845C-4059-82DE-7142C270B08D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8F30025A-927A-B5F8-0FBD-2A03237AFAC4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A39AEEC6-B841-A39E-493E-5BE17B7535CC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E7FC28CE-A88A-FB86-B800-EAB863BAAAB3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9FE4C34-9563-6848-B890-BF066D9EF843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A61415EC-A095-A280-5773-4AC9C5442A1F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REST-API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C3F0AAE-2F5A-3BB9-31B5-8B46FCFCF62C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A8C39B6D-E069-CB98-607F-93FA1C6C5838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87A6AFFD-8874-A090-26DC-AA396CB93A06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7B14141-0860-E87B-0673-2980A0B62290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5F3303E-B4BD-742A-355A-83330CEF0010}"/>
              </a:ext>
            </a:extLst>
          </p:cNvPr>
          <p:cNvSpPr/>
          <p:nvPr/>
        </p:nvSpPr>
        <p:spPr>
          <a:xfrm>
            <a:off x="6132284" y="6443695"/>
            <a:ext cx="6495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!!FrontendRect">
            <a:extLst>
              <a:ext uri="{FF2B5EF4-FFF2-40B4-BE49-F238E27FC236}">
                <a16:creationId xmlns:a16="http://schemas.microsoft.com/office/drawing/2014/main" id="{01229ED3-7E03-F005-547A-A72A2B3751DB}"/>
              </a:ext>
            </a:extLst>
          </p:cNvPr>
          <p:cNvSpPr/>
          <p:nvPr/>
        </p:nvSpPr>
        <p:spPr>
          <a:xfrm>
            <a:off x="-8742902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!!FrontendIcon" descr="Atom mit einfarbiger Füllung">
            <a:extLst>
              <a:ext uri="{FF2B5EF4-FFF2-40B4-BE49-F238E27FC236}">
                <a16:creationId xmlns:a16="http://schemas.microsoft.com/office/drawing/2014/main" id="{24904740-78E4-30F3-50FE-1EEE5DA81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646745" y="3074797"/>
            <a:ext cx="722085" cy="722085"/>
          </a:xfrm>
          <a:prstGeom prst="rect">
            <a:avLst/>
          </a:prstGeom>
        </p:spPr>
      </p:pic>
      <p:sp>
        <p:nvSpPr>
          <p:cNvPr id="5" name="!!Frontend">
            <a:extLst>
              <a:ext uri="{FF2B5EF4-FFF2-40B4-BE49-F238E27FC236}">
                <a16:creationId xmlns:a16="http://schemas.microsoft.com/office/drawing/2014/main" id="{F68E3E09-02FA-D7DF-E87D-8BC52C7A997D}"/>
              </a:ext>
            </a:extLst>
          </p:cNvPr>
          <p:cNvSpPr txBox="1"/>
          <p:nvPr/>
        </p:nvSpPr>
        <p:spPr>
          <a:xfrm>
            <a:off x="-8964247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6" name="!!1">
            <a:extLst>
              <a:ext uri="{FF2B5EF4-FFF2-40B4-BE49-F238E27FC236}">
                <a16:creationId xmlns:a16="http://schemas.microsoft.com/office/drawing/2014/main" id="{3367D940-EF8E-374D-3F6E-713ACCF223A3}"/>
              </a:ext>
            </a:extLst>
          </p:cNvPr>
          <p:cNvSpPr/>
          <p:nvPr/>
        </p:nvSpPr>
        <p:spPr>
          <a:xfrm>
            <a:off x="-7732345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!!ControllerRect">
            <a:extLst>
              <a:ext uri="{FF2B5EF4-FFF2-40B4-BE49-F238E27FC236}">
                <a16:creationId xmlns:a16="http://schemas.microsoft.com/office/drawing/2014/main" id="{BC287C1A-773C-0AA4-F8E4-67955DB87662}"/>
              </a:ext>
            </a:extLst>
          </p:cNvPr>
          <p:cNvSpPr/>
          <p:nvPr/>
        </p:nvSpPr>
        <p:spPr>
          <a:xfrm>
            <a:off x="-705650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!!ControllerIcon" descr="Gamecontroller mit einfarbiger Füllung">
            <a:extLst>
              <a:ext uri="{FF2B5EF4-FFF2-40B4-BE49-F238E27FC236}">
                <a16:creationId xmlns:a16="http://schemas.microsoft.com/office/drawing/2014/main" id="{CE98F348-89F5-744B-9D41-C3C6408A4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-6960351" y="3074797"/>
            <a:ext cx="722085" cy="722085"/>
          </a:xfrm>
          <a:prstGeom prst="rect">
            <a:avLst/>
          </a:prstGeom>
        </p:spPr>
      </p:pic>
      <p:sp>
        <p:nvSpPr>
          <p:cNvPr id="9" name="!!Controller">
            <a:extLst>
              <a:ext uri="{FF2B5EF4-FFF2-40B4-BE49-F238E27FC236}">
                <a16:creationId xmlns:a16="http://schemas.microsoft.com/office/drawing/2014/main" id="{25C339B0-6594-00CE-DA6A-36347467EECF}"/>
              </a:ext>
            </a:extLst>
          </p:cNvPr>
          <p:cNvSpPr txBox="1"/>
          <p:nvPr/>
        </p:nvSpPr>
        <p:spPr>
          <a:xfrm>
            <a:off x="-727785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</a:p>
        </p:txBody>
      </p:sp>
      <p:sp>
        <p:nvSpPr>
          <p:cNvPr id="12" name="!!2">
            <a:extLst>
              <a:ext uri="{FF2B5EF4-FFF2-40B4-BE49-F238E27FC236}">
                <a16:creationId xmlns:a16="http://schemas.microsoft.com/office/drawing/2014/main" id="{18CDE6FB-F0F5-20EF-076B-93FBE6873F9B}"/>
              </a:ext>
            </a:extLst>
          </p:cNvPr>
          <p:cNvSpPr/>
          <p:nvPr/>
        </p:nvSpPr>
        <p:spPr>
          <a:xfrm>
            <a:off x="-604595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!!MapperRect">
            <a:extLst>
              <a:ext uri="{FF2B5EF4-FFF2-40B4-BE49-F238E27FC236}">
                <a16:creationId xmlns:a16="http://schemas.microsoft.com/office/drawing/2014/main" id="{AFD231D1-CA30-C7EE-2E53-87EAB222B488}"/>
              </a:ext>
            </a:extLst>
          </p:cNvPr>
          <p:cNvSpPr/>
          <p:nvPr/>
        </p:nvSpPr>
        <p:spPr>
          <a:xfrm>
            <a:off x="-535107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!!MapperIcon" descr="Übertragen Silhouette">
            <a:extLst>
              <a:ext uri="{FF2B5EF4-FFF2-40B4-BE49-F238E27FC236}">
                <a16:creationId xmlns:a16="http://schemas.microsoft.com/office/drawing/2014/main" id="{83BB5320-0B92-CCC1-8403-B593559F61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-5254921" y="3074797"/>
            <a:ext cx="722085" cy="722085"/>
          </a:xfrm>
          <a:prstGeom prst="rect">
            <a:avLst/>
          </a:prstGeom>
        </p:spPr>
      </p:pic>
      <p:sp>
        <p:nvSpPr>
          <p:cNvPr id="15" name="!!Mapper">
            <a:extLst>
              <a:ext uri="{FF2B5EF4-FFF2-40B4-BE49-F238E27FC236}">
                <a16:creationId xmlns:a16="http://schemas.microsoft.com/office/drawing/2014/main" id="{27FBFA18-6D1B-267D-3AAC-097A5233E072}"/>
              </a:ext>
            </a:extLst>
          </p:cNvPr>
          <p:cNvSpPr txBox="1"/>
          <p:nvPr/>
        </p:nvSpPr>
        <p:spPr>
          <a:xfrm>
            <a:off x="-557242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Mapper</a:t>
            </a:r>
          </a:p>
        </p:txBody>
      </p:sp>
      <p:sp>
        <p:nvSpPr>
          <p:cNvPr id="16" name="!!3">
            <a:extLst>
              <a:ext uri="{FF2B5EF4-FFF2-40B4-BE49-F238E27FC236}">
                <a16:creationId xmlns:a16="http://schemas.microsoft.com/office/drawing/2014/main" id="{3DC1E727-6A5D-E925-D854-F545C341F74B}"/>
              </a:ext>
            </a:extLst>
          </p:cNvPr>
          <p:cNvSpPr/>
          <p:nvPr/>
        </p:nvSpPr>
        <p:spPr>
          <a:xfrm>
            <a:off x="-434052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!!ServiceRect">
            <a:extLst>
              <a:ext uri="{FF2B5EF4-FFF2-40B4-BE49-F238E27FC236}">
                <a16:creationId xmlns:a16="http://schemas.microsoft.com/office/drawing/2014/main" id="{5D949B4A-F787-7B4F-E549-446AA3FCB0F8}"/>
              </a:ext>
            </a:extLst>
          </p:cNvPr>
          <p:cNvSpPr/>
          <p:nvPr/>
        </p:nvSpPr>
        <p:spPr>
          <a:xfrm>
            <a:off x="-364564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4" name="!!ServiceIcon" descr="Kellner mit einfarbiger Füllung">
            <a:extLst>
              <a:ext uri="{FF2B5EF4-FFF2-40B4-BE49-F238E27FC236}">
                <a16:creationId xmlns:a16="http://schemas.microsoft.com/office/drawing/2014/main" id="{163A4A56-7D2C-94F5-D9D8-1631AAEF5E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-3549491" y="3074797"/>
            <a:ext cx="722085" cy="722085"/>
          </a:xfrm>
          <a:prstGeom prst="rect">
            <a:avLst/>
          </a:prstGeom>
        </p:spPr>
      </p:pic>
      <p:sp>
        <p:nvSpPr>
          <p:cNvPr id="225" name="!!Service">
            <a:extLst>
              <a:ext uri="{FF2B5EF4-FFF2-40B4-BE49-F238E27FC236}">
                <a16:creationId xmlns:a16="http://schemas.microsoft.com/office/drawing/2014/main" id="{C46FEC91-A543-3A0D-397C-1BAD2661B250}"/>
              </a:ext>
            </a:extLst>
          </p:cNvPr>
          <p:cNvSpPr txBox="1"/>
          <p:nvPr/>
        </p:nvSpPr>
        <p:spPr>
          <a:xfrm>
            <a:off x="-386699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226" name="!!4">
            <a:extLst>
              <a:ext uri="{FF2B5EF4-FFF2-40B4-BE49-F238E27FC236}">
                <a16:creationId xmlns:a16="http://schemas.microsoft.com/office/drawing/2014/main" id="{78B4EE13-2374-077C-A0E7-8C744FB99F7B}"/>
              </a:ext>
            </a:extLst>
          </p:cNvPr>
          <p:cNvSpPr/>
          <p:nvPr/>
        </p:nvSpPr>
        <p:spPr>
          <a:xfrm>
            <a:off x="-263509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7" name="!!RepoRect">
            <a:extLst>
              <a:ext uri="{FF2B5EF4-FFF2-40B4-BE49-F238E27FC236}">
                <a16:creationId xmlns:a16="http://schemas.microsoft.com/office/drawing/2014/main" id="{87E55C61-DD33-C3BC-9672-C64B10E05389}"/>
              </a:ext>
            </a:extLst>
          </p:cNvPr>
          <p:cNvSpPr/>
          <p:nvPr/>
        </p:nvSpPr>
        <p:spPr>
          <a:xfrm>
            <a:off x="-1940218" y="2976100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!!RepoText">
            <a:extLst>
              <a:ext uri="{FF2B5EF4-FFF2-40B4-BE49-F238E27FC236}">
                <a16:creationId xmlns:a16="http://schemas.microsoft.com/office/drawing/2014/main" id="{B2215A0B-A0E4-28F9-343F-7E5A9AE99832}"/>
              </a:ext>
            </a:extLst>
          </p:cNvPr>
          <p:cNvSpPr txBox="1"/>
          <p:nvPr/>
        </p:nvSpPr>
        <p:spPr>
          <a:xfrm>
            <a:off x="-2290150" y="4310445"/>
            <a:ext cx="2258813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</a:rPr>
              <a:t>Adapter nutzt </a:t>
            </a:r>
            <a:r>
              <a:rPr lang="de-DE" sz="100" b="1" dirty="0">
                <a:noFill/>
              </a:rPr>
              <a:t>JPA Repository</a:t>
            </a:r>
            <a:endParaRPr lang="de-DE" sz="100" dirty="0">
              <a:noFill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0" dirty="0">
                <a:noFill/>
              </a:rPr>
              <a:t>Entity spiegelt DB-Tabelle wider</a:t>
            </a:r>
            <a:endParaRPr lang="de-DE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9" name="!!RepoIcon" descr="Geöffneter Ordner mit einfarbiger Füllung">
            <a:extLst>
              <a:ext uri="{FF2B5EF4-FFF2-40B4-BE49-F238E27FC236}">
                <a16:creationId xmlns:a16="http://schemas.microsoft.com/office/drawing/2014/main" id="{06D67DC3-087E-7113-030A-07C78B5FC8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-1844061" y="3074797"/>
            <a:ext cx="722085" cy="722085"/>
          </a:xfrm>
          <a:prstGeom prst="rect">
            <a:avLst/>
          </a:prstGeom>
        </p:spPr>
      </p:pic>
      <p:sp>
        <p:nvSpPr>
          <p:cNvPr id="230" name="!!Repo">
            <a:extLst>
              <a:ext uri="{FF2B5EF4-FFF2-40B4-BE49-F238E27FC236}">
                <a16:creationId xmlns:a16="http://schemas.microsoft.com/office/drawing/2014/main" id="{EB0847C1-34DE-4EB2-5D9D-A01322771377}"/>
              </a:ext>
            </a:extLst>
          </p:cNvPr>
          <p:cNvSpPr txBox="1"/>
          <p:nvPr/>
        </p:nvSpPr>
        <p:spPr>
          <a:xfrm>
            <a:off x="-2161563" y="3895579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231" name="!!5">
            <a:extLst>
              <a:ext uri="{FF2B5EF4-FFF2-40B4-BE49-F238E27FC236}">
                <a16:creationId xmlns:a16="http://schemas.microsoft.com/office/drawing/2014/main" id="{19A080B5-2F3B-E962-F3DD-348A4BADD51B}"/>
              </a:ext>
            </a:extLst>
          </p:cNvPr>
          <p:cNvSpPr/>
          <p:nvPr/>
        </p:nvSpPr>
        <p:spPr>
          <a:xfrm>
            <a:off x="-929661" y="3165587"/>
            <a:ext cx="602345" cy="574152"/>
          </a:xfrm>
          <a:prstGeom prst="rightArrow">
            <a:avLst/>
          </a:prstGeom>
          <a:gradFill>
            <a:gsLst>
              <a:gs pos="47000">
                <a:srgbClr val="E87C96"/>
              </a:gs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2" name="!!DBRect">
            <a:extLst>
              <a:ext uri="{FF2B5EF4-FFF2-40B4-BE49-F238E27FC236}">
                <a16:creationId xmlns:a16="http://schemas.microsoft.com/office/drawing/2014/main" id="{ECB01ABA-073D-0E84-7334-5C273C88CC49}"/>
              </a:ext>
            </a:extLst>
          </p:cNvPr>
          <p:cNvSpPr/>
          <p:nvPr/>
        </p:nvSpPr>
        <p:spPr>
          <a:xfrm>
            <a:off x="5675085" y="2702124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8" name="!!DBIcon" descr="Datenbank mit einfarbiger Füllung">
            <a:extLst>
              <a:ext uri="{FF2B5EF4-FFF2-40B4-BE49-F238E27FC236}">
                <a16:creationId xmlns:a16="http://schemas.microsoft.com/office/drawing/2014/main" id="{20611D27-F874-5197-2BA1-1C08FDAA9B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5771242" y="2800821"/>
            <a:ext cx="722085" cy="722085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86E656-29FD-6FC9-5A7E-CE57D3684DF0}"/>
              </a:ext>
            </a:extLst>
          </p:cNvPr>
          <p:cNvGrpSpPr/>
          <p:nvPr/>
        </p:nvGrpSpPr>
        <p:grpSpPr>
          <a:xfrm>
            <a:off x="-5849906" y="2171080"/>
            <a:ext cx="5473470" cy="2017613"/>
            <a:chOff x="2026103" y="2110268"/>
            <a:chExt cx="4764396" cy="1756236"/>
          </a:xfrm>
        </p:grpSpPr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8963BB79-CF3E-6D84-C9BD-F251324E42D8}"/>
                </a:ext>
              </a:extLst>
            </p:cNvPr>
            <p:cNvSpPr/>
            <p:nvPr/>
          </p:nvSpPr>
          <p:spPr>
            <a:xfrm>
              <a:off x="2026103" y="2110268"/>
              <a:ext cx="4764396" cy="1756236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AA2C63DE-414C-E691-9101-AC84EF1C6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5" t="14" r="21347" b="-14"/>
            <a:stretch>
              <a:fillRect/>
            </a:stretch>
          </p:blipFill>
          <p:spPr>
            <a:xfrm>
              <a:off x="2118631" y="2220844"/>
              <a:ext cx="4572895" cy="1550645"/>
            </a:xfrm>
            <a:prstGeom prst="roundRect">
              <a:avLst>
                <a:gd name="adj" fmla="val 2082"/>
              </a:avLst>
            </a:prstGeom>
          </p:spPr>
        </p:pic>
      </p:grpSp>
      <p:sp>
        <p:nvSpPr>
          <p:cNvPr id="242" name="!!DB">
            <a:extLst>
              <a:ext uri="{FF2B5EF4-FFF2-40B4-BE49-F238E27FC236}">
                <a16:creationId xmlns:a16="http://schemas.microsoft.com/office/drawing/2014/main" id="{8CD92408-1695-72E8-29DC-E880F3B7C007}"/>
              </a:ext>
            </a:extLst>
          </p:cNvPr>
          <p:cNvSpPr txBox="1"/>
          <p:nvPr/>
        </p:nvSpPr>
        <p:spPr>
          <a:xfrm>
            <a:off x="5453740" y="3621603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grpSp>
        <p:nvGrpSpPr>
          <p:cNvPr id="257" name="Gruppieren 256">
            <a:extLst>
              <a:ext uri="{FF2B5EF4-FFF2-40B4-BE49-F238E27FC236}">
                <a16:creationId xmlns:a16="http://schemas.microsoft.com/office/drawing/2014/main" id="{A400A814-9486-635A-CAE3-09018C8C48E8}"/>
              </a:ext>
            </a:extLst>
          </p:cNvPr>
          <p:cNvGrpSpPr/>
          <p:nvPr/>
        </p:nvGrpSpPr>
        <p:grpSpPr>
          <a:xfrm>
            <a:off x="-6167214" y="1437650"/>
            <a:ext cx="3079297" cy="980472"/>
            <a:chOff x="1231443" y="1589645"/>
            <a:chExt cx="3079297" cy="980472"/>
          </a:xfrm>
        </p:grpSpPr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1A79A99C-B753-685C-BB38-505095CA6EBD}"/>
                </a:ext>
              </a:extLst>
            </p:cNvPr>
            <p:cNvSpPr/>
            <p:nvPr/>
          </p:nvSpPr>
          <p:spPr>
            <a:xfrm>
              <a:off x="1231443" y="1589645"/>
              <a:ext cx="3079297" cy="980472"/>
            </a:xfrm>
            <a:prstGeom prst="roundRect">
              <a:avLst>
                <a:gd name="adj" fmla="val 3884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77142A81-46A9-6FD7-461F-C45DAFF458A3}"/>
                </a:ext>
              </a:extLst>
            </p:cNvPr>
            <p:cNvSpPr txBox="1"/>
            <p:nvPr/>
          </p:nvSpPr>
          <p:spPr>
            <a:xfrm>
              <a:off x="1231443" y="1650605"/>
              <a:ext cx="307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Outbound Port</a:t>
              </a:r>
            </a:p>
          </p:txBody>
        </p: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19A748B9-786C-15CB-845F-24F26FA5F1B7}"/>
                </a:ext>
              </a:extLst>
            </p:cNvPr>
            <p:cNvCxnSpPr>
              <a:cxnSpLocks/>
            </p:cNvCxnSpPr>
            <p:nvPr/>
          </p:nvCxnSpPr>
          <p:spPr>
            <a:xfrm>
              <a:off x="1374996" y="2079881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feld 255">
              <a:extLst>
                <a:ext uri="{FF2B5EF4-FFF2-40B4-BE49-F238E27FC236}">
                  <a16:creationId xmlns:a16="http://schemas.microsoft.com/office/drawing/2014/main" id="{6D473727-A02C-24A1-EAB5-84BB92E3F7F4}"/>
                </a:ext>
              </a:extLst>
            </p:cNvPr>
            <p:cNvSpPr txBox="1"/>
            <p:nvPr/>
          </p:nvSpPr>
          <p:spPr>
            <a:xfrm>
              <a:off x="1231443" y="2117723"/>
              <a:ext cx="3079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EmployeeRepository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5" name="Gruppieren 274">
            <a:extLst>
              <a:ext uri="{FF2B5EF4-FFF2-40B4-BE49-F238E27FC236}">
                <a16:creationId xmlns:a16="http://schemas.microsoft.com/office/drawing/2014/main" id="{D10664FD-BEF4-5809-90DD-511A3FFC9142}"/>
              </a:ext>
            </a:extLst>
          </p:cNvPr>
          <p:cNvGrpSpPr/>
          <p:nvPr/>
        </p:nvGrpSpPr>
        <p:grpSpPr>
          <a:xfrm>
            <a:off x="-5564869" y="4262229"/>
            <a:ext cx="3183789" cy="1841933"/>
            <a:chOff x="2224313" y="4234132"/>
            <a:chExt cx="3183789" cy="1841933"/>
          </a:xfrm>
        </p:grpSpPr>
        <p:sp>
          <p:nvSpPr>
            <p:cNvPr id="262" name="Rechteck: abgerundete Ecken 261">
              <a:extLst>
                <a:ext uri="{FF2B5EF4-FFF2-40B4-BE49-F238E27FC236}">
                  <a16:creationId xmlns:a16="http://schemas.microsoft.com/office/drawing/2014/main" id="{5494779F-CA04-3731-8193-7279B31EE0C1}"/>
                </a:ext>
              </a:extLst>
            </p:cNvPr>
            <p:cNvSpPr/>
            <p:nvPr/>
          </p:nvSpPr>
          <p:spPr>
            <a:xfrm>
              <a:off x="2224313" y="4234132"/>
              <a:ext cx="1398747" cy="1841933"/>
            </a:xfrm>
            <a:prstGeom prst="roundRect">
              <a:avLst>
                <a:gd name="adj" fmla="val 1053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1604D844-276D-EF63-3FA9-06FE3C6ECD80}"/>
                </a:ext>
              </a:extLst>
            </p:cNvPr>
            <p:cNvSpPr txBox="1"/>
            <p:nvPr/>
          </p:nvSpPr>
          <p:spPr>
            <a:xfrm>
              <a:off x="2233385" y="4264232"/>
              <a:ext cx="1389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Specification</a:t>
              </a:r>
              <a:endParaRPr lang="de-DE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Rechteck: abgerundete Ecken 264">
              <a:extLst>
                <a:ext uri="{FF2B5EF4-FFF2-40B4-BE49-F238E27FC236}">
                  <a16:creationId xmlns:a16="http://schemas.microsoft.com/office/drawing/2014/main" id="{7575787C-B1AA-6731-57EA-6D0D0B2CF350}"/>
                </a:ext>
              </a:extLst>
            </p:cNvPr>
            <p:cNvSpPr/>
            <p:nvPr/>
          </p:nvSpPr>
          <p:spPr>
            <a:xfrm>
              <a:off x="2328805" y="4652055"/>
              <a:ext cx="3079297" cy="1339170"/>
            </a:xfrm>
            <a:prstGeom prst="roundRect">
              <a:avLst>
                <a:gd name="adj" fmla="val 4272"/>
              </a:avLst>
            </a:prstGeom>
            <a:solidFill>
              <a:schemeClr val="tx1"/>
            </a:solidFill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F02337C4-87D2-6E2F-A483-DD90D5EA8FD4}"/>
                </a:ext>
              </a:extLst>
            </p:cNvPr>
            <p:cNvSpPr txBox="1"/>
            <p:nvPr/>
          </p:nvSpPr>
          <p:spPr>
            <a:xfrm>
              <a:off x="2848656" y="4720282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</a:t>
              </a:r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Profile</a:t>
              </a:r>
            </a:p>
          </p:txBody>
        </p: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2BC37A0B-8730-FD60-87B7-FB0361C8E638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149558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feld 267">
              <a:extLst>
                <a:ext uri="{FF2B5EF4-FFF2-40B4-BE49-F238E27FC236}">
                  <a16:creationId xmlns:a16="http://schemas.microsoft.com/office/drawing/2014/main" id="{90F3ED12-4B09-606A-A2E8-AC46F53914E9}"/>
                </a:ext>
              </a:extLst>
            </p:cNvPr>
            <p:cNvSpPr txBox="1"/>
            <p:nvPr/>
          </p:nvSpPr>
          <p:spPr>
            <a:xfrm>
              <a:off x="2848656" y="5187400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Skills / </a:t>
              </a:r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Categories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DEDCFDCA-F0C5-56C9-E5EC-75214CAA9072}"/>
                </a:ext>
              </a:extLst>
            </p:cNvPr>
            <p:cNvSpPr txBox="1"/>
            <p:nvPr/>
          </p:nvSpPr>
          <p:spPr>
            <a:xfrm>
              <a:off x="2848656" y="5580815"/>
              <a:ext cx="2559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Availability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1C2F624B-12A2-F18C-C5F1-19DC134E949C}"/>
                </a:ext>
              </a:extLst>
            </p:cNvPr>
            <p:cNvCxnSpPr>
              <a:cxnSpLocks/>
            </p:cNvCxnSpPr>
            <p:nvPr/>
          </p:nvCxnSpPr>
          <p:spPr>
            <a:xfrm>
              <a:off x="2440438" y="5562790"/>
              <a:ext cx="2792187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2" name="Grafik 271" descr="Caretzeichen nach unten mit einfarbiger Füllung">
              <a:extLst>
                <a:ext uri="{FF2B5EF4-FFF2-40B4-BE49-F238E27FC236}">
                  <a16:creationId xmlns:a16="http://schemas.microsoft.com/office/drawing/2014/main" id="{AE1321E2-9426-0CF0-9174-645144559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4768016"/>
              <a:ext cx="296702" cy="296702"/>
            </a:xfrm>
            <a:prstGeom prst="rect">
              <a:avLst/>
            </a:prstGeom>
          </p:spPr>
        </p:pic>
        <p:pic>
          <p:nvPicPr>
            <p:cNvPr id="273" name="Grafik 272" descr="Caretzeichen nach unten mit einfarbiger Füllung">
              <a:extLst>
                <a:ext uri="{FF2B5EF4-FFF2-40B4-BE49-F238E27FC236}">
                  <a16:creationId xmlns:a16="http://schemas.microsoft.com/office/drawing/2014/main" id="{4F37C4B8-53F4-6EF8-846B-962FF4787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5220486"/>
              <a:ext cx="296702" cy="296702"/>
            </a:xfrm>
            <a:prstGeom prst="rect">
              <a:avLst/>
            </a:prstGeom>
          </p:spPr>
        </p:pic>
        <p:pic>
          <p:nvPicPr>
            <p:cNvPr id="274" name="Grafik 273" descr="Caretzeichen nach unten mit einfarbiger Füllung">
              <a:extLst>
                <a:ext uri="{FF2B5EF4-FFF2-40B4-BE49-F238E27FC236}">
                  <a16:creationId xmlns:a16="http://schemas.microsoft.com/office/drawing/2014/main" id="{02998C5E-201B-8D60-4A39-CFDF1BA53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51954" y="5616636"/>
              <a:ext cx="296702" cy="296702"/>
            </a:xfrm>
            <a:prstGeom prst="rect">
              <a:avLst/>
            </a:prstGeom>
          </p:spPr>
        </p:pic>
      </p:grp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8A8235DB-493B-0213-3774-55D093CECD08}"/>
              </a:ext>
            </a:extLst>
          </p:cNvPr>
          <p:cNvSpPr/>
          <p:nvPr/>
        </p:nvSpPr>
        <p:spPr>
          <a:xfrm>
            <a:off x="963827" y="1965728"/>
            <a:ext cx="2214267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User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E7F3FFD0-C752-5E43-4ED9-46B7167774D5}"/>
              </a:ext>
            </a:extLst>
          </p:cNvPr>
          <p:cNvSpPr/>
          <p:nvPr/>
        </p:nvSpPr>
        <p:spPr>
          <a:xfrm>
            <a:off x="1677864" y="3232232"/>
            <a:ext cx="2206700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EmployeeProfile</a:t>
            </a:r>
            <a:endParaRPr lang="de-DE" dirty="0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38BFBEF8-9854-635C-659A-57BE7B91BD0F}"/>
              </a:ext>
            </a:extLst>
          </p:cNvPr>
          <p:cNvSpPr/>
          <p:nvPr/>
        </p:nvSpPr>
        <p:spPr>
          <a:xfrm>
            <a:off x="2461635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Position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22B1269-2A20-C1AC-8936-B5D5A3D03EE0}"/>
              </a:ext>
            </a:extLst>
          </p:cNvPr>
          <p:cNvSpPr/>
          <p:nvPr/>
        </p:nvSpPr>
        <p:spPr>
          <a:xfrm>
            <a:off x="7523667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5FAB7424-05BE-270A-1BC8-0CE2FFBBD2D2}"/>
              </a:ext>
            </a:extLst>
          </p:cNvPr>
          <p:cNvSpPr/>
          <p:nvPr/>
        </p:nvSpPr>
        <p:spPr>
          <a:xfrm>
            <a:off x="8307436" y="3222608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Skill</a:t>
            </a:r>
            <a:endParaRPr lang="de-DE" dirty="0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65CE3D75-A10A-CCE4-B794-1F4C628A2FC4}"/>
              </a:ext>
            </a:extLst>
          </p:cNvPr>
          <p:cNvSpPr/>
          <p:nvPr/>
        </p:nvSpPr>
        <p:spPr>
          <a:xfrm>
            <a:off x="9013906" y="1936193"/>
            <a:ext cx="2214267" cy="574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EmployeeSkill</a:t>
            </a:r>
            <a:endParaRPr lang="de-DE" dirty="0"/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4D3E125-E26F-4BD3-784E-4D434257EF35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2070961" y="2540001"/>
            <a:ext cx="710253" cy="6922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750BB39-A02F-F4A7-9E68-2ECE676BAB4A}"/>
              </a:ext>
            </a:extLst>
          </p:cNvPr>
          <p:cNvCxnSpPr>
            <a:stCxn id="38" idx="0"/>
            <a:endCxn id="37" idx="2"/>
          </p:cNvCxnSpPr>
          <p:nvPr/>
        </p:nvCxnSpPr>
        <p:spPr>
          <a:xfrm flipH="1" flipV="1">
            <a:off x="2781214" y="3806505"/>
            <a:ext cx="783771" cy="7443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4B45B455-C027-98AF-7A63-3FAC1F81DD80}"/>
              </a:ext>
            </a:extLst>
          </p:cNvPr>
          <p:cNvCxnSpPr>
            <a:cxnSpLocks/>
            <a:stCxn id="40" idx="0"/>
            <a:endCxn id="37" idx="2"/>
          </p:cNvCxnSpPr>
          <p:nvPr/>
        </p:nvCxnSpPr>
        <p:spPr>
          <a:xfrm flipH="1" flipV="1">
            <a:off x="2781214" y="3806505"/>
            <a:ext cx="5845803" cy="7443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8B2D202-E3D3-AF34-A451-9974570A887A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flipV="1">
            <a:off x="9410786" y="2510465"/>
            <a:ext cx="710254" cy="7121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C663AB6-50C7-A237-3042-4A7884B98A19}"/>
              </a:ext>
            </a:extLst>
          </p:cNvPr>
          <p:cNvGrpSpPr/>
          <p:nvPr/>
        </p:nvGrpSpPr>
        <p:grpSpPr>
          <a:xfrm>
            <a:off x="5444829" y="492110"/>
            <a:ext cx="1801890" cy="2179410"/>
            <a:chOff x="6993157" y="4980368"/>
            <a:chExt cx="1801890" cy="2179410"/>
          </a:xfrm>
        </p:grpSpPr>
        <p:pic>
          <p:nvPicPr>
            <p:cNvPr id="20" name="ME">
              <a:extLst>
                <a:ext uri="{FF2B5EF4-FFF2-40B4-BE49-F238E27FC236}">
                  <a16:creationId xmlns:a16="http://schemas.microsoft.com/office/drawing/2014/main" id="{A2D761AE-AE70-E8CA-9726-C2361DCB2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21" name="Grafik 20" descr="Nach rechts zeigender Finger, Handrücken mit einfarbiger Füllung">
              <a:extLst>
                <a:ext uri="{FF2B5EF4-FFF2-40B4-BE49-F238E27FC236}">
                  <a16:creationId xmlns:a16="http://schemas.microsoft.com/office/drawing/2014/main" id="{959D8082-6EBF-A460-7DEF-F83C0C665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069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44444E-6 L -0.4414 0.090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70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14 0.09097 L -0.40807 0.283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807 0.2831 L 0.18659 0.0620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27" y="-1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0100-6D9B-EAC6-8FCC-B7ED67E9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A6395BC-DD0B-3D36-E64E-10B8FD06B6E5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CC958EA-8C82-F158-1D09-56CE0692F0D8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5DDA987A-8A07-4CF6-12CF-110DDCCB4F0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5577D4E-81E2-B626-59DE-B79C72151765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149169D-8427-6C2C-F24D-108E81212B5F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57AB795-C13D-7441-AD9B-2B2A25F7D0DE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82112F7-C519-4554-B219-9C3256C018F3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D7A82BAD-A59E-0264-297D-C976D62E452C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Security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6E644DF-C8AD-5F80-43DB-D37333E999E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AA300534-5B60-CFF8-4B65-FEB91582A9E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FDCB1671-12E9-58FD-89FC-032CA356177B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8E41360-E73F-C655-2EBA-E1A452C23709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58D27599-BFD0-526E-BEED-5A3906C1481F}"/>
              </a:ext>
            </a:extLst>
          </p:cNvPr>
          <p:cNvSpPr/>
          <p:nvPr/>
        </p:nvSpPr>
        <p:spPr>
          <a:xfrm>
            <a:off x="6132284" y="6443695"/>
            <a:ext cx="92166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09E25092-2278-6733-92EA-AE3BCEFC6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7100" y="1766887"/>
            <a:ext cx="5257800" cy="3324225"/>
          </a:xfrm>
          <a:prstGeom prst="rect">
            <a:avLst/>
          </a:prstGeom>
        </p:spPr>
      </p:pic>
      <p:sp>
        <p:nvSpPr>
          <p:cNvPr id="228" name="!!DBRect">
            <a:extLst>
              <a:ext uri="{FF2B5EF4-FFF2-40B4-BE49-F238E27FC236}">
                <a16:creationId xmlns:a16="http://schemas.microsoft.com/office/drawing/2014/main" id="{43AF252B-EF6A-98C3-5EAC-726AB886632E}"/>
              </a:ext>
            </a:extLst>
          </p:cNvPr>
          <p:cNvSpPr/>
          <p:nvPr/>
        </p:nvSpPr>
        <p:spPr>
          <a:xfrm>
            <a:off x="17714685" y="2702124"/>
            <a:ext cx="914400" cy="91948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0" name="!!DBIcon" descr="Datenbank mit einfarbiger Füllung">
            <a:extLst>
              <a:ext uri="{FF2B5EF4-FFF2-40B4-BE49-F238E27FC236}">
                <a16:creationId xmlns:a16="http://schemas.microsoft.com/office/drawing/2014/main" id="{2E3EE1A7-642E-599A-FD30-5709230132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810842" y="2800821"/>
            <a:ext cx="722085" cy="722085"/>
          </a:xfrm>
          <a:prstGeom prst="rect">
            <a:avLst/>
          </a:prstGeom>
        </p:spPr>
      </p:pic>
      <p:sp>
        <p:nvSpPr>
          <p:cNvPr id="231" name="!!DB">
            <a:extLst>
              <a:ext uri="{FF2B5EF4-FFF2-40B4-BE49-F238E27FC236}">
                <a16:creationId xmlns:a16="http://schemas.microsoft.com/office/drawing/2014/main" id="{CA43BD88-B1B9-24B3-8D22-253A2B78DC9B}"/>
              </a:ext>
            </a:extLst>
          </p:cNvPr>
          <p:cNvSpPr txBox="1"/>
          <p:nvPr/>
        </p:nvSpPr>
        <p:spPr>
          <a:xfrm>
            <a:off x="17493340" y="3621603"/>
            <a:ext cx="13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Datenbank</a:t>
            </a:r>
          </a:p>
        </p:txBody>
      </p:sp>
      <p:sp>
        <p:nvSpPr>
          <p:cNvPr id="232" name="Rechteck: abgerundete Ecken 231">
            <a:extLst>
              <a:ext uri="{FF2B5EF4-FFF2-40B4-BE49-F238E27FC236}">
                <a16:creationId xmlns:a16="http://schemas.microsoft.com/office/drawing/2014/main" id="{CB5EDD5A-9F1D-03DB-E92C-EFAAAA5B1A7D}"/>
              </a:ext>
            </a:extLst>
          </p:cNvPr>
          <p:cNvSpPr/>
          <p:nvPr/>
        </p:nvSpPr>
        <p:spPr>
          <a:xfrm>
            <a:off x="13003427" y="1965728"/>
            <a:ext cx="2214267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User</a:t>
            </a:r>
          </a:p>
        </p:txBody>
      </p:sp>
      <p:sp>
        <p:nvSpPr>
          <p:cNvPr id="250" name="Rechteck: abgerundete Ecken 249">
            <a:extLst>
              <a:ext uri="{FF2B5EF4-FFF2-40B4-BE49-F238E27FC236}">
                <a16:creationId xmlns:a16="http://schemas.microsoft.com/office/drawing/2014/main" id="{8C21466D-0E0E-DC32-DD56-636BFE9E39CE}"/>
              </a:ext>
            </a:extLst>
          </p:cNvPr>
          <p:cNvSpPr/>
          <p:nvPr/>
        </p:nvSpPr>
        <p:spPr>
          <a:xfrm>
            <a:off x="13717464" y="3232232"/>
            <a:ext cx="2206700" cy="5742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EmployeeProfile</a:t>
            </a:r>
            <a:endParaRPr lang="de-DE" dirty="0"/>
          </a:p>
        </p:txBody>
      </p:sp>
      <p:sp>
        <p:nvSpPr>
          <p:cNvPr id="251" name="Rechteck: abgerundete Ecken 250">
            <a:extLst>
              <a:ext uri="{FF2B5EF4-FFF2-40B4-BE49-F238E27FC236}">
                <a16:creationId xmlns:a16="http://schemas.microsoft.com/office/drawing/2014/main" id="{98EC477B-A55F-BFFC-4519-C3A2878DCB4C}"/>
              </a:ext>
            </a:extLst>
          </p:cNvPr>
          <p:cNvSpPr/>
          <p:nvPr/>
        </p:nvSpPr>
        <p:spPr>
          <a:xfrm>
            <a:off x="14501235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Position</a:t>
            </a:r>
          </a:p>
        </p:txBody>
      </p:sp>
      <p:sp>
        <p:nvSpPr>
          <p:cNvPr id="252" name="Rechteck: abgerundete Ecken 251">
            <a:extLst>
              <a:ext uri="{FF2B5EF4-FFF2-40B4-BE49-F238E27FC236}">
                <a16:creationId xmlns:a16="http://schemas.microsoft.com/office/drawing/2014/main" id="{764D0DA2-0196-841F-1CD4-E3A47ACBB688}"/>
              </a:ext>
            </a:extLst>
          </p:cNvPr>
          <p:cNvSpPr/>
          <p:nvPr/>
        </p:nvSpPr>
        <p:spPr>
          <a:xfrm>
            <a:off x="19563267" y="4550826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253" name="Rechteck: abgerundete Ecken 252">
            <a:extLst>
              <a:ext uri="{FF2B5EF4-FFF2-40B4-BE49-F238E27FC236}">
                <a16:creationId xmlns:a16="http://schemas.microsoft.com/office/drawing/2014/main" id="{DD8F3B9B-B44C-0C57-5647-A1F71326A2F0}"/>
              </a:ext>
            </a:extLst>
          </p:cNvPr>
          <p:cNvSpPr/>
          <p:nvPr/>
        </p:nvSpPr>
        <p:spPr>
          <a:xfrm>
            <a:off x="20347036" y="3222608"/>
            <a:ext cx="2206700" cy="5742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Skill</a:t>
            </a:r>
            <a:endParaRPr lang="de-DE" dirty="0"/>
          </a:p>
        </p:txBody>
      </p:sp>
      <p:sp>
        <p:nvSpPr>
          <p:cNvPr id="254" name="Rechteck: abgerundete Ecken 253">
            <a:extLst>
              <a:ext uri="{FF2B5EF4-FFF2-40B4-BE49-F238E27FC236}">
                <a16:creationId xmlns:a16="http://schemas.microsoft.com/office/drawing/2014/main" id="{77BA9C62-F354-2690-B1DF-C94D1FB8EF88}"/>
              </a:ext>
            </a:extLst>
          </p:cNvPr>
          <p:cNvSpPr/>
          <p:nvPr/>
        </p:nvSpPr>
        <p:spPr>
          <a:xfrm>
            <a:off x="21053506" y="1936193"/>
            <a:ext cx="2214267" cy="574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EmployeeSkill</a:t>
            </a:r>
            <a:endParaRPr lang="de-DE" dirty="0"/>
          </a:p>
        </p:txBody>
      </p:sp>
      <p:cxnSp>
        <p:nvCxnSpPr>
          <p:cNvPr id="255" name="Gerade Verbindung mit Pfeil 254">
            <a:extLst>
              <a:ext uri="{FF2B5EF4-FFF2-40B4-BE49-F238E27FC236}">
                <a16:creationId xmlns:a16="http://schemas.microsoft.com/office/drawing/2014/main" id="{D7DD2CEB-A127-B623-670D-D2A2D9132228}"/>
              </a:ext>
            </a:extLst>
          </p:cNvPr>
          <p:cNvCxnSpPr>
            <a:cxnSpLocks/>
            <a:stCxn id="232" idx="2"/>
            <a:endCxn id="250" idx="0"/>
          </p:cNvCxnSpPr>
          <p:nvPr/>
        </p:nvCxnSpPr>
        <p:spPr>
          <a:xfrm>
            <a:off x="14110561" y="2540001"/>
            <a:ext cx="710253" cy="6922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FC0C7E9-07D1-0BC5-198F-315B757E458E}"/>
              </a:ext>
            </a:extLst>
          </p:cNvPr>
          <p:cNvCxnSpPr>
            <a:stCxn id="251" idx="0"/>
            <a:endCxn id="250" idx="2"/>
          </p:cNvCxnSpPr>
          <p:nvPr/>
        </p:nvCxnSpPr>
        <p:spPr>
          <a:xfrm flipH="1" flipV="1">
            <a:off x="14820814" y="3806505"/>
            <a:ext cx="783771" cy="7443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E7CE080-29D3-F626-C8AE-E032CD6321DA}"/>
              </a:ext>
            </a:extLst>
          </p:cNvPr>
          <p:cNvCxnSpPr>
            <a:cxnSpLocks/>
            <a:stCxn id="252" idx="0"/>
            <a:endCxn id="250" idx="2"/>
          </p:cNvCxnSpPr>
          <p:nvPr/>
        </p:nvCxnSpPr>
        <p:spPr>
          <a:xfrm flipH="1" flipV="1">
            <a:off x="14820814" y="3806505"/>
            <a:ext cx="5845803" cy="7443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2478920-4EBB-4368-6AEC-B6772AFB300D}"/>
              </a:ext>
            </a:extLst>
          </p:cNvPr>
          <p:cNvCxnSpPr>
            <a:cxnSpLocks/>
            <a:stCxn id="253" idx="0"/>
            <a:endCxn id="254" idx="2"/>
          </p:cNvCxnSpPr>
          <p:nvPr/>
        </p:nvCxnSpPr>
        <p:spPr>
          <a:xfrm flipV="1">
            <a:off x="21450386" y="2510465"/>
            <a:ext cx="710254" cy="7121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fik 40">
            <a:extLst>
              <a:ext uri="{FF2B5EF4-FFF2-40B4-BE49-F238E27FC236}">
                <a16:creationId xmlns:a16="http://schemas.microsoft.com/office/drawing/2014/main" id="{BF101EE5-AF9B-8C48-16A3-184B27484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56177" y="2229804"/>
            <a:ext cx="1355997" cy="2062456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A9F3378-33B2-5A6C-A45F-D891F83E2E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47223" y="2217350"/>
            <a:ext cx="1350870" cy="207491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38731CC-5E10-2E17-63B2-51B5ABE76651}"/>
              </a:ext>
            </a:extLst>
          </p:cNvPr>
          <p:cNvGrpSpPr/>
          <p:nvPr/>
        </p:nvGrpSpPr>
        <p:grpSpPr>
          <a:xfrm>
            <a:off x="17433095" y="334275"/>
            <a:ext cx="1801890" cy="2179410"/>
            <a:chOff x="6993157" y="4980368"/>
            <a:chExt cx="1801890" cy="2179410"/>
          </a:xfrm>
        </p:grpSpPr>
        <p:pic>
          <p:nvPicPr>
            <p:cNvPr id="10" name="ME">
              <a:extLst>
                <a:ext uri="{FF2B5EF4-FFF2-40B4-BE49-F238E27FC236}">
                  <a16:creationId xmlns:a16="http://schemas.microsoft.com/office/drawing/2014/main" id="{39203983-C2CE-E648-F989-C66A1B346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1" name="Grafik 10" descr="Nach rechts zeigender Finger, Handrücken mit einfarbiger Füllung">
              <a:extLst>
                <a:ext uri="{FF2B5EF4-FFF2-40B4-BE49-F238E27FC236}">
                  <a16:creationId xmlns:a16="http://schemas.microsoft.com/office/drawing/2014/main" id="{8AA070ED-7124-6B9A-6442-DBF49D348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7679688">
              <a:off x="7880647" y="624537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039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CB09-4B7D-7905-8F78-A29AC39E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74CC628E-E492-144F-669E-90B635D524A5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0930EAE-9597-B4C9-4712-E4E5AE781DE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F2871F6D-7C23-F583-AB87-5D2910223505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8227F65-571B-3D4F-DED0-3EF2E5CB240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B8F48EE-6227-A078-6D79-079E7C6EC4FB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2E04757-EB37-D827-9CE5-989D644E4181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16FDC40-437E-62EB-D870-7BF600EE0666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8E4835C-2EC8-8A0F-2FF5-6B5B783F5B5C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Security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86F1FE6-CA4B-3160-C576-51ED8EA2EC33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3D9D0540-4AA6-1812-E9DB-3DD16DBA94F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C3F37544-58DA-7AB9-415A-57C8621CCFF4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AB9D63D-B66D-9800-6364-E55527141B9B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E136E371-EDFF-DADA-34B3-7DFEF164D6DA}"/>
              </a:ext>
            </a:extLst>
          </p:cNvPr>
          <p:cNvSpPr/>
          <p:nvPr/>
        </p:nvSpPr>
        <p:spPr>
          <a:xfrm>
            <a:off x="6132284" y="6443695"/>
            <a:ext cx="92166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6" name="Grafik 225">
            <a:extLst>
              <a:ext uri="{FF2B5EF4-FFF2-40B4-BE49-F238E27FC236}">
                <a16:creationId xmlns:a16="http://schemas.microsoft.com/office/drawing/2014/main" id="{4E5AFFAC-142F-3F7B-F8B0-FE17C4250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7584" y="2675515"/>
            <a:ext cx="2628901" cy="1662113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B0194979-5C17-D2DA-6C67-B972A0941784}"/>
              </a:ext>
            </a:extLst>
          </p:cNvPr>
          <p:cNvSpPr/>
          <p:nvPr/>
        </p:nvSpPr>
        <p:spPr>
          <a:xfrm>
            <a:off x="3623853" y="3059886"/>
            <a:ext cx="1169043" cy="369332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09E3C1-1594-5DCD-7FD3-480EAF91B291}"/>
              </a:ext>
            </a:extLst>
          </p:cNvPr>
          <p:cNvSpPr txBox="1"/>
          <p:nvPr/>
        </p:nvSpPr>
        <p:spPr>
          <a:xfrm>
            <a:off x="3555942" y="2704391"/>
            <a:ext cx="121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Einloggen</a:t>
            </a:r>
          </a:p>
        </p:txBody>
      </p:sp>
      <p:sp>
        <p:nvSpPr>
          <p:cNvPr id="8" name="Pfeil: gebogen 7">
            <a:extLst>
              <a:ext uri="{FF2B5EF4-FFF2-40B4-BE49-F238E27FC236}">
                <a16:creationId xmlns:a16="http://schemas.microsoft.com/office/drawing/2014/main" id="{AA4B45C6-D12D-78A6-8135-1D80E68FD63C}"/>
              </a:ext>
            </a:extLst>
          </p:cNvPr>
          <p:cNvSpPr/>
          <p:nvPr/>
        </p:nvSpPr>
        <p:spPr>
          <a:xfrm rot="5400000">
            <a:off x="7697627" y="2799059"/>
            <a:ext cx="1414193" cy="1414193"/>
          </a:xfrm>
          <a:prstGeom prst="circular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FA661-F532-7203-BEE6-C815D4A45FEA}"/>
              </a:ext>
            </a:extLst>
          </p:cNvPr>
          <p:cNvSpPr txBox="1"/>
          <p:nvPr/>
        </p:nvSpPr>
        <p:spPr>
          <a:xfrm>
            <a:off x="9235983" y="3920431"/>
            <a:ext cx="2154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Signatur + Claims</a:t>
            </a:r>
          </a:p>
        </p:txBody>
      </p:sp>
      <p:pic>
        <p:nvPicPr>
          <p:cNvPr id="13" name="Grafik 12" descr="Ein Bild, das Farbigkeit, Grafiken, Kreis, Screenshot enthält.&#10;&#10;KI-generierte Inhalte können fehlerhaft sein.">
            <a:extLst>
              <a:ext uri="{FF2B5EF4-FFF2-40B4-BE49-F238E27FC236}">
                <a16:creationId xmlns:a16="http://schemas.microsoft.com/office/drawing/2014/main" id="{0AF3AD0C-4255-53DC-75C6-CE27B206B3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878" y="2799059"/>
            <a:ext cx="1107280" cy="110728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500F5D81-6A76-250E-B11C-166D5615AC2D}"/>
              </a:ext>
            </a:extLst>
          </p:cNvPr>
          <p:cNvSpPr txBox="1"/>
          <p:nvPr/>
        </p:nvSpPr>
        <p:spPr>
          <a:xfrm>
            <a:off x="3235948" y="3944171"/>
            <a:ext cx="185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Token erhalten</a:t>
            </a: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AD0A5357-367A-BC0B-EAB2-F6B1639C5FC9}"/>
              </a:ext>
            </a:extLst>
          </p:cNvPr>
          <p:cNvSpPr/>
          <p:nvPr/>
        </p:nvSpPr>
        <p:spPr>
          <a:xfrm rot="10800000">
            <a:off x="3578422" y="3519418"/>
            <a:ext cx="1169043" cy="369332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BF9E4F8-EBFB-553F-E857-34FE0CE1D9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69" b="97890" l="9877" r="96543">
                        <a14:foregroundMark x1="8642" y1="56981" x2="10617" y2="21266"/>
                        <a14:foregroundMark x1="10617" y1="21266" x2="59259" y2="6656"/>
                        <a14:foregroundMark x1="59259" y1="6656" x2="90123" y2="22727"/>
                        <a14:foregroundMark x1="90123" y1="22727" x2="92346" y2="61201"/>
                        <a14:foregroundMark x1="10864" y1="49675" x2="20494" y2="24026"/>
                        <a14:foregroundMark x1="22716" y1="10390" x2="52099" y2="6169"/>
                        <a14:foregroundMark x1="97037" y1="19156" x2="97037" y2="23052"/>
                        <a14:foregroundMark x1="24444" y1="89448" x2="71605" y2="96266"/>
                        <a14:foregroundMark x1="71605" y1="96266" x2="77037" y2="84091"/>
                        <a14:foregroundMark x1="77778" y1="97890" x2="26667" y2="96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0652" y="2388767"/>
            <a:ext cx="1355997" cy="206245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8D073A7-7149-44A1-B466-772F37979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847" b="99838" l="4467" r="92804">
                        <a14:foregroundMark x1="23573" y1="11470" x2="23573" y2="11470"/>
                        <a14:foregroundMark x1="49132" y1="6462" x2="87841" y2="24233"/>
                        <a14:foregroundMark x1="87841" y1="24233" x2="88586" y2="25363"/>
                        <a14:foregroundMark x1="89082" y1="33764" x2="90074" y2="44750"/>
                        <a14:foregroundMark x1="92556" y1="25363" x2="92556" y2="30533"/>
                        <a14:foregroundMark x1="91563" y1="52342" x2="93052" y2="63974"/>
                        <a14:foregroundMark x1="62779" y1="5008" x2="44665" y2="4847"/>
                        <a14:foregroundMark x1="25806" y1="8078" x2="9677" y2="17932"/>
                        <a14:foregroundMark x1="6203" y1="24717" x2="7692" y2="36672"/>
                        <a14:foregroundMark x1="4467" y1="20679" x2="9677" y2="36995"/>
                        <a14:foregroundMark x1="25806" y1="86591" x2="61290" y2="91438"/>
                        <a14:foregroundMark x1="61290" y1="91438" x2="74194" y2="85784"/>
                        <a14:foregroundMark x1="75186" y1="89822" x2="38213" y2="95477"/>
                        <a14:foregroundMark x1="27047" y1="94830" x2="24069" y2="99838"/>
                        <a14:backgroundMark x1="15633" y1="89661" x2="12407" y2="974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1331" y="2237453"/>
            <a:ext cx="1456113" cy="2236561"/>
          </a:xfrm>
          <a:prstGeom prst="rect">
            <a:avLst/>
          </a:prstGeom>
        </p:spPr>
      </p:pic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8D8B74BA-F4D3-1F42-4611-37D7FF40B669}"/>
              </a:ext>
            </a:extLst>
          </p:cNvPr>
          <p:cNvSpPr/>
          <p:nvPr/>
        </p:nvSpPr>
        <p:spPr>
          <a:xfrm>
            <a:off x="-10531450" y="1943100"/>
            <a:ext cx="10106188" cy="1598466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eyJhbGciOiJIUzI1NiIsInR5cCI6IkpXVCJ9.eyJzdWIiOiIxMjM0NTY3ODkwIiwibmFtZSI6IkpvaG4gRG9lIiwiaWF0IjoxNTE2MjM5MDIyfQ.XbPfblHMI6arZ3Y922BhjWgQzWXcXNrZ0ogtVhfEd2o</a:t>
            </a:r>
          </a:p>
        </p:txBody>
      </p:sp>
      <p:sp>
        <p:nvSpPr>
          <p:cNvPr id="225" name="!!A1">
            <a:extLst>
              <a:ext uri="{FF2B5EF4-FFF2-40B4-BE49-F238E27FC236}">
                <a16:creationId xmlns:a16="http://schemas.microsoft.com/office/drawing/2014/main" id="{AAB622D2-9179-6B97-4C61-2EDA1F3383F8}"/>
              </a:ext>
            </a:extLst>
          </p:cNvPr>
          <p:cNvSpPr/>
          <p:nvPr/>
        </p:nvSpPr>
        <p:spPr>
          <a:xfrm>
            <a:off x="-635112" y="2128838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9" name="!!A2">
            <a:extLst>
              <a:ext uri="{FF2B5EF4-FFF2-40B4-BE49-F238E27FC236}">
                <a16:creationId xmlns:a16="http://schemas.microsoft.com/office/drawing/2014/main" id="{D79A4112-33E5-0B15-C316-A4A9A992908C}"/>
              </a:ext>
            </a:extLst>
          </p:cNvPr>
          <p:cNvSpPr/>
          <p:nvPr/>
        </p:nvSpPr>
        <p:spPr>
          <a:xfrm>
            <a:off x="-10503808" y="2560970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4" name="!!A3">
            <a:extLst>
              <a:ext uri="{FF2B5EF4-FFF2-40B4-BE49-F238E27FC236}">
                <a16:creationId xmlns:a16="http://schemas.microsoft.com/office/drawing/2014/main" id="{AA994CB7-DD14-C067-D8F8-5D1B66E9B0C1}"/>
              </a:ext>
            </a:extLst>
          </p:cNvPr>
          <p:cNvSpPr/>
          <p:nvPr/>
        </p:nvSpPr>
        <p:spPr>
          <a:xfrm>
            <a:off x="-635112" y="2514881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6" name="!!A4">
            <a:extLst>
              <a:ext uri="{FF2B5EF4-FFF2-40B4-BE49-F238E27FC236}">
                <a16:creationId xmlns:a16="http://schemas.microsoft.com/office/drawing/2014/main" id="{55B2FCAF-234B-FBF5-4488-C88DDCE6457C}"/>
              </a:ext>
            </a:extLst>
          </p:cNvPr>
          <p:cNvSpPr/>
          <p:nvPr/>
        </p:nvSpPr>
        <p:spPr>
          <a:xfrm>
            <a:off x="-10506444" y="2814795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D10443A-419B-5601-1FBC-97798F2C2B46}"/>
              </a:ext>
            </a:extLst>
          </p:cNvPr>
          <p:cNvSpPr/>
          <p:nvPr/>
        </p:nvSpPr>
        <p:spPr>
          <a:xfrm>
            <a:off x="1064099" y="3913954"/>
            <a:ext cx="2320428" cy="694314"/>
          </a:xfrm>
          <a:prstGeom prst="rect">
            <a:avLst/>
          </a:prstGeom>
          <a:gradFill>
            <a:gsLst>
              <a:gs pos="43000">
                <a:srgbClr val="FEF6F8">
                  <a:alpha val="20000"/>
                </a:srgbClr>
              </a:gs>
              <a:gs pos="75700">
                <a:srgbClr val="FFFCFD"/>
              </a:gs>
              <a:gs pos="0">
                <a:srgbClr val="FEF3F5">
                  <a:alpha val="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9487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5" grpId="0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D84F-B0DB-3EAB-1538-B4C3203D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BAF379B2-DFB7-D5C3-207B-8D780428D8F5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9AB046B-B1EF-A8EC-448E-A8ADD8D659A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2E157B37-9201-3F32-4F6D-191EFDEFF66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691D07E7-CB18-5A5A-5B2C-49ACC546AFF7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A96DED92-3678-06EC-A37F-5EA5611823D4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6F0F54F-D9C3-8A55-7EC6-7DB264131642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883F894-E99A-C03B-2FB1-974150E583D4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5D76AE15-03A5-E87E-CE5D-6DF0313FC9EB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Security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54E6A07-DF31-EACF-E7EE-4CFE96CD0A4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770E4C60-CE02-82D9-C0D7-4713B21CFDDE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19633AC-7C96-AF7E-B3DA-FB40A1BFA08C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E6E6835-36DB-29C6-99B8-4962D012E338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AE42057-5B66-5205-75EF-CE1CE9D6EC5C}"/>
              </a:ext>
            </a:extLst>
          </p:cNvPr>
          <p:cNvSpPr/>
          <p:nvPr/>
        </p:nvSpPr>
        <p:spPr>
          <a:xfrm>
            <a:off x="6132284" y="6443695"/>
            <a:ext cx="928916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812A728-2341-151F-ECA4-A4020DEFDC44}"/>
              </a:ext>
            </a:extLst>
          </p:cNvPr>
          <p:cNvSpPr/>
          <p:nvPr/>
        </p:nvSpPr>
        <p:spPr>
          <a:xfrm>
            <a:off x="647909" y="1943100"/>
            <a:ext cx="10106188" cy="1598466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eyJhbGciOiJIUzI1NiIsInR5cCI6IkpXVCJ9.eyJzdWIiOiIxMjM0NTY3ODkwIiwibmFtZSI6IkpvaG4gRG9lIiwiaWF0IjoxNTE2MjM5MDIyfQ.XbPfblHMI6arZ3Y922BhjWgQzWXcXNrZ0ogtVhfEd2o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D9F24F7-E963-55E5-85FF-9086759FF635}"/>
              </a:ext>
            </a:extLst>
          </p:cNvPr>
          <p:cNvSpPr/>
          <p:nvPr/>
        </p:nvSpPr>
        <p:spPr>
          <a:xfrm>
            <a:off x="781050" y="2218501"/>
            <a:ext cx="5636871" cy="315624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BE2F4C8-FE14-2789-0A03-E320F27E5C40}"/>
              </a:ext>
            </a:extLst>
          </p:cNvPr>
          <p:cNvSpPr/>
          <p:nvPr/>
        </p:nvSpPr>
        <p:spPr>
          <a:xfrm>
            <a:off x="6477308" y="2220231"/>
            <a:ext cx="4160211" cy="315624"/>
          </a:xfrm>
          <a:prstGeom prst="round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!!A1">
            <a:extLst>
              <a:ext uri="{FF2B5EF4-FFF2-40B4-BE49-F238E27FC236}">
                <a16:creationId xmlns:a16="http://schemas.microsoft.com/office/drawing/2014/main" id="{6AA3AA2F-2871-86BB-3F25-4722FCCE4864}"/>
              </a:ext>
            </a:extLst>
          </p:cNvPr>
          <p:cNvSpPr/>
          <p:nvPr/>
        </p:nvSpPr>
        <p:spPr>
          <a:xfrm>
            <a:off x="10544247" y="2128838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9F97F53-475F-5F89-F60C-20932370099A}"/>
              </a:ext>
            </a:extLst>
          </p:cNvPr>
          <p:cNvSpPr/>
          <p:nvPr/>
        </p:nvSpPr>
        <p:spPr>
          <a:xfrm>
            <a:off x="698502" y="2593087"/>
            <a:ext cx="8418136" cy="307836"/>
          </a:xfrm>
          <a:prstGeom prst="round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!!A2">
            <a:extLst>
              <a:ext uri="{FF2B5EF4-FFF2-40B4-BE49-F238E27FC236}">
                <a16:creationId xmlns:a16="http://schemas.microsoft.com/office/drawing/2014/main" id="{F336E70C-235E-E9BC-8EA2-F582983C2BFE}"/>
              </a:ext>
            </a:extLst>
          </p:cNvPr>
          <p:cNvSpPr/>
          <p:nvPr/>
        </p:nvSpPr>
        <p:spPr>
          <a:xfrm>
            <a:off x="675551" y="2560970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10062D6-2B30-EA1A-5D24-2C3984181368}"/>
              </a:ext>
            </a:extLst>
          </p:cNvPr>
          <p:cNvSpPr/>
          <p:nvPr/>
        </p:nvSpPr>
        <p:spPr>
          <a:xfrm>
            <a:off x="9180203" y="2593087"/>
            <a:ext cx="1457316" cy="307836"/>
          </a:xfrm>
          <a:prstGeom prst="roundRect">
            <a:avLst/>
          </a:prstGeom>
          <a:solidFill>
            <a:schemeClr val="tx1">
              <a:lumMod val="50000"/>
              <a:alpha val="2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!!A3">
            <a:extLst>
              <a:ext uri="{FF2B5EF4-FFF2-40B4-BE49-F238E27FC236}">
                <a16:creationId xmlns:a16="http://schemas.microsoft.com/office/drawing/2014/main" id="{D7B82263-0BC6-ECE3-F71D-57DED702BA59}"/>
              </a:ext>
            </a:extLst>
          </p:cNvPr>
          <p:cNvSpPr/>
          <p:nvPr/>
        </p:nvSpPr>
        <p:spPr>
          <a:xfrm>
            <a:off x="10544247" y="2514881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A11736D-E0A9-3DC0-6EC2-BBCE3D917068}"/>
              </a:ext>
            </a:extLst>
          </p:cNvPr>
          <p:cNvSpPr/>
          <p:nvPr/>
        </p:nvSpPr>
        <p:spPr>
          <a:xfrm>
            <a:off x="698501" y="2962419"/>
            <a:ext cx="6140450" cy="307836"/>
          </a:xfrm>
          <a:prstGeom prst="roundRect">
            <a:avLst/>
          </a:prstGeom>
          <a:solidFill>
            <a:schemeClr val="tx1">
              <a:lumMod val="50000"/>
              <a:alpha val="2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!!A4">
            <a:extLst>
              <a:ext uri="{FF2B5EF4-FFF2-40B4-BE49-F238E27FC236}">
                <a16:creationId xmlns:a16="http://schemas.microsoft.com/office/drawing/2014/main" id="{979B5440-754F-1223-FD9B-6DBD1D5BDB10}"/>
              </a:ext>
            </a:extLst>
          </p:cNvPr>
          <p:cNvSpPr/>
          <p:nvPr/>
        </p:nvSpPr>
        <p:spPr>
          <a:xfrm>
            <a:off x="672915" y="2814795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0F7A3D6-51BA-E5CD-96C5-FDF87CD49471}"/>
              </a:ext>
            </a:extLst>
          </p:cNvPr>
          <p:cNvSpPr txBox="1"/>
          <p:nvPr/>
        </p:nvSpPr>
        <p:spPr>
          <a:xfrm>
            <a:off x="1210127" y="3832704"/>
            <a:ext cx="204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kid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811656C6-A5B3-3E2A-1BB8-91B6E5DAB86C}"/>
              </a:ext>
            </a:extLst>
          </p:cNvPr>
          <p:cNvSpPr txBox="1"/>
          <p:nvPr/>
        </p:nvSpPr>
        <p:spPr>
          <a:xfrm>
            <a:off x="4907570" y="3895589"/>
            <a:ext cx="204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Payload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1775CA57-02DF-8CC4-103F-257F4A88D99B}"/>
              </a:ext>
            </a:extLst>
          </p:cNvPr>
          <p:cNvSpPr txBox="1"/>
          <p:nvPr/>
        </p:nvSpPr>
        <p:spPr>
          <a:xfrm>
            <a:off x="8497732" y="3899966"/>
            <a:ext cx="2046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Signature</a:t>
            </a: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payload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E23E5417-6B38-0FF9-6302-B9778BF77C55}"/>
              </a:ext>
            </a:extLst>
          </p:cNvPr>
          <p:cNvSpPr/>
          <p:nvPr/>
        </p:nvSpPr>
        <p:spPr>
          <a:xfrm>
            <a:off x="-9790195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38" name="Pfeil: Chevron 37">
            <a:extLst>
              <a:ext uri="{FF2B5EF4-FFF2-40B4-BE49-F238E27FC236}">
                <a16:creationId xmlns:a16="http://schemas.microsoft.com/office/drawing/2014/main" id="{699B55FF-F5BA-8C83-2678-54D9F5250BDE}"/>
              </a:ext>
            </a:extLst>
          </p:cNvPr>
          <p:cNvSpPr/>
          <p:nvPr/>
        </p:nvSpPr>
        <p:spPr>
          <a:xfrm>
            <a:off x="-2090084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DEB8321F-09FB-6140-CFB7-73E91573F868}"/>
              </a:ext>
            </a:extLst>
          </p:cNvPr>
          <p:cNvGrpSpPr/>
          <p:nvPr/>
        </p:nvGrpSpPr>
        <p:grpSpPr>
          <a:xfrm>
            <a:off x="-29460865" y="2221743"/>
            <a:ext cx="2341215" cy="2532161"/>
            <a:chOff x="1040812" y="2221743"/>
            <a:chExt cx="2341215" cy="2532161"/>
          </a:xfrm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1E9C9EFE-8C4B-6AA9-E511-5781791AE2D5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UI-Struktur</a:t>
              </a:r>
            </a:p>
          </p:txBody>
        </p:sp>
        <p:pic>
          <p:nvPicPr>
            <p:cNvPr id="41" name="Grafik 40" descr="Blog mit einfarbiger Füllung">
              <a:extLst>
                <a:ext uri="{FF2B5EF4-FFF2-40B4-BE49-F238E27FC236}">
                  <a16:creationId xmlns:a16="http://schemas.microsoft.com/office/drawing/2014/main" id="{3E5870E6-0BBA-394B-0421-B8984FB17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3D262A3F-FF60-FC50-55DA-AFC0AB1580E9}"/>
              </a:ext>
            </a:extLst>
          </p:cNvPr>
          <p:cNvGrpSpPr/>
          <p:nvPr/>
        </p:nvGrpSpPr>
        <p:grpSpPr>
          <a:xfrm>
            <a:off x="-16472131" y="2221743"/>
            <a:ext cx="2341215" cy="2532161"/>
            <a:chOff x="4925391" y="2221743"/>
            <a:chExt cx="2341215" cy="2532161"/>
          </a:xfrm>
        </p:grpSpPr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8976E0A2-B431-230F-66B6-C51110B09970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&amp; Datenfluss</a:t>
              </a:r>
            </a:p>
          </p:txBody>
        </p:sp>
        <p:pic>
          <p:nvPicPr>
            <p:cNvPr id="44" name="Grafik 43" descr="Kontinuierliche Verbesserung mit einfarbiger Füllung">
              <a:extLst>
                <a:ext uri="{FF2B5EF4-FFF2-40B4-BE49-F238E27FC236}">
                  <a16:creationId xmlns:a16="http://schemas.microsoft.com/office/drawing/2014/main" id="{15BF375C-873D-5A60-8908-AF00B45B3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015D69A-961A-532F-8511-98AE87B5B355}"/>
              </a:ext>
            </a:extLst>
          </p:cNvPr>
          <p:cNvGrpSpPr/>
          <p:nvPr/>
        </p:nvGrpSpPr>
        <p:grpSpPr>
          <a:xfrm>
            <a:off x="-5073346" y="2267850"/>
            <a:ext cx="2341215" cy="2532161"/>
            <a:chOff x="8809970" y="2267850"/>
            <a:chExt cx="2341215" cy="2532161"/>
          </a:xfrm>
        </p:grpSpPr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D712ED42-32E9-A8DB-55AC-1A4813EABA21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UX/Performance</a:t>
              </a:r>
            </a:p>
          </p:txBody>
        </p:sp>
        <p:pic>
          <p:nvPicPr>
            <p:cNvPr id="47" name="Grafik 46" descr="Balkendiagramm mit Aufwärtstrend mit einfarbiger Füllung">
              <a:extLst>
                <a:ext uri="{FF2B5EF4-FFF2-40B4-BE49-F238E27FC236}">
                  <a16:creationId xmlns:a16="http://schemas.microsoft.com/office/drawing/2014/main" id="{3C3140F0-490F-DE58-5D9B-E25EC9B18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pic>
        <p:nvPicPr>
          <p:cNvPr id="228" name="Grafik 227">
            <a:extLst>
              <a:ext uri="{FF2B5EF4-FFF2-40B4-BE49-F238E27FC236}">
                <a16:creationId xmlns:a16="http://schemas.microsoft.com/office/drawing/2014/main" id="{A000A26A-A579-C855-72DA-CF1C934872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837729" y="2675515"/>
            <a:ext cx="2628901" cy="1662113"/>
          </a:xfrm>
          <a:prstGeom prst="rect">
            <a:avLst/>
          </a:prstGeom>
        </p:spPr>
      </p:pic>
      <p:sp>
        <p:nvSpPr>
          <p:cNvPr id="229" name="Pfeil: nach rechts 228">
            <a:extLst>
              <a:ext uri="{FF2B5EF4-FFF2-40B4-BE49-F238E27FC236}">
                <a16:creationId xmlns:a16="http://schemas.microsoft.com/office/drawing/2014/main" id="{7599F5A6-E3C5-FE11-EEDE-A5764B9C5016}"/>
              </a:ext>
            </a:extLst>
          </p:cNvPr>
          <p:cNvSpPr/>
          <p:nvPr/>
        </p:nvSpPr>
        <p:spPr>
          <a:xfrm>
            <a:off x="16103998" y="3059886"/>
            <a:ext cx="1169043" cy="369332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0" name="Textfeld 229">
            <a:extLst>
              <a:ext uri="{FF2B5EF4-FFF2-40B4-BE49-F238E27FC236}">
                <a16:creationId xmlns:a16="http://schemas.microsoft.com/office/drawing/2014/main" id="{35C35E07-30E2-79FD-53AE-8A7F59455763}"/>
              </a:ext>
            </a:extLst>
          </p:cNvPr>
          <p:cNvSpPr txBox="1"/>
          <p:nvPr/>
        </p:nvSpPr>
        <p:spPr>
          <a:xfrm>
            <a:off x="16036087" y="2704391"/>
            <a:ext cx="121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Einloggen</a:t>
            </a:r>
          </a:p>
        </p:txBody>
      </p:sp>
      <p:sp>
        <p:nvSpPr>
          <p:cNvPr id="231" name="Pfeil: gebogen 230">
            <a:extLst>
              <a:ext uri="{FF2B5EF4-FFF2-40B4-BE49-F238E27FC236}">
                <a16:creationId xmlns:a16="http://schemas.microsoft.com/office/drawing/2014/main" id="{C3F54A20-EF95-9770-704A-8A143DE5E9D5}"/>
              </a:ext>
            </a:extLst>
          </p:cNvPr>
          <p:cNvSpPr/>
          <p:nvPr/>
        </p:nvSpPr>
        <p:spPr>
          <a:xfrm rot="5400000">
            <a:off x="20177772" y="2799059"/>
            <a:ext cx="1414193" cy="1414193"/>
          </a:xfrm>
          <a:prstGeom prst="circular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Textfeld 231">
            <a:extLst>
              <a:ext uri="{FF2B5EF4-FFF2-40B4-BE49-F238E27FC236}">
                <a16:creationId xmlns:a16="http://schemas.microsoft.com/office/drawing/2014/main" id="{7001E52A-C4B2-44AA-1793-D683A21B7E32}"/>
              </a:ext>
            </a:extLst>
          </p:cNvPr>
          <p:cNvSpPr txBox="1"/>
          <p:nvPr/>
        </p:nvSpPr>
        <p:spPr>
          <a:xfrm>
            <a:off x="21716128" y="3920431"/>
            <a:ext cx="2154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Signatur + Claims</a:t>
            </a:r>
          </a:p>
        </p:txBody>
      </p:sp>
      <p:pic>
        <p:nvPicPr>
          <p:cNvPr id="233" name="Grafik 232" descr="Ein Bild, das Farbigkeit, Grafiken, Kreis, Screenshot enthält.&#10;&#10;KI-generierte Inhalte können fehlerhaft sein.">
            <a:extLst>
              <a:ext uri="{FF2B5EF4-FFF2-40B4-BE49-F238E27FC236}">
                <a16:creationId xmlns:a16="http://schemas.microsoft.com/office/drawing/2014/main" id="{3DF2470A-4FCF-D401-79AA-792AFBDC1B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9023" y="2799059"/>
            <a:ext cx="1107280" cy="1107280"/>
          </a:xfrm>
          <a:prstGeom prst="rect">
            <a:avLst/>
          </a:prstGeom>
        </p:spPr>
      </p:pic>
      <p:sp>
        <p:nvSpPr>
          <p:cNvPr id="234" name="Textfeld 233">
            <a:extLst>
              <a:ext uri="{FF2B5EF4-FFF2-40B4-BE49-F238E27FC236}">
                <a16:creationId xmlns:a16="http://schemas.microsoft.com/office/drawing/2014/main" id="{87D20931-6B83-D909-386B-F1CF614649A8}"/>
              </a:ext>
            </a:extLst>
          </p:cNvPr>
          <p:cNvSpPr txBox="1"/>
          <p:nvPr/>
        </p:nvSpPr>
        <p:spPr>
          <a:xfrm>
            <a:off x="15716093" y="3944171"/>
            <a:ext cx="185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Token erhalten</a:t>
            </a:r>
          </a:p>
        </p:txBody>
      </p:sp>
      <p:sp>
        <p:nvSpPr>
          <p:cNvPr id="235" name="Pfeil: nach rechts 234">
            <a:extLst>
              <a:ext uri="{FF2B5EF4-FFF2-40B4-BE49-F238E27FC236}">
                <a16:creationId xmlns:a16="http://schemas.microsoft.com/office/drawing/2014/main" id="{F072BE53-B722-5BCB-12C0-EBEBB81451FB}"/>
              </a:ext>
            </a:extLst>
          </p:cNvPr>
          <p:cNvSpPr/>
          <p:nvPr/>
        </p:nvSpPr>
        <p:spPr>
          <a:xfrm rot="10800000">
            <a:off x="16058567" y="3519418"/>
            <a:ext cx="1169043" cy="369332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6" name="Grafik 235">
            <a:extLst>
              <a:ext uri="{FF2B5EF4-FFF2-40B4-BE49-F238E27FC236}">
                <a16:creationId xmlns:a16="http://schemas.microsoft.com/office/drawing/2014/main" id="{A9CC106A-6E4C-2E3F-0120-47BDBD2CBA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6169" b="97890" l="9877" r="96543">
                        <a14:foregroundMark x1="8642" y1="56981" x2="10617" y2="21266"/>
                        <a14:foregroundMark x1="10617" y1="21266" x2="59259" y2="6656"/>
                        <a14:foregroundMark x1="59259" y1="6656" x2="90123" y2="22727"/>
                        <a14:foregroundMark x1="90123" y1="22727" x2="92346" y2="61201"/>
                        <a14:foregroundMark x1="10864" y1="49675" x2="20494" y2="24026"/>
                        <a14:foregroundMark x1="22716" y1="10390" x2="52099" y2="6169"/>
                        <a14:foregroundMark x1="97037" y1="19156" x2="97037" y2="23052"/>
                        <a14:foregroundMark x1="24444" y1="89448" x2="71605" y2="96266"/>
                        <a14:foregroundMark x1="71605" y1="96266" x2="77037" y2="84091"/>
                        <a14:foregroundMark x1="77778" y1="97890" x2="26667" y2="96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50797" y="2388767"/>
            <a:ext cx="1355997" cy="2062456"/>
          </a:xfrm>
          <a:prstGeom prst="rect">
            <a:avLst/>
          </a:prstGeom>
        </p:spPr>
      </p:pic>
      <p:pic>
        <p:nvPicPr>
          <p:cNvPr id="237" name="Grafik 236">
            <a:extLst>
              <a:ext uri="{FF2B5EF4-FFF2-40B4-BE49-F238E27FC236}">
                <a16:creationId xmlns:a16="http://schemas.microsoft.com/office/drawing/2014/main" id="{EED0D33B-B75F-5F63-0697-8F3952F525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4847" b="99838" l="4467" r="92804">
                        <a14:foregroundMark x1="23573" y1="11470" x2="23573" y2="11470"/>
                        <a14:foregroundMark x1="49132" y1="6462" x2="87841" y2="24233"/>
                        <a14:foregroundMark x1="87841" y1="24233" x2="88586" y2="25363"/>
                        <a14:foregroundMark x1="89082" y1="33764" x2="90074" y2="44750"/>
                        <a14:foregroundMark x1="92556" y1="25363" x2="92556" y2="30533"/>
                        <a14:foregroundMark x1="91563" y1="52342" x2="93052" y2="63974"/>
                        <a14:foregroundMark x1="62779" y1="5008" x2="44665" y2="4847"/>
                        <a14:foregroundMark x1="25806" y1="8078" x2="9677" y2="17932"/>
                        <a14:foregroundMark x1="6203" y1="24717" x2="7692" y2="36672"/>
                        <a14:foregroundMark x1="4467" y1="20679" x2="9677" y2="36995"/>
                        <a14:foregroundMark x1="25806" y1="86591" x2="61290" y2="91438"/>
                        <a14:foregroundMark x1="61290" y1="91438" x2="74194" y2="85784"/>
                        <a14:foregroundMark x1="75186" y1="89822" x2="38213" y2="95477"/>
                        <a14:foregroundMark x1="27047" y1="94830" x2="24069" y2="99838"/>
                        <a14:backgroundMark x1="15633" y1="89661" x2="12407" y2="974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11476" y="2237453"/>
            <a:ext cx="1456113" cy="2236561"/>
          </a:xfrm>
          <a:prstGeom prst="rect">
            <a:avLst/>
          </a:prstGeom>
        </p:spPr>
      </p:pic>
      <p:sp>
        <p:nvSpPr>
          <p:cNvPr id="238" name="Rechteck 237">
            <a:extLst>
              <a:ext uri="{FF2B5EF4-FFF2-40B4-BE49-F238E27FC236}">
                <a16:creationId xmlns:a16="http://schemas.microsoft.com/office/drawing/2014/main" id="{6785524B-B0C9-18B0-E9EE-03A29AD98F30}"/>
              </a:ext>
            </a:extLst>
          </p:cNvPr>
          <p:cNvSpPr/>
          <p:nvPr/>
        </p:nvSpPr>
        <p:spPr>
          <a:xfrm>
            <a:off x="13544244" y="3913954"/>
            <a:ext cx="2320428" cy="694314"/>
          </a:xfrm>
          <a:prstGeom prst="rect">
            <a:avLst/>
          </a:prstGeom>
          <a:gradFill>
            <a:gsLst>
              <a:gs pos="43000">
                <a:srgbClr val="FEF6F8">
                  <a:alpha val="20000"/>
                </a:srgbClr>
              </a:gs>
              <a:gs pos="75700">
                <a:srgbClr val="FFFCFD"/>
              </a:gs>
              <a:gs pos="0">
                <a:srgbClr val="FEF3F5">
                  <a:alpha val="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753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7" grpId="0" animBg="1"/>
      <p:bldP spid="19" grpId="0" animBg="1"/>
      <p:bldP spid="25" grpId="0"/>
      <p:bldP spid="224" grpId="0"/>
      <p:bldP spid="2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59BE-78E2-0E5E-94D9-AC9E2362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4C5CFB6A-F130-C19C-4476-C66CAC117AEB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7CA012B-6297-82D1-2732-D44541976EA8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Pfeil: Chevron 249">
            <a:extLst>
              <a:ext uri="{FF2B5EF4-FFF2-40B4-BE49-F238E27FC236}">
                <a16:creationId xmlns:a16="http://schemas.microsoft.com/office/drawing/2014/main" id="{36D8D89C-AA23-2E3C-514D-BB6FFB499B58}"/>
              </a:ext>
            </a:extLst>
          </p:cNvPr>
          <p:cNvSpPr/>
          <p:nvPr/>
        </p:nvSpPr>
        <p:spPr>
          <a:xfrm>
            <a:off x="7781504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51" name="Pfeil: Chevron 250">
            <a:extLst>
              <a:ext uri="{FF2B5EF4-FFF2-40B4-BE49-F238E27FC236}">
                <a16:creationId xmlns:a16="http://schemas.microsoft.com/office/drawing/2014/main" id="{61F48DB7-EA21-BF18-4D3E-E97C31CF71FC}"/>
              </a:ext>
            </a:extLst>
          </p:cNvPr>
          <p:cNvSpPr/>
          <p:nvPr/>
        </p:nvSpPr>
        <p:spPr>
          <a:xfrm>
            <a:off x="389692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B4F00B45-6B21-CB1E-D5F5-1CA2523C2038}"/>
              </a:ext>
            </a:extLst>
          </p:cNvPr>
          <p:cNvGrpSpPr/>
          <p:nvPr/>
        </p:nvGrpSpPr>
        <p:grpSpPr>
          <a:xfrm>
            <a:off x="1040812" y="2221743"/>
            <a:ext cx="2341215" cy="2532161"/>
            <a:chOff x="1040812" y="2221743"/>
            <a:chExt cx="2341215" cy="2532161"/>
          </a:xfrm>
        </p:grpSpPr>
        <p:sp>
          <p:nvSpPr>
            <p:cNvPr id="253" name="Rechteck: abgerundete Ecken 252">
              <a:extLst>
                <a:ext uri="{FF2B5EF4-FFF2-40B4-BE49-F238E27FC236}">
                  <a16:creationId xmlns:a16="http://schemas.microsoft.com/office/drawing/2014/main" id="{2E946B3B-41BE-A155-D4C2-0D71045C2517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UI-Struktur</a:t>
              </a:r>
            </a:p>
          </p:txBody>
        </p:sp>
        <p:pic>
          <p:nvPicPr>
            <p:cNvPr id="254" name="Grafik 253" descr="Blog mit einfarbiger Füllung">
              <a:extLst>
                <a:ext uri="{FF2B5EF4-FFF2-40B4-BE49-F238E27FC236}">
                  <a16:creationId xmlns:a16="http://schemas.microsoft.com/office/drawing/2014/main" id="{FFC4F20E-0433-9D44-8161-DBD96C52D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255" name="Gruppieren 254">
            <a:extLst>
              <a:ext uri="{FF2B5EF4-FFF2-40B4-BE49-F238E27FC236}">
                <a16:creationId xmlns:a16="http://schemas.microsoft.com/office/drawing/2014/main" id="{608E5260-205C-03A3-338D-534593DDA58D}"/>
              </a:ext>
            </a:extLst>
          </p:cNvPr>
          <p:cNvGrpSpPr/>
          <p:nvPr/>
        </p:nvGrpSpPr>
        <p:grpSpPr>
          <a:xfrm>
            <a:off x="4925391" y="2221743"/>
            <a:ext cx="2341215" cy="2532161"/>
            <a:chOff x="4925391" y="2221743"/>
            <a:chExt cx="2341215" cy="2532161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89B2E7BF-0E25-C22B-EA8D-B143ACC228FB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&amp; Datenfluss</a:t>
              </a:r>
            </a:p>
          </p:txBody>
        </p:sp>
        <p:pic>
          <p:nvPicPr>
            <p:cNvPr id="36" name="Grafik 35" descr="Kontinuierliche Verbesserung mit einfarbiger Füllung">
              <a:extLst>
                <a:ext uri="{FF2B5EF4-FFF2-40B4-BE49-F238E27FC236}">
                  <a16:creationId xmlns:a16="http://schemas.microsoft.com/office/drawing/2014/main" id="{67B0181E-EFFA-0C3F-AAFB-FDFA1AF33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1C7B2DD1-783C-6232-E50B-9CDB5456899A}"/>
              </a:ext>
            </a:extLst>
          </p:cNvPr>
          <p:cNvGrpSpPr/>
          <p:nvPr/>
        </p:nvGrpSpPr>
        <p:grpSpPr>
          <a:xfrm>
            <a:off x="8809970" y="2267850"/>
            <a:ext cx="2341215" cy="2532161"/>
            <a:chOff x="8809970" y="2267850"/>
            <a:chExt cx="2341215" cy="2532161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1ECDA857-0FC3-0646-D1E0-9284B17F53FF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UX/Performance</a:t>
              </a:r>
            </a:p>
          </p:txBody>
        </p:sp>
        <p:pic>
          <p:nvPicPr>
            <p:cNvPr id="39" name="Grafik 38" descr="Balkendiagramm mit Aufwärtstrend mit einfarbiger Füllung">
              <a:extLst>
                <a:ext uri="{FF2B5EF4-FFF2-40B4-BE49-F238E27FC236}">
                  <a16:creationId xmlns:a16="http://schemas.microsoft.com/office/drawing/2014/main" id="{4ACE4DBC-7727-211E-3CD8-29C9A9B71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A6CCF70-2CB9-0ECA-420B-86C5A3B6BC46}"/>
              </a:ext>
            </a:extLst>
          </p:cNvPr>
          <p:cNvGrpSpPr/>
          <p:nvPr/>
        </p:nvGrpSpPr>
        <p:grpSpPr>
          <a:xfrm>
            <a:off x="1036811" y="2218014"/>
            <a:ext cx="2341215" cy="2532161"/>
            <a:chOff x="1040812" y="2221743"/>
            <a:chExt cx="2341215" cy="2532161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3B25FF9E-69D0-5A87-D6DF-5A1C849CC350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UI-Struktur</a:t>
              </a:r>
            </a:p>
          </p:txBody>
        </p:sp>
        <p:pic>
          <p:nvPicPr>
            <p:cNvPr id="42" name="Grafik 41" descr="Blog mit einfarbiger Füllung">
              <a:extLst>
                <a:ext uri="{FF2B5EF4-FFF2-40B4-BE49-F238E27FC236}">
                  <a16:creationId xmlns:a16="http://schemas.microsoft.com/office/drawing/2014/main" id="{0827DBAD-F84F-421A-3329-4B0FEC752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43683E37-59BF-CA42-5D72-A36D427DAA54}"/>
              </a:ext>
            </a:extLst>
          </p:cNvPr>
          <p:cNvGrpSpPr/>
          <p:nvPr/>
        </p:nvGrpSpPr>
        <p:grpSpPr>
          <a:xfrm>
            <a:off x="4920694" y="2229779"/>
            <a:ext cx="2341215" cy="2532161"/>
            <a:chOff x="4925391" y="2221743"/>
            <a:chExt cx="2341215" cy="2532161"/>
          </a:xfrm>
        </p:grpSpPr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913F9E87-BE60-EB48-C438-FA21B0700F4A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&amp; Datenfluss</a:t>
              </a:r>
            </a:p>
          </p:txBody>
        </p:sp>
        <p:pic>
          <p:nvPicPr>
            <p:cNvPr id="45" name="Grafik 44" descr="Kontinuierliche Verbesserung mit einfarbiger Füllung">
              <a:extLst>
                <a:ext uri="{FF2B5EF4-FFF2-40B4-BE49-F238E27FC236}">
                  <a16:creationId xmlns:a16="http://schemas.microsoft.com/office/drawing/2014/main" id="{65E9CC3A-3CC9-0A0A-1ADB-F41E36C6E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5C2FDDA-501C-BFFA-E80B-EBD74FB56EA0}"/>
              </a:ext>
            </a:extLst>
          </p:cNvPr>
          <p:cNvGrpSpPr/>
          <p:nvPr/>
        </p:nvGrpSpPr>
        <p:grpSpPr>
          <a:xfrm>
            <a:off x="8813437" y="2267850"/>
            <a:ext cx="2341215" cy="2532161"/>
            <a:chOff x="8628586" y="2162320"/>
            <a:chExt cx="2341215" cy="2532161"/>
          </a:xfrm>
        </p:grpSpPr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280290F1-19B6-82E7-BAB5-28195D78C957}"/>
                </a:ext>
              </a:extLst>
            </p:cNvPr>
            <p:cNvSpPr/>
            <p:nvPr/>
          </p:nvSpPr>
          <p:spPr>
            <a:xfrm>
              <a:off x="8628586" y="2162320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UX/Performance</a:t>
              </a:r>
            </a:p>
          </p:txBody>
        </p:sp>
        <p:pic>
          <p:nvPicPr>
            <p:cNvPr id="48" name="Grafik 47" descr="Balkendiagramm mit Aufwärtstrend mit einfarbiger Füllung">
              <a:extLst>
                <a:ext uri="{FF2B5EF4-FFF2-40B4-BE49-F238E27FC236}">
                  <a16:creationId xmlns:a16="http://schemas.microsoft.com/office/drawing/2014/main" id="{2A8E56B5-A305-BD83-F265-41AD5425D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9206716" y="2806374"/>
              <a:ext cx="1140612" cy="1140612"/>
            </a:xfrm>
            <a:prstGeom prst="rect">
              <a:avLst/>
            </a:prstGeom>
          </p:spPr>
        </p:pic>
      </p:grp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CA49B0C-F302-8FE5-1416-05793E695340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51B7E71-D046-0DAA-2AD5-B4896C022DB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F37F969B-F007-797F-4AC9-ED1FF6C9CDE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19E9C1B-A3A4-E0F3-1BB8-829B191DDC4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34E3B9C-0490-2C8A-10BD-A4E9883C2409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65B29DD-16DB-6689-3CC0-E8BDCEF8B0A1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DFD164E-0369-090F-AFFE-9EBC3F7F671E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37017D33-61F8-9048-6D15-D4941CA75BB9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CE1B8298-5309-8EBB-C721-F1084288039B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2A3EEE4-35A4-D1DC-3163-09999609C8CE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F4EE809E-DD37-54AA-C870-C662E6229679}"/>
              </a:ext>
            </a:extLst>
          </p:cNvPr>
          <p:cNvSpPr/>
          <p:nvPr/>
        </p:nvSpPr>
        <p:spPr>
          <a:xfrm>
            <a:off x="6132283" y="6443695"/>
            <a:ext cx="1129625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B57D55-ECE3-7160-087E-43E9C843C349}"/>
              </a:ext>
            </a:extLst>
          </p:cNvPr>
          <p:cNvSpPr/>
          <p:nvPr/>
        </p:nvSpPr>
        <p:spPr>
          <a:xfrm>
            <a:off x="13792409" y="1943100"/>
            <a:ext cx="10106188" cy="1598466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eyJhbGciOiJIUzI1NiIsInR5cCI6IkpXVCJ9.eyJzdWIiOiIxMjM0NTY3ODkwIiwibmFtZSI6IkpvaG4gRG9lIiwiaWF0IjoxNTE2MjM5MDIyfQ.XbPfblHMI6arZ3Y922BhjWgQzWXcXNrZ0ogtVhfEd2o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017ACD8-B738-8778-55EC-1EF3608D76A9}"/>
              </a:ext>
            </a:extLst>
          </p:cNvPr>
          <p:cNvSpPr/>
          <p:nvPr/>
        </p:nvSpPr>
        <p:spPr>
          <a:xfrm>
            <a:off x="13925550" y="2218501"/>
            <a:ext cx="5636871" cy="315624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6BA2893-464A-DEB5-534B-E2FE485BDD22}"/>
              </a:ext>
            </a:extLst>
          </p:cNvPr>
          <p:cNvSpPr/>
          <p:nvPr/>
        </p:nvSpPr>
        <p:spPr>
          <a:xfrm>
            <a:off x="19621808" y="2220231"/>
            <a:ext cx="4160211" cy="315624"/>
          </a:xfrm>
          <a:prstGeom prst="round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!!A1">
            <a:extLst>
              <a:ext uri="{FF2B5EF4-FFF2-40B4-BE49-F238E27FC236}">
                <a16:creationId xmlns:a16="http://schemas.microsoft.com/office/drawing/2014/main" id="{37C8F399-2308-7B22-81A2-F206523F6498}"/>
              </a:ext>
            </a:extLst>
          </p:cNvPr>
          <p:cNvSpPr/>
          <p:nvPr/>
        </p:nvSpPr>
        <p:spPr>
          <a:xfrm>
            <a:off x="23688747" y="2128838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56F81E7-1A55-73C8-74D3-3C59161D982E}"/>
              </a:ext>
            </a:extLst>
          </p:cNvPr>
          <p:cNvSpPr/>
          <p:nvPr/>
        </p:nvSpPr>
        <p:spPr>
          <a:xfrm>
            <a:off x="13843002" y="2593087"/>
            <a:ext cx="8418136" cy="307836"/>
          </a:xfrm>
          <a:prstGeom prst="roundRect">
            <a:avLst/>
          </a:prstGeom>
          <a:solidFill>
            <a:schemeClr val="tx1">
              <a:lumMod val="60000"/>
              <a:lumOff val="40000"/>
              <a:alpha val="20000"/>
            </a:schemeClr>
          </a:solidFill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!!A2">
            <a:extLst>
              <a:ext uri="{FF2B5EF4-FFF2-40B4-BE49-F238E27FC236}">
                <a16:creationId xmlns:a16="http://schemas.microsoft.com/office/drawing/2014/main" id="{9FB58EAC-0CD1-4539-ACC0-DF07DBC025C2}"/>
              </a:ext>
            </a:extLst>
          </p:cNvPr>
          <p:cNvSpPr/>
          <p:nvPr/>
        </p:nvSpPr>
        <p:spPr>
          <a:xfrm>
            <a:off x="13820051" y="2560970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655C8A7-C599-40BD-8DD1-D1C21E4EFB8F}"/>
              </a:ext>
            </a:extLst>
          </p:cNvPr>
          <p:cNvSpPr/>
          <p:nvPr/>
        </p:nvSpPr>
        <p:spPr>
          <a:xfrm>
            <a:off x="22324703" y="2593087"/>
            <a:ext cx="1457316" cy="307836"/>
          </a:xfrm>
          <a:prstGeom prst="roundRect">
            <a:avLst/>
          </a:prstGeom>
          <a:solidFill>
            <a:schemeClr val="tx1">
              <a:lumMod val="50000"/>
              <a:alpha val="2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!!A3">
            <a:extLst>
              <a:ext uri="{FF2B5EF4-FFF2-40B4-BE49-F238E27FC236}">
                <a16:creationId xmlns:a16="http://schemas.microsoft.com/office/drawing/2014/main" id="{2F4C9073-F3A6-E826-80EC-A6138DBFB935}"/>
              </a:ext>
            </a:extLst>
          </p:cNvPr>
          <p:cNvSpPr/>
          <p:nvPr/>
        </p:nvSpPr>
        <p:spPr>
          <a:xfrm>
            <a:off x="23688747" y="2514881"/>
            <a:ext cx="157245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7DB8B98-DE4C-4DE8-3D76-5B3810CF0DAC}"/>
              </a:ext>
            </a:extLst>
          </p:cNvPr>
          <p:cNvSpPr/>
          <p:nvPr/>
        </p:nvSpPr>
        <p:spPr>
          <a:xfrm>
            <a:off x="13843001" y="2962419"/>
            <a:ext cx="6140450" cy="307836"/>
          </a:xfrm>
          <a:prstGeom prst="roundRect">
            <a:avLst/>
          </a:prstGeom>
          <a:solidFill>
            <a:schemeClr val="tx1">
              <a:lumMod val="50000"/>
              <a:alpha val="2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!!A4">
            <a:extLst>
              <a:ext uri="{FF2B5EF4-FFF2-40B4-BE49-F238E27FC236}">
                <a16:creationId xmlns:a16="http://schemas.microsoft.com/office/drawing/2014/main" id="{7AA86B82-9285-ADFD-CE11-B8FD6FC70855}"/>
              </a:ext>
            </a:extLst>
          </p:cNvPr>
          <p:cNvSpPr/>
          <p:nvPr/>
        </p:nvSpPr>
        <p:spPr>
          <a:xfrm>
            <a:off x="13817415" y="2814795"/>
            <a:ext cx="106870" cy="494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C787F92-3589-41F2-2095-F43258CCAFD3}"/>
              </a:ext>
            </a:extLst>
          </p:cNvPr>
          <p:cNvSpPr txBox="1"/>
          <p:nvPr/>
        </p:nvSpPr>
        <p:spPr>
          <a:xfrm>
            <a:off x="14354627" y="3832704"/>
            <a:ext cx="204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kid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4F9839D-59F9-D6E0-EF61-CF15B953069F}"/>
              </a:ext>
            </a:extLst>
          </p:cNvPr>
          <p:cNvSpPr txBox="1"/>
          <p:nvPr/>
        </p:nvSpPr>
        <p:spPr>
          <a:xfrm>
            <a:off x="18052070" y="3895589"/>
            <a:ext cx="204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Payload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413EA45-B0A2-A08C-90BE-46A1276A5168}"/>
              </a:ext>
            </a:extLst>
          </p:cNvPr>
          <p:cNvSpPr txBox="1"/>
          <p:nvPr/>
        </p:nvSpPr>
        <p:spPr>
          <a:xfrm>
            <a:off x="21642232" y="3899966"/>
            <a:ext cx="2046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Signature</a:t>
            </a: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payload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fik 17" descr="Ein Bild, das Text, Diagramm, Zahl, Software enthält.">
            <a:extLst>
              <a:ext uri="{FF2B5EF4-FFF2-40B4-BE49-F238E27FC236}">
                <a16:creationId xmlns:a16="http://schemas.microsoft.com/office/drawing/2014/main" id="{77C64167-DC6B-81D6-6565-AC1B37E807E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8" r="12386"/>
          <a:stretch>
            <a:fillRect/>
          </a:stretch>
        </p:blipFill>
        <p:spPr>
          <a:xfrm>
            <a:off x="-7426190" y="1443091"/>
            <a:ext cx="6781800" cy="43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09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89CF-A4DC-BF72-7634-F7E51EDF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BB0CF4DE-E07A-046E-26EA-A2E7FC72B3F7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BBC3E9C-7F61-A13F-9FDB-2F8712C394A5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Pfeil: Chevron 249">
            <a:extLst>
              <a:ext uri="{FF2B5EF4-FFF2-40B4-BE49-F238E27FC236}">
                <a16:creationId xmlns:a16="http://schemas.microsoft.com/office/drawing/2014/main" id="{A6117575-0553-33E2-5002-9A5751ED6106}"/>
              </a:ext>
            </a:extLst>
          </p:cNvPr>
          <p:cNvSpPr/>
          <p:nvPr/>
        </p:nvSpPr>
        <p:spPr>
          <a:xfrm>
            <a:off x="19859204" y="3143409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51" name="Pfeil: Chevron 250">
            <a:extLst>
              <a:ext uri="{FF2B5EF4-FFF2-40B4-BE49-F238E27FC236}">
                <a16:creationId xmlns:a16="http://schemas.microsoft.com/office/drawing/2014/main" id="{2FE5A9DB-3C55-523E-D465-0F405357A62E}"/>
              </a:ext>
            </a:extLst>
          </p:cNvPr>
          <p:cNvSpPr/>
          <p:nvPr/>
        </p:nvSpPr>
        <p:spPr>
          <a:xfrm>
            <a:off x="15974625" y="3149022"/>
            <a:ext cx="513568" cy="67760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52" name="Gruppieren 251">
            <a:extLst>
              <a:ext uri="{FF2B5EF4-FFF2-40B4-BE49-F238E27FC236}">
                <a16:creationId xmlns:a16="http://schemas.microsoft.com/office/drawing/2014/main" id="{221D8A9F-1ED2-8EA9-965C-DE0E93E1A21A}"/>
              </a:ext>
            </a:extLst>
          </p:cNvPr>
          <p:cNvGrpSpPr/>
          <p:nvPr/>
        </p:nvGrpSpPr>
        <p:grpSpPr>
          <a:xfrm>
            <a:off x="13118512" y="2221743"/>
            <a:ext cx="2341215" cy="2532161"/>
            <a:chOff x="1040812" y="2221743"/>
            <a:chExt cx="2341215" cy="2532161"/>
          </a:xfrm>
        </p:grpSpPr>
        <p:sp>
          <p:nvSpPr>
            <p:cNvPr id="253" name="Rechteck: abgerundete Ecken 252">
              <a:extLst>
                <a:ext uri="{FF2B5EF4-FFF2-40B4-BE49-F238E27FC236}">
                  <a16:creationId xmlns:a16="http://schemas.microsoft.com/office/drawing/2014/main" id="{8ABB7AB2-DCB6-EA47-FA51-D8BBFE64F29E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UI-Struktur</a:t>
              </a:r>
            </a:p>
          </p:txBody>
        </p:sp>
        <p:pic>
          <p:nvPicPr>
            <p:cNvPr id="254" name="Grafik 253" descr="Blog mit einfarbiger Füllung">
              <a:extLst>
                <a:ext uri="{FF2B5EF4-FFF2-40B4-BE49-F238E27FC236}">
                  <a16:creationId xmlns:a16="http://schemas.microsoft.com/office/drawing/2014/main" id="{DA38491C-D35A-1916-84BC-9D1A36685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255" name="Gruppieren 254">
            <a:extLst>
              <a:ext uri="{FF2B5EF4-FFF2-40B4-BE49-F238E27FC236}">
                <a16:creationId xmlns:a16="http://schemas.microsoft.com/office/drawing/2014/main" id="{96D918EA-8960-005E-B739-9CC23D809522}"/>
              </a:ext>
            </a:extLst>
          </p:cNvPr>
          <p:cNvGrpSpPr/>
          <p:nvPr/>
        </p:nvGrpSpPr>
        <p:grpSpPr>
          <a:xfrm>
            <a:off x="17003091" y="2221743"/>
            <a:ext cx="2341215" cy="2532161"/>
            <a:chOff x="4925391" y="2221743"/>
            <a:chExt cx="2341215" cy="2532161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CC74F585-40F4-F574-6465-14C45406E5F7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&amp; Datenfluss</a:t>
              </a:r>
            </a:p>
          </p:txBody>
        </p:sp>
        <p:pic>
          <p:nvPicPr>
            <p:cNvPr id="36" name="Grafik 35" descr="Kontinuierliche Verbesserung mit einfarbiger Füllung">
              <a:extLst>
                <a:ext uri="{FF2B5EF4-FFF2-40B4-BE49-F238E27FC236}">
                  <a16:creationId xmlns:a16="http://schemas.microsoft.com/office/drawing/2014/main" id="{93ABBD4E-2A05-C961-4838-C2E2198ED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7314A81-2F58-B47D-E888-A2E94B59B030}"/>
              </a:ext>
            </a:extLst>
          </p:cNvPr>
          <p:cNvGrpSpPr/>
          <p:nvPr/>
        </p:nvGrpSpPr>
        <p:grpSpPr>
          <a:xfrm>
            <a:off x="20887670" y="2267850"/>
            <a:ext cx="2341215" cy="2532161"/>
            <a:chOff x="8809970" y="2267850"/>
            <a:chExt cx="2341215" cy="2532161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C24F696C-458C-38C2-C944-0760D0C1608C}"/>
                </a:ext>
              </a:extLst>
            </p:cNvPr>
            <p:cNvSpPr/>
            <p:nvPr/>
          </p:nvSpPr>
          <p:spPr>
            <a:xfrm>
              <a:off x="8809970" y="2267850"/>
              <a:ext cx="2341215" cy="2532161"/>
            </a:xfrm>
            <a:prstGeom prst="round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UX/Performance</a:t>
              </a:r>
            </a:p>
          </p:txBody>
        </p:sp>
        <p:pic>
          <p:nvPicPr>
            <p:cNvPr id="39" name="Grafik 38" descr="Balkendiagramm mit Aufwärtstrend mit einfarbiger Füllung">
              <a:extLst>
                <a:ext uri="{FF2B5EF4-FFF2-40B4-BE49-F238E27FC236}">
                  <a16:creationId xmlns:a16="http://schemas.microsoft.com/office/drawing/2014/main" id="{177898C7-25E5-16A8-A7E9-06D9E0C34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410271" y="2876465"/>
              <a:ext cx="1140612" cy="1140612"/>
            </a:xfrm>
            <a:prstGeom prst="rect">
              <a:avLst/>
            </a:prstGeom>
          </p:spPr>
        </p:pic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947B7386-A1E6-3846-4F27-471A28BD6AA9}"/>
              </a:ext>
            </a:extLst>
          </p:cNvPr>
          <p:cNvGrpSpPr/>
          <p:nvPr/>
        </p:nvGrpSpPr>
        <p:grpSpPr>
          <a:xfrm>
            <a:off x="13114511" y="2218014"/>
            <a:ext cx="2341215" cy="2532161"/>
            <a:chOff x="1040812" y="2221743"/>
            <a:chExt cx="2341215" cy="2532161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30BEB4DB-AA0E-6C72-B668-C76333C677B8}"/>
                </a:ext>
              </a:extLst>
            </p:cNvPr>
            <p:cNvSpPr/>
            <p:nvPr/>
          </p:nvSpPr>
          <p:spPr>
            <a:xfrm>
              <a:off x="1040812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UI-Struktur</a:t>
              </a:r>
            </a:p>
          </p:txBody>
        </p:sp>
        <p:pic>
          <p:nvPicPr>
            <p:cNvPr id="42" name="Grafik 41" descr="Blog mit einfarbiger Füllung">
              <a:extLst>
                <a:ext uri="{FF2B5EF4-FFF2-40B4-BE49-F238E27FC236}">
                  <a16:creationId xmlns:a16="http://schemas.microsoft.com/office/drawing/2014/main" id="{0FCE5A8E-3D2E-972A-FDB1-9BFC26D54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648865" y="2602573"/>
              <a:ext cx="1303336" cy="1303336"/>
            </a:xfrm>
            <a:prstGeom prst="rect">
              <a:avLst/>
            </a:prstGeom>
          </p:spPr>
        </p:pic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E77B7E86-F9AA-1720-26F9-41EEDBBDC0A0}"/>
              </a:ext>
            </a:extLst>
          </p:cNvPr>
          <p:cNvGrpSpPr/>
          <p:nvPr/>
        </p:nvGrpSpPr>
        <p:grpSpPr>
          <a:xfrm>
            <a:off x="16998394" y="2229779"/>
            <a:ext cx="2341215" cy="2532161"/>
            <a:chOff x="4925391" y="2221743"/>
            <a:chExt cx="2341215" cy="2532161"/>
          </a:xfrm>
        </p:grpSpPr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2A1932E5-F3C1-2135-5C22-F11D4EF7DB48}"/>
                </a:ext>
              </a:extLst>
            </p:cNvPr>
            <p:cNvSpPr/>
            <p:nvPr/>
          </p:nvSpPr>
          <p:spPr>
            <a:xfrm>
              <a:off x="4925391" y="2221743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&amp; Datenfluss</a:t>
              </a:r>
            </a:p>
          </p:txBody>
        </p:sp>
        <p:pic>
          <p:nvPicPr>
            <p:cNvPr id="45" name="Grafik 44" descr="Kontinuierliche Verbesserung mit einfarbiger Füllung">
              <a:extLst>
                <a:ext uri="{FF2B5EF4-FFF2-40B4-BE49-F238E27FC236}">
                  <a16:creationId xmlns:a16="http://schemas.microsoft.com/office/drawing/2014/main" id="{EED84228-EC11-BAE8-0909-84EA8439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504155" y="2866469"/>
              <a:ext cx="1104907" cy="1104907"/>
            </a:xfrm>
            <a:prstGeom prst="rect">
              <a:avLst/>
            </a:prstGeom>
          </p:spPr>
        </p:pic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6F83D406-B119-B368-5472-6A014EABCC18}"/>
              </a:ext>
            </a:extLst>
          </p:cNvPr>
          <p:cNvGrpSpPr/>
          <p:nvPr/>
        </p:nvGrpSpPr>
        <p:grpSpPr>
          <a:xfrm>
            <a:off x="20891137" y="2267850"/>
            <a:ext cx="2341215" cy="2532161"/>
            <a:chOff x="8628586" y="2162320"/>
            <a:chExt cx="2341215" cy="2532161"/>
          </a:xfrm>
        </p:grpSpPr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EAFA2962-260D-EBAC-1ACE-B65D75B04027}"/>
                </a:ext>
              </a:extLst>
            </p:cNvPr>
            <p:cNvSpPr/>
            <p:nvPr/>
          </p:nvSpPr>
          <p:spPr>
            <a:xfrm>
              <a:off x="8628586" y="2162320"/>
              <a:ext cx="2341215" cy="253216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b"/>
            <a:lstStyle/>
            <a:p>
              <a:pPr algn="ctr"/>
              <a:r>
                <a:rPr lang="de-DE" sz="200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UX/Performance</a:t>
              </a:r>
            </a:p>
          </p:txBody>
        </p:sp>
        <p:pic>
          <p:nvPicPr>
            <p:cNvPr id="48" name="Grafik 47" descr="Balkendiagramm mit Aufwärtstrend mit einfarbiger Füllung">
              <a:extLst>
                <a:ext uri="{FF2B5EF4-FFF2-40B4-BE49-F238E27FC236}">
                  <a16:creationId xmlns:a16="http://schemas.microsoft.com/office/drawing/2014/main" id="{BD3FB673-6316-1801-5526-4088AE581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9206716" y="2806374"/>
              <a:ext cx="1140612" cy="1140612"/>
            </a:xfrm>
            <a:prstGeom prst="rect">
              <a:avLst/>
            </a:prstGeom>
          </p:spPr>
        </p:pic>
      </p:grp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715C6CA-15C4-8AFB-C272-390A1ADCF31C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1B89999-DEFD-B6CE-285F-F945917EEA8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3B92C29-F97A-746E-F00E-21380427E289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5D34DE64-4011-7113-159B-95314B213DA2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435E8E2-0C86-DD8A-A4C0-32167C15AA82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DC11696-71D1-3C5C-5843-ACBD3DAEFD70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EA8EF4FF-E650-ECF9-2646-98D1C61B1F12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47C3CBB2-8EE0-5799-B075-0D0599879DF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31F4E7F9-604B-35D8-DFC9-F13DFBC6C431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8D2C207-8425-CA9C-DCB9-79B2D1114709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DC9B24E7-FD30-766D-7B00-D3A2A728D52E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Diagramm, Zahl, Software enthält.">
            <a:extLst>
              <a:ext uri="{FF2B5EF4-FFF2-40B4-BE49-F238E27FC236}">
                <a16:creationId xmlns:a16="http://schemas.microsoft.com/office/drawing/2014/main" id="{352124E4-6A2B-407C-8041-6B090C4EA9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8" r="12386"/>
          <a:stretch>
            <a:fillRect/>
          </a:stretch>
        </p:blipFill>
        <p:spPr>
          <a:xfrm>
            <a:off x="1204685" y="1443091"/>
            <a:ext cx="6781800" cy="4398049"/>
          </a:xfrm>
          <a:prstGeom prst="rect">
            <a:avLst/>
          </a:prstGeom>
        </p:spPr>
      </p:pic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3AEBC3A-A363-D28A-FD10-65A5C2B325B2}"/>
              </a:ext>
            </a:extLst>
          </p:cNvPr>
          <p:cNvSpPr/>
          <p:nvPr/>
        </p:nvSpPr>
        <p:spPr>
          <a:xfrm>
            <a:off x="1479324" y="2835131"/>
            <a:ext cx="1533752" cy="3084657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68D731D-E550-0030-C773-1CB186FBAEA3}"/>
              </a:ext>
            </a:extLst>
          </p:cNvPr>
          <p:cNvSpPr/>
          <p:nvPr/>
        </p:nvSpPr>
        <p:spPr>
          <a:xfrm>
            <a:off x="1479324" y="1818498"/>
            <a:ext cx="6261326" cy="962802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56D3DAE-A9DD-A8BC-6468-48458B041972}"/>
              </a:ext>
            </a:extLst>
          </p:cNvPr>
          <p:cNvSpPr/>
          <p:nvPr/>
        </p:nvSpPr>
        <p:spPr>
          <a:xfrm>
            <a:off x="3060700" y="2835130"/>
            <a:ext cx="4679950" cy="3084657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25" name="!!Backdrop">
            <a:extLst>
              <a:ext uri="{FF2B5EF4-FFF2-40B4-BE49-F238E27FC236}">
                <a16:creationId xmlns:a16="http://schemas.microsoft.com/office/drawing/2014/main" id="{ECE1ECEF-C411-F6AB-66A3-ED36E058CFC3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26" name="Grafik 225" descr="Schild Häkchen mit einfarbiger Füllung">
            <a:extLst>
              <a:ext uri="{FF2B5EF4-FFF2-40B4-BE49-F238E27FC236}">
                <a16:creationId xmlns:a16="http://schemas.microsoft.com/office/drawing/2014/main" id="{EB30B990-3C7E-30CD-1F91-E787534FF0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09741" y="2689925"/>
            <a:ext cx="1665518" cy="1665518"/>
          </a:xfrm>
          <a:prstGeom prst="rect">
            <a:avLst/>
          </a:prstGeom>
        </p:spPr>
      </p:pic>
      <p:sp>
        <p:nvSpPr>
          <p:cNvPr id="227" name="Textfeld 226">
            <a:extLst>
              <a:ext uri="{FF2B5EF4-FFF2-40B4-BE49-F238E27FC236}">
                <a16:creationId xmlns:a16="http://schemas.microsoft.com/office/drawing/2014/main" id="{0170D858-11BA-A93D-984A-6D294D223B76}"/>
              </a:ext>
            </a:extLst>
          </p:cNvPr>
          <p:cNvSpPr txBox="1"/>
          <p:nvPr/>
        </p:nvSpPr>
        <p:spPr>
          <a:xfrm>
            <a:off x="8419182" y="4355443"/>
            <a:ext cx="284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Nur für Rolle Manager!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095AAD7-AF96-BAE0-59A2-F474EFF62AE9}"/>
              </a:ext>
            </a:extLst>
          </p:cNvPr>
          <p:cNvGrpSpPr/>
          <p:nvPr/>
        </p:nvGrpSpPr>
        <p:grpSpPr>
          <a:xfrm>
            <a:off x="-2337963" y="2118515"/>
            <a:ext cx="1956510" cy="2181355"/>
            <a:chOff x="6993157" y="4980368"/>
            <a:chExt cx="1956510" cy="2181355"/>
          </a:xfrm>
        </p:grpSpPr>
        <p:pic>
          <p:nvPicPr>
            <p:cNvPr id="5" name="ME">
              <a:extLst>
                <a:ext uri="{FF2B5EF4-FFF2-40B4-BE49-F238E27FC236}">
                  <a16:creationId xmlns:a16="http://schemas.microsoft.com/office/drawing/2014/main" id="{FBC2C9B0-C02B-D0B3-13B6-C71C03300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6" name="Grafik 5" descr="Nach rechts zeigender Finger, Handrücken mit einfarbiger Füllung">
              <a:extLst>
                <a:ext uri="{FF2B5EF4-FFF2-40B4-BE49-F238E27FC236}">
                  <a16:creationId xmlns:a16="http://schemas.microsoft.com/office/drawing/2014/main" id="{8C9197BC-67B8-F451-9BBA-BFB59CE34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7043067">
              <a:off x="8035267" y="62473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127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D06DD-C117-D511-16D8-4D35EB80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164842C1-FE17-4B47-9FDA-3C8443BEB1D4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BD41AEC-5883-F4F8-7E16-3924A4DDB9D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768178C7-F82D-F5B2-91C9-736A1D53547B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794A6F5-D633-7674-5E1F-5FE3D740BA8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F8C1B81F-F79A-EE6D-7D97-694391A614A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A9775CBF-E2BA-3256-BA51-15295E4B8978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4465A71-34A5-AE14-BD3A-56265B643663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DDF9F47-38F1-0ED7-1063-CD4A9C396EFD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7D49AECD-6463-7FCF-168A-60F54D4D99D8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D7462B8F-C4D8-F187-7C36-F07B4402C5F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61B4616C-EBE8-75AC-DCEC-0E64666A6B97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EFD07C-04B3-E32F-FE13-100B194C1F58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DF1DB93-128C-38CE-1749-3116372BE8BA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Diagramm, Zahl, Software enthält.">
            <a:extLst>
              <a:ext uri="{FF2B5EF4-FFF2-40B4-BE49-F238E27FC236}">
                <a16:creationId xmlns:a16="http://schemas.microsoft.com/office/drawing/2014/main" id="{0E5B9989-32CE-FF83-2756-A594469B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8" r="12386"/>
          <a:stretch>
            <a:fillRect/>
          </a:stretch>
        </p:blipFill>
        <p:spPr>
          <a:xfrm>
            <a:off x="1204685" y="1443091"/>
            <a:ext cx="6781800" cy="4398049"/>
          </a:xfrm>
          <a:prstGeom prst="rect">
            <a:avLst/>
          </a:prstGeom>
        </p:spPr>
      </p:pic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99C23912-F2AC-2687-9F0D-E6FE5F691BA0}"/>
              </a:ext>
            </a:extLst>
          </p:cNvPr>
          <p:cNvSpPr/>
          <p:nvPr/>
        </p:nvSpPr>
        <p:spPr>
          <a:xfrm>
            <a:off x="1479324" y="2835131"/>
            <a:ext cx="1533752" cy="3084657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1861F84-4B10-9B4D-279E-987EBDC95155}"/>
              </a:ext>
            </a:extLst>
          </p:cNvPr>
          <p:cNvSpPr/>
          <p:nvPr/>
        </p:nvSpPr>
        <p:spPr>
          <a:xfrm>
            <a:off x="1479324" y="1818498"/>
            <a:ext cx="6261326" cy="962802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66651002-A777-25E7-83DA-9AF90D9C0582}"/>
              </a:ext>
            </a:extLst>
          </p:cNvPr>
          <p:cNvSpPr/>
          <p:nvPr/>
        </p:nvSpPr>
        <p:spPr>
          <a:xfrm>
            <a:off x="3060700" y="2835130"/>
            <a:ext cx="4679950" cy="3084657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2" name="!!Backdrop">
            <a:extLst>
              <a:ext uri="{FF2B5EF4-FFF2-40B4-BE49-F238E27FC236}">
                <a16:creationId xmlns:a16="http://schemas.microsoft.com/office/drawing/2014/main" id="{1CB07876-5AEF-0FAC-7280-784302F2782D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2" name="Grafik 21" descr="Ein Bild, das Text, Diagramm, Zahl, Software enthält.">
            <a:extLst>
              <a:ext uri="{FF2B5EF4-FFF2-40B4-BE49-F238E27FC236}">
                <a16:creationId xmlns:a16="http://schemas.microsoft.com/office/drawing/2014/main" id="{FAEEC5F2-D248-856C-8BF3-A7E8632B5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9" r="13418" b="69455"/>
          <a:stretch>
            <a:fillRect/>
          </a:stretch>
        </p:blipFill>
        <p:spPr>
          <a:xfrm>
            <a:off x="1554958" y="2517491"/>
            <a:ext cx="9082083" cy="1823018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7EB65D7-D04F-237C-345F-3509492707D2}"/>
              </a:ext>
            </a:extLst>
          </p:cNvPr>
          <p:cNvGrpSpPr/>
          <p:nvPr/>
        </p:nvGrpSpPr>
        <p:grpSpPr>
          <a:xfrm>
            <a:off x="7904442" y="2118515"/>
            <a:ext cx="1956510" cy="2181355"/>
            <a:chOff x="6993157" y="4980368"/>
            <a:chExt cx="1956510" cy="2181355"/>
          </a:xfrm>
        </p:grpSpPr>
        <p:pic>
          <p:nvPicPr>
            <p:cNvPr id="6" name="ME">
              <a:extLst>
                <a:ext uri="{FF2B5EF4-FFF2-40B4-BE49-F238E27FC236}">
                  <a16:creationId xmlns:a16="http://schemas.microsoft.com/office/drawing/2014/main" id="{C0276765-7537-A00A-1BA4-B00FF3F01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7" name="Grafik 6" descr="Nach rechts zeigender Finger, Handrücken mit einfarbiger Füllung">
              <a:extLst>
                <a:ext uri="{FF2B5EF4-FFF2-40B4-BE49-F238E27FC236}">
                  <a16:creationId xmlns:a16="http://schemas.microsoft.com/office/drawing/2014/main" id="{74D8D541-DD83-9030-6086-1EE25C7F6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7043067">
              <a:off x="8035267" y="6247323"/>
              <a:ext cx="914400" cy="914400"/>
            </a:xfrm>
            <a:prstGeom prst="rect">
              <a:avLst/>
            </a:prstGeom>
          </p:spPr>
        </p:pic>
      </p:grpSp>
      <p:pic>
        <p:nvPicPr>
          <p:cNvPr id="14" name="Grafik 13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816A55DD-C688-A2C5-4565-E39B34558C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3750" r="13809" b="3861"/>
          <a:stretch>
            <a:fillRect/>
          </a:stretch>
        </p:blipFill>
        <p:spPr>
          <a:xfrm>
            <a:off x="-7517814" y="1747869"/>
            <a:ext cx="6905150" cy="424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94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F367-8838-D170-B33C-00F4A999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6BD8F170-EFBF-F8CD-231C-47678269441F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5C287F9-E6C2-DD6E-9497-5DF4D86EF0AB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B59F2ED-475B-6483-1C92-3763E25C2E9B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A676FE2-DF78-01BD-539E-D5E9AE103269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3051A2B8-C49F-38D5-EE4B-4F875F2263EE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EA39E185-628F-AF83-F544-3BCBE2D4E802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88C082DF-3F2D-C278-B383-B1F9C7B669F9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3DD10A0-918F-73C8-512D-F5DC87FE6E5B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407E820-40BD-51AD-9758-2477BACE5897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35280B8-7578-5B7F-39B1-6D580B7E6D7B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7BC1CF65-3C8F-4AC5-C19A-0204E029AEE2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6ACA9D3-E8E5-17F9-F2D0-9654E9C0E31E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D60B1CEC-6B9A-948C-CFBD-4D1B6DDB0891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0644D5D2-BF89-486A-F941-ACF484C14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3750" r="13809" b="3861"/>
          <a:stretch>
            <a:fillRect/>
          </a:stretch>
        </p:blipFill>
        <p:spPr>
          <a:xfrm>
            <a:off x="762010" y="1747869"/>
            <a:ext cx="6905150" cy="4242547"/>
          </a:xfrm>
          <a:prstGeom prst="rect">
            <a:avLst/>
          </a:prstGeom>
        </p:spPr>
      </p:pic>
      <p:pic>
        <p:nvPicPr>
          <p:cNvPr id="10" name="Grafik 9" descr="Ein Bild, das Text, Diagramm, Zahl, Software enthält.">
            <a:extLst>
              <a:ext uri="{FF2B5EF4-FFF2-40B4-BE49-F238E27FC236}">
                <a16:creationId xmlns:a16="http://schemas.microsoft.com/office/drawing/2014/main" id="{2E287F42-BB87-7095-DEA4-0B1674F44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8" r="12386"/>
          <a:stretch>
            <a:fillRect/>
          </a:stretch>
        </p:blipFill>
        <p:spPr>
          <a:xfrm>
            <a:off x="12627428" y="1443091"/>
            <a:ext cx="6781800" cy="4398049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6B26B6F-E814-4139-A938-35551667CEBF}"/>
              </a:ext>
            </a:extLst>
          </p:cNvPr>
          <p:cNvSpPr/>
          <p:nvPr/>
        </p:nvSpPr>
        <p:spPr>
          <a:xfrm>
            <a:off x="12902067" y="2835131"/>
            <a:ext cx="1533752" cy="3084657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7560EDB-2341-240A-980D-6F59358A5403}"/>
              </a:ext>
            </a:extLst>
          </p:cNvPr>
          <p:cNvSpPr/>
          <p:nvPr/>
        </p:nvSpPr>
        <p:spPr>
          <a:xfrm>
            <a:off x="12902067" y="1818498"/>
            <a:ext cx="6261326" cy="962802"/>
          </a:xfrm>
          <a:prstGeom prst="roundRect">
            <a:avLst>
              <a:gd name="adj" fmla="val 2858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F91E67C-813D-DAE1-62DB-BD370788498A}"/>
              </a:ext>
            </a:extLst>
          </p:cNvPr>
          <p:cNvSpPr/>
          <p:nvPr/>
        </p:nvSpPr>
        <p:spPr>
          <a:xfrm>
            <a:off x="14483443" y="2835130"/>
            <a:ext cx="4679950" cy="3084657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pic>
        <p:nvPicPr>
          <p:cNvPr id="14" name="Grafik 13" descr="Ein Bild, das Text, Diagramm, Zahl, Software enthält.">
            <a:extLst>
              <a:ext uri="{FF2B5EF4-FFF2-40B4-BE49-F238E27FC236}">
                <a16:creationId xmlns:a16="http://schemas.microsoft.com/office/drawing/2014/main" id="{BAEC517B-49FF-53AB-5024-CF2FB8138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9" r="13418" b="69455"/>
          <a:stretch>
            <a:fillRect/>
          </a:stretch>
        </p:blipFill>
        <p:spPr>
          <a:xfrm>
            <a:off x="12977701" y="2517491"/>
            <a:ext cx="9082083" cy="1823018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1C057493-B5E2-8FD2-A1BB-212CA9ABBC75}"/>
              </a:ext>
            </a:extLst>
          </p:cNvPr>
          <p:cNvGrpSpPr/>
          <p:nvPr/>
        </p:nvGrpSpPr>
        <p:grpSpPr>
          <a:xfrm>
            <a:off x="19574346" y="2144986"/>
            <a:ext cx="1726287" cy="2195523"/>
            <a:chOff x="6993157" y="4980368"/>
            <a:chExt cx="1726287" cy="2195523"/>
          </a:xfrm>
        </p:grpSpPr>
        <p:pic>
          <p:nvPicPr>
            <p:cNvPr id="16" name="ME">
              <a:extLst>
                <a:ext uri="{FF2B5EF4-FFF2-40B4-BE49-F238E27FC236}">
                  <a16:creationId xmlns:a16="http://schemas.microsoft.com/office/drawing/2014/main" id="{710EAF52-9FE2-43BB-0B1D-917150C7C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7" name="Grafik 16" descr="Nach rechts zeigender Finger, Handrücken mit einfarbiger Füllung">
              <a:extLst>
                <a:ext uri="{FF2B5EF4-FFF2-40B4-BE49-F238E27FC236}">
                  <a16:creationId xmlns:a16="http://schemas.microsoft.com/office/drawing/2014/main" id="{84704D21-CFF7-2AD6-FD70-FAB47313F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805044" y="6261491"/>
              <a:ext cx="914400" cy="914400"/>
            </a:xfrm>
            <a:prstGeom prst="rect">
              <a:avLst/>
            </a:prstGeom>
          </p:spPr>
        </p:pic>
      </p:grpSp>
      <p:sp>
        <p:nvSpPr>
          <p:cNvPr id="25" name="!!Backdrop2">
            <a:extLst>
              <a:ext uri="{FF2B5EF4-FFF2-40B4-BE49-F238E27FC236}">
                <a16:creationId xmlns:a16="http://schemas.microsoft.com/office/drawing/2014/main" id="{D59E26E7-9A8F-B8B4-4C43-83343BA86CDA}"/>
              </a:ext>
            </a:extLst>
          </p:cNvPr>
          <p:cNvSpPr/>
          <p:nvPr/>
        </p:nvSpPr>
        <p:spPr>
          <a:xfrm>
            <a:off x="762010" y="1747869"/>
            <a:ext cx="6905150" cy="4242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0171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FBBA-10B3-819A-949C-7E941BFD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4D4C059A-824B-907B-D139-F9765F31B333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90FCA2D-E04B-8B08-F262-8B78803C5E6D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B7ADEB0-04C5-7E99-920C-C60DBA0F20F6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886FA4A6-9D4C-190F-140A-D89768347D8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0A25C59-BE37-600A-0293-9E670F301BD0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DF5FEEE-738E-11F1-1821-6AE3EBE0FB72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65632D5-1AF7-2EAD-655B-E25169550102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1A92B1F6-8C2B-C470-0DE5-599E1B812042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11CD43F-8AFD-B68B-3EFA-FC15121794CA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C8386176-FF09-3CB1-86D2-CA625A4FDD7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9AD46F83-34F5-127A-DAAE-969BF34A1260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04AAE19-4159-55D7-0895-42565D4296C0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802B180A-2ABB-652E-4AAC-BD0BF1401C59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03871D24-A6A0-5435-25F0-64C2FF0F2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3750" r="13809" b="3861"/>
          <a:stretch>
            <a:fillRect/>
          </a:stretch>
        </p:blipFill>
        <p:spPr>
          <a:xfrm>
            <a:off x="762010" y="1747869"/>
            <a:ext cx="6905150" cy="4242547"/>
          </a:xfrm>
          <a:prstGeom prst="rect">
            <a:avLst/>
          </a:prstGeom>
        </p:spPr>
      </p:pic>
      <p:sp>
        <p:nvSpPr>
          <p:cNvPr id="2" name="!!Backdrop2">
            <a:extLst>
              <a:ext uri="{FF2B5EF4-FFF2-40B4-BE49-F238E27FC236}">
                <a16:creationId xmlns:a16="http://schemas.microsoft.com/office/drawing/2014/main" id="{F0AD22B8-3DB0-85CA-6B70-85EAD7C573E1}"/>
              </a:ext>
            </a:extLst>
          </p:cNvPr>
          <p:cNvSpPr/>
          <p:nvPr/>
        </p:nvSpPr>
        <p:spPr>
          <a:xfrm>
            <a:off x="762010" y="1747869"/>
            <a:ext cx="6905150" cy="4242548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D125A338-2A2F-E2B6-CB75-2BF35F7CD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8" t="81126" r="36639" b="4491"/>
          <a:stretch>
            <a:fillRect/>
          </a:stretch>
        </p:blipFill>
        <p:spPr>
          <a:xfrm>
            <a:off x="1825830" y="3236311"/>
            <a:ext cx="4777509" cy="1265663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D27C9781-F45A-0D9E-0E22-25A228887822}"/>
              </a:ext>
            </a:extLst>
          </p:cNvPr>
          <p:cNvSpPr/>
          <p:nvPr/>
        </p:nvSpPr>
        <p:spPr>
          <a:xfrm>
            <a:off x="6443676" y="3526587"/>
            <a:ext cx="1854199" cy="685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15F345B-51E9-B554-F662-6FB349FA78C2}"/>
              </a:ext>
            </a:extLst>
          </p:cNvPr>
          <p:cNvSpPr txBox="1"/>
          <p:nvPr/>
        </p:nvSpPr>
        <p:spPr>
          <a:xfrm>
            <a:off x="8730980" y="4033839"/>
            <a:ext cx="2846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Besonderheiten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Vernetzt mit Mitarbeitersuche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Session Speicher</a:t>
            </a:r>
          </a:p>
        </p:txBody>
      </p:sp>
      <p:pic>
        <p:nvPicPr>
          <p:cNvPr id="18" name="Grafik 17" descr="Spinnennetz mit einfarbiger Füllung">
            <a:extLst>
              <a:ext uri="{FF2B5EF4-FFF2-40B4-BE49-F238E27FC236}">
                <a16:creationId xmlns:a16="http://schemas.microsoft.com/office/drawing/2014/main" id="{3D9753EE-DC94-9EB4-8D45-0FC65C2EE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593" y="2501007"/>
            <a:ext cx="1389086" cy="1389086"/>
          </a:xfrm>
          <a:prstGeom prst="rect">
            <a:avLst/>
          </a:prstGeom>
        </p:spPr>
      </p:pic>
      <p:pic>
        <p:nvPicPr>
          <p:cNvPr id="19" name="Grafik 18" descr="Ein Bild, das Text, Screenshot, Software, Webseite enthält.">
            <a:extLst>
              <a:ext uri="{FF2B5EF4-FFF2-40B4-BE49-F238E27FC236}">
                <a16:creationId xmlns:a16="http://schemas.microsoft.com/office/drawing/2014/main" id="{C6315D35-45FF-13D7-4B45-5B2CB23DF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-7833789" y="1747869"/>
            <a:ext cx="7350696" cy="432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14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65EB-408E-A1F6-5687-CA4A33A1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F91C7726-C630-1E9E-DC81-BDDDA8D88C79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A5E777B-1695-DED0-B945-788BC5E4A95D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2FFF85A-7FD4-933B-718B-940DED756EF6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A5B46D76-2FC0-79F9-8C2C-7724DDDA656C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526C6FE-EF70-0DBC-39B7-22010B72632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ED178A4-C91F-8E0C-BCC9-3F7A95B71C03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3D74299-D1C3-41C1-0604-8A4699F82C9E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1967427B-0139-8189-5858-A6E3D7D66DF5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AE47A4D-C0C4-204F-F67C-690503F028AD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3FC0BB53-B895-B971-BF13-2E4693D03D4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CF475FF0-DC05-D281-7544-D1400D01A548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90FB49D-C3FD-04D9-F10F-8CDF37FC0F3F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C21300A9-9AF9-3B36-E5BF-A05ABB8D52F0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3CA50784-A5A4-A993-B85A-531F7702E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9" t="3750" r="13809" b="3861"/>
          <a:stretch>
            <a:fillRect/>
          </a:stretch>
        </p:blipFill>
        <p:spPr>
          <a:xfrm>
            <a:off x="12915910" y="1747869"/>
            <a:ext cx="6905150" cy="4242547"/>
          </a:xfrm>
          <a:prstGeom prst="rect">
            <a:avLst/>
          </a:prstGeom>
        </p:spPr>
      </p:pic>
      <p:sp>
        <p:nvSpPr>
          <p:cNvPr id="2" name="!!Backdrop2">
            <a:extLst>
              <a:ext uri="{FF2B5EF4-FFF2-40B4-BE49-F238E27FC236}">
                <a16:creationId xmlns:a16="http://schemas.microsoft.com/office/drawing/2014/main" id="{7B5A69B1-EA99-B311-2757-781A0FFC0B21}"/>
              </a:ext>
            </a:extLst>
          </p:cNvPr>
          <p:cNvSpPr/>
          <p:nvPr/>
        </p:nvSpPr>
        <p:spPr>
          <a:xfrm>
            <a:off x="12915910" y="1747869"/>
            <a:ext cx="6905150" cy="4242548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 descr="Ein Bild, das Text, Software, Multimedia-Software, Computersymbol enthält.">
            <a:extLst>
              <a:ext uri="{FF2B5EF4-FFF2-40B4-BE49-F238E27FC236}">
                <a16:creationId xmlns:a16="http://schemas.microsoft.com/office/drawing/2014/main" id="{C8A235BD-BD19-EAE6-0967-1F0F48521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8" t="81126" r="36639" b="4491"/>
          <a:stretch>
            <a:fillRect/>
          </a:stretch>
        </p:blipFill>
        <p:spPr>
          <a:xfrm>
            <a:off x="13979730" y="3236311"/>
            <a:ext cx="4777509" cy="1265663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2B0D6DB5-B794-A55A-FE3C-2E5E2FB336DE}"/>
              </a:ext>
            </a:extLst>
          </p:cNvPr>
          <p:cNvSpPr/>
          <p:nvPr/>
        </p:nvSpPr>
        <p:spPr>
          <a:xfrm>
            <a:off x="18597576" y="3526587"/>
            <a:ext cx="1854199" cy="685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A1393B3-54A7-CBAD-1668-9CC7A1054580}"/>
              </a:ext>
            </a:extLst>
          </p:cNvPr>
          <p:cNvSpPr txBox="1"/>
          <p:nvPr/>
        </p:nvSpPr>
        <p:spPr>
          <a:xfrm>
            <a:off x="20884880" y="4033839"/>
            <a:ext cx="2846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Besonderheiten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Vernetzt mit Mitarbeitersuche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Session Speicher</a:t>
            </a:r>
          </a:p>
        </p:txBody>
      </p:sp>
      <p:pic>
        <p:nvPicPr>
          <p:cNvPr id="18" name="Grafik 17" descr="Spinnennetz mit einfarbiger Füllung">
            <a:extLst>
              <a:ext uri="{FF2B5EF4-FFF2-40B4-BE49-F238E27FC236}">
                <a16:creationId xmlns:a16="http://schemas.microsoft.com/office/drawing/2014/main" id="{0C587280-1D38-C552-906F-765FD3AA8B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71493" y="2501007"/>
            <a:ext cx="1389086" cy="1389086"/>
          </a:xfrm>
          <a:prstGeom prst="rect">
            <a:avLst/>
          </a:prstGeom>
        </p:spPr>
      </p:pic>
      <p:pic>
        <p:nvPicPr>
          <p:cNvPr id="8" name="Grafik 7" descr="Ein Bild, das Text, Screenshot, Software, Webseite enthält.">
            <a:extLst>
              <a:ext uri="{FF2B5EF4-FFF2-40B4-BE49-F238E27FC236}">
                <a16:creationId xmlns:a16="http://schemas.microsoft.com/office/drawing/2014/main" id="{BF6AE511-03F9-B6AE-1414-2F264A2199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699289" y="1747869"/>
            <a:ext cx="7350696" cy="4326656"/>
          </a:xfrm>
          <a:prstGeom prst="rect">
            <a:avLst/>
          </a:prstGeom>
        </p:spPr>
      </p:pic>
      <p:sp>
        <p:nvSpPr>
          <p:cNvPr id="12" name="!!Backdrop">
            <a:extLst>
              <a:ext uri="{FF2B5EF4-FFF2-40B4-BE49-F238E27FC236}">
                <a16:creationId xmlns:a16="http://schemas.microsoft.com/office/drawing/2014/main" id="{AC6A7816-1608-7FDD-4003-42FDFCF80C2A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E8E4F3-DE0A-2ADA-DDEC-1F44BB4ADB87}"/>
              </a:ext>
            </a:extLst>
          </p:cNvPr>
          <p:cNvGrpSpPr/>
          <p:nvPr/>
        </p:nvGrpSpPr>
        <p:grpSpPr>
          <a:xfrm>
            <a:off x="-2562517" y="4122675"/>
            <a:ext cx="1956510" cy="2181355"/>
            <a:chOff x="6993157" y="4980368"/>
            <a:chExt cx="1956510" cy="2181355"/>
          </a:xfrm>
        </p:grpSpPr>
        <p:pic>
          <p:nvPicPr>
            <p:cNvPr id="10" name="ME">
              <a:extLst>
                <a:ext uri="{FF2B5EF4-FFF2-40B4-BE49-F238E27FC236}">
                  <a16:creationId xmlns:a16="http://schemas.microsoft.com/office/drawing/2014/main" id="{B3502066-4A92-7C0B-C68D-6464B3F6C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1" name="Grafik 10" descr="Nach rechts zeigender Finger, Handrücken mit einfarbiger Füllung">
              <a:extLst>
                <a:ext uri="{FF2B5EF4-FFF2-40B4-BE49-F238E27FC236}">
                  <a16:creationId xmlns:a16="http://schemas.microsoft.com/office/drawing/2014/main" id="{80BA5EB3-1C23-FB4D-4191-1398240E9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7043067">
              <a:off x="8035267" y="62473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102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60BC-A156-5040-33C1-AE3C04E5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E3E5F88C-346D-E7AE-B25D-2915FD01B949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D29B500-51C2-FE65-0AA3-6BF87749EF6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B4A11BC-F716-18DC-6DC3-D0DBA2ABA888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3571E0D-E1F5-DB38-05F9-6F2AB8477C8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2F8EA69-77D8-3EC2-4D12-4B9451ED8D61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4E9D708-8548-0E45-547A-87D8AB2B9BD0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E77F040F-8938-EB65-25F9-06CA32347883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9CC359E-ED15-AD53-CC50-A9C06C812877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A7C037B-634E-FEB6-7D80-93DA67192658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3FB71A82-05E1-D11C-D3A3-3398DD8D616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4424CB72-03B3-96DE-C9AB-AA8B6C03D6E2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109B50E-392D-9F4C-1C0D-2C160EDC59A3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4C66554B-A943-F379-F357-FC850409B97C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Text, Screenshot, Software, Webseite enthält.">
            <a:extLst>
              <a:ext uri="{FF2B5EF4-FFF2-40B4-BE49-F238E27FC236}">
                <a16:creationId xmlns:a16="http://schemas.microsoft.com/office/drawing/2014/main" id="{108C2B4D-5E6C-8EBA-35BA-69309D63F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699289" y="1747869"/>
            <a:ext cx="7350696" cy="4326656"/>
          </a:xfrm>
          <a:prstGeom prst="rect">
            <a:avLst/>
          </a:prstGeom>
        </p:spPr>
      </p:pic>
      <p:sp>
        <p:nvSpPr>
          <p:cNvPr id="4" name="!!Backdrop">
            <a:extLst>
              <a:ext uri="{FF2B5EF4-FFF2-40B4-BE49-F238E27FC236}">
                <a16:creationId xmlns:a16="http://schemas.microsoft.com/office/drawing/2014/main" id="{CE19C39E-BFC0-DDB6-ADCF-4FDC2A1B08F3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 descr="Ein Bild, das Text, Screenshot, Software, Webseite enthält.">
            <a:extLst>
              <a:ext uri="{FF2B5EF4-FFF2-40B4-BE49-F238E27FC236}">
                <a16:creationId xmlns:a16="http://schemas.microsoft.com/office/drawing/2014/main" id="{3658799E-6013-BF71-1CB9-C12F02817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7" t="22653" r="15072" b="64830"/>
          <a:stretch>
            <a:fillRect/>
          </a:stretch>
        </p:blipFill>
        <p:spPr>
          <a:xfrm>
            <a:off x="2184400" y="1944365"/>
            <a:ext cx="8026400" cy="701913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pic>
        <p:nvPicPr>
          <p:cNvPr id="10" name="Grafik 9" descr="Ein Bild, das Text, Screenshot, Software, Webseite enthält.">
            <a:extLst>
              <a:ext uri="{FF2B5EF4-FFF2-40B4-BE49-F238E27FC236}">
                <a16:creationId xmlns:a16="http://schemas.microsoft.com/office/drawing/2014/main" id="{EE41BA86-DD7C-5846-2EDD-3AA7F0515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3" t="43665" r="15071" b="3886"/>
          <a:stretch>
            <a:fillRect/>
          </a:stretch>
        </p:blipFill>
        <p:spPr>
          <a:xfrm>
            <a:off x="2184400" y="1927648"/>
            <a:ext cx="8026400" cy="392489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05A77B7-F1E8-5281-A1CB-AB8CEA848541}"/>
              </a:ext>
            </a:extLst>
          </p:cNvPr>
          <p:cNvGrpSpPr/>
          <p:nvPr/>
        </p:nvGrpSpPr>
        <p:grpSpPr>
          <a:xfrm>
            <a:off x="1002945" y="4122675"/>
            <a:ext cx="1956510" cy="2181355"/>
            <a:chOff x="6993157" y="4980368"/>
            <a:chExt cx="1956510" cy="2181355"/>
          </a:xfrm>
        </p:grpSpPr>
        <p:pic>
          <p:nvPicPr>
            <p:cNvPr id="6" name="ME">
              <a:extLst>
                <a:ext uri="{FF2B5EF4-FFF2-40B4-BE49-F238E27FC236}">
                  <a16:creationId xmlns:a16="http://schemas.microsoft.com/office/drawing/2014/main" id="{CB0E8796-DF41-2F69-7C8A-B01B5B9B1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7" name="Grafik 6" descr="Nach rechts zeigender Finger, Handrücken mit einfarbiger Füllung">
              <a:extLst>
                <a:ext uri="{FF2B5EF4-FFF2-40B4-BE49-F238E27FC236}">
                  <a16:creationId xmlns:a16="http://schemas.microsoft.com/office/drawing/2014/main" id="{06BDA68C-7F99-CFA9-E6F1-49B60396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7043067">
              <a:off x="8035267" y="62473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612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3.33333E-6 -0.12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D5B3-9151-4C6C-8D9D-CB7E32E9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A1C4E040-43D9-8883-2615-FC13E54A36C5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42532B2-8BCC-60FC-39A0-60DE28FE80C6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723E96B9-A5AB-9FEC-1609-6D7D3FBB0F9D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3FB8711-9AE1-EADD-BEDC-DB77834EA59A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F2653C1-686E-3E30-009C-450503BA0A43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10D56739-E49C-AB9E-5002-37B87FB5AAC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6B5B62A-363E-0485-189E-131D3E68572D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0488291-1321-276C-78FD-14D6DB30C2C4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A6DC9D5-291F-91C0-CB50-9A41A4182969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B4686DEE-543B-CFA7-D53A-8ABD5D902D0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A7197F69-0781-A8E9-402E-87ED3B504B23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45F9E5A-F020-7F92-A418-8D541D4CFB04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0E2CA611-A020-2F7D-3DAC-DA83FC4BA05F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Text, Screenshot, Software, Webseite enthält.">
            <a:extLst>
              <a:ext uri="{FF2B5EF4-FFF2-40B4-BE49-F238E27FC236}">
                <a16:creationId xmlns:a16="http://schemas.microsoft.com/office/drawing/2014/main" id="{CE3BD131-5841-56DB-FFAB-05F311E9B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699289" y="1747869"/>
            <a:ext cx="7350696" cy="4326656"/>
          </a:xfrm>
          <a:prstGeom prst="rect">
            <a:avLst/>
          </a:prstGeom>
        </p:spPr>
      </p:pic>
      <p:sp>
        <p:nvSpPr>
          <p:cNvPr id="4" name="!!Backdrop">
            <a:extLst>
              <a:ext uri="{FF2B5EF4-FFF2-40B4-BE49-F238E27FC236}">
                <a16:creationId xmlns:a16="http://schemas.microsoft.com/office/drawing/2014/main" id="{C89997B8-860F-5187-A684-36E3299B05BB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 descr="Ein Bild, das Text, Screenshot, Software, Webseite enthält.">
            <a:extLst>
              <a:ext uri="{FF2B5EF4-FFF2-40B4-BE49-F238E27FC236}">
                <a16:creationId xmlns:a16="http://schemas.microsoft.com/office/drawing/2014/main" id="{45380A79-44F6-ACEE-D240-F65C34967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7" t="22653" r="15072" b="64830"/>
          <a:stretch>
            <a:fillRect/>
          </a:stretch>
        </p:blipFill>
        <p:spPr>
          <a:xfrm>
            <a:off x="13476715" y="1944365"/>
            <a:ext cx="8026400" cy="701913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pic>
        <p:nvPicPr>
          <p:cNvPr id="10" name="Grafik 9" descr="Ein Bild, das Text, Screenshot, Software, Webseite enthält.">
            <a:extLst>
              <a:ext uri="{FF2B5EF4-FFF2-40B4-BE49-F238E27FC236}">
                <a16:creationId xmlns:a16="http://schemas.microsoft.com/office/drawing/2014/main" id="{5E9E99F6-E19D-AD9F-1ABD-B0F1DA560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3" t="43665" r="15071" b="3886"/>
          <a:stretch>
            <a:fillRect/>
          </a:stretch>
        </p:blipFill>
        <p:spPr>
          <a:xfrm>
            <a:off x="13476715" y="1927648"/>
            <a:ext cx="8026400" cy="392489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grpSp>
        <p:nvGrpSpPr>
          <p:cNvPr id="11" name="!!ME">
            <a:extLst>
              <a:ext uri="{FF2B5EF4-FFF2-40B4-BE49-F238E27FC236}">
                <a16:creationId xmlns:a16="http://schemas.microsoft.com/office/drawing/2014/main" id="{5BC09336-0F2B-D095-9EDB-4D1576FFC732}"/>
              </a:ext>
            </a:extLst>
          </p:cNvPr>
          <p:cNvGrpSpPr/>
          <p:nvPr/>
        </p:nvGrpSpPr>
        <p:grpSpPr>
          <a:xfrm>
            <a:off x="5460175" y="2460897"/>
            <a:ext cx="1916397" cy="2436955"/>
            <a:chOff x="7036317" y="5020316"/>
            <a:chExt cx="1916397" cy="2436955"/>
          </a:xfrm>
        </p:grpSpPr>
        <p:pic>
          <p:nvPicPr>
            <p:cNvPr id="12" name="ME">
              <a:extLst>
                <a:ext uri="{FF2B5EF4-FFF2-40B4-BE49-F238E27FC236}">
                  <a16:creationId xmlns:a16="http://schemas.microsoft.com/office/drawing/2014/main" id="{35054C5A-2EC6-3C90-CE4D-14EE98EA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36317" y="5020316"/>
              <a:ext cx="1257170" cy="1983676"/>
            </a:xfrm>
            <a:prstGeom prst="rect">
              <a:avLst/>
            </a:prstGeom>
          </p:spPr>
        </p:pic>
        <p:pic>
          <p:nvPicPr>
            <p:cNvPr id="13" name="Grafik 12" descr="Fragezeichen mit einfarbiger Füllung">
              <a:extLst>
                <a:ext uri="{FF2B5EF4-FFF2-40B4-BE49-F238E27FC236}">
                  <a16:creationId xmlns:a16="http://schemas.microsoft.com/office/drawing/2014/main" id="{437A0454-7AA0-4D56-021D-5E0BD03A9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576130" y="6080687"/>
              <a:ext cx="1376584" cy="1376584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5E065608-B7AD-EF9C-3D43-50DA2A5658EC}"/>
              </a:ext>
            </a:extLst>
          </p:cNvPr>
          <p:cNvGrpSpPr/>
          <p:nvPr/>
        </p:nvGrpSpPr>
        <p:grpSpPr>
          <a:xfrm>
            <a:off x="12377126" y="4122675"/>
            <a:ext cx="1956510" cy="2181355"/>
            <a:chOff x="6993157" y="4980368"/>
            <a:chExt cx="1956510" cy="2181355"/>
          </a:xfrm>
        </p:grpSpPr>
        <p:pic>
          <p:nvPicPr>
            <p:cNvPr id="16" name="ME">
              <a:extLst>
                <a:ext uri="{FF2B5EF4-FFF2-40B4-BE49-F238E27FC236}">
                  <a16:creationId xmlns:a16="http://schemas.microsoft.com/office/drawing/2014/main" id="{1AE7325C-AE37-1019-CE2D-9615C536C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7" name="Grafik 16" descr="Nach rechts zeigender Finger, Handrücken mit einfarbiger Füllung">
              <a:extLst>
                <a:ext uri="{FF2B5EF4-FFF2-40B4-BE49-F238E27FC236}">
                  <a16:creationId xmlns:a16="http://schemas.microsoft.com/office/drawing/2014/main" id="{5F452273-93A8-6294-80C9-0AD8D5AEF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7043067">
              <a:off x="8035267" y="62473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2872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2BA4-B250-4C70-4654-370BAA6E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F2495C86-FD6D-5FCE-3519-73B9DAEC75CB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UI-Struktur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AA13E4C-F4E1-96AA-8271-BF612F821F7F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7548A9B-168B-9AEB-EFC7-05F22BE41CF5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A0F5551-B201-6D96-85E7-AB19C4B1B94C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6FFD722-D567-762E-E106-79F7A34F0B4C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FE10704-7B50-1BC7-3038-2EF0CA40FA6E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FBA544E-0069-0624-A0A5-D092E36FA502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72CAD03-BF0F-FE89-C3D5-052806433C43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084CBC8-7A98-459E-8726-814BE2CA301A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AC3E1461-CE19-15C2-7DD6-28A165D07AC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00C2FA2-B7E2-A96C-007B-768ED9839812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2ADC983-09A0-CE26-4CDB-DBAA9B9CB5E2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76572D06-B611-CAC7-0239-4FEFF09F1CDB}"/>
              </a:ext>
            </a:extLst>
          </p:cNvPr>
          <p:cNvSpPr/>
          <p:nvPr/>
        </p:nvSpPr>
        <p:spPr>
          <a:xfrm>
            <a:off x="6132283" y="6443695"/>
            <a:ext cx="12972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Text, Screenshot, Software, Webseite enthält.">
            <a:extLst>
              <a:ext uri="{FF2B5EF4-FFF2-40B4-BE49-F238E27FC236}">
                <a16:creationId xmlns:a16="http://schemas.microsoft.com/office/drawing/2014/main" id="{75FC88A6-F25C-98E9-A305-904AA21C5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699289" y="1747869"/>
            <a:ext cx="7350696" cy="4326656"/>
          </a:xfrm>
          <a:prstGeom prst="rect">
            <a:avLst/>
          </a:prstGeom>
        </p:spPr>
      </p:pic>
      <p:sp>
        <p:nvSpPr>
          <p:cNvPr id="4" name="!!Backdrop">
            <a:extLst>
              <a:ext uri="{FF2B5EF4-FFF2-40B4-BE49-F238E27FC236}">
                <a16:creationId xmlns:a16="http://schemas.microsoft.com/office/drawing/2014/main" id="{56CD1229-305A-1DB5-0A18-ECFA75829EEF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solidFill>
            <a:srgbClr val="455561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 descr="Ein Bild, das Text, Screenshot, Software, Webseite enthält.">
            <a:extLst>
              <a:ext uri="{FF2B5EF4-FFF2-40B4-BE49-F238E27FC236}">
                <a16:creationId xmlns:a16="http://schemas.microsoft.com/office/drawing/2014/main" id="{DF3B1AFF-1E90-0B27-3483-47263AAF2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7" t="22653" r="15072" b="64830"/>
          <a:stretch>
            <a:fillRect/>
          </a:stretch>
        </p:blipFill>
        <p:spPr>
          <a:xfrm>
            <a:off x="13179977" y="1944365"/>
            <a:ext cx="8026400" cy="701913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pic>
        <p:nvPicPr>
          <p:cNvPr id="10" name="Grafik 9" descr="Ein Bild, das Text, Screenshot, Software, Webseite enthält.">
            <a:extLst>
              <a:ext uri="{FF2B5EF4-FFF2-40B4-BE49-F238E27FC236}">
                <a16:creationId xmlns:a16="http://schemas.microsoft.com/office/drawing/2014/main" id="{771B46D5-C014-A8FF-6BE1-D6D399609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3" t="43665" r="15071" b="3886"/>
          <a:stretch>
            <a:fillRect/>
          </a:stretch>
        </p:blipFill>
        <p:spPr>
          <a:xfrm>
            <a:off x="13179977" y="1927648"/>
            <a:ext cx="8026400" cy="392489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grpSp>
        <p:nvGrpSpPr>
          <p:cNvPr id="2" name="!!ME">
            <a:extLst>
              <a:ext uri="{FF2B5EF4-FFF2-40B4-BE49-F238E27FC236}">
                <a16:creationId xmlns:a16="http://schemas.microsoft.com/office/drawing/2014/main" id="{64DA5A15-CB9D-3C3F-7DF0-5E2B668154D9}"/>
              </a:ext>
            </a:extLst>
          </p:cNvPr>
          <p:cNvGrpSpPr/>
          <p:nvPr/>
        </p:nvGrpSpPr>
        <p:grpSpPr>
          <a:xfrm>
            <a:off x="5417015" y="3390525"/>
            <a:ext cx="1726287" cy="2195523"/>
            <a:chOff x="6993157" y="4980368"/>
            <a:chExt cx="1726287" cy="2195523"/>
          </a:xfrm>
        </p:grpSpPr>
        <p:pic>
          <p:nvPicPr>
            <p:cNvPr id="5" name="ME">
              <a:extLst>
                <a:ext uri="{FF2B5EF4-FFF2-40B4-BE49-F238E27FC236}">
                  <a16:creationId xmlns:a16="http://schemas.microsoft.com/office/drawing/2014/main" id="{4CB1154D-3036-C2B9-D84C-0CA170988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6" name="Grafik 5" descr="Nach rechts zeigender Finger, Handrücken mit einfarbiger Füllung">
              <a:extLst>
                <a:ext uri="{FF2B5EF4-FFF2-40B4-BE49-F238E27FC236}">
                  <a16:creationId xmlns:a16="http://schemas.microsoft.com/office/drawing/2014/main" id="{D523889B-1C5A-2E81-7D1F-782967F32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805044" y="6261491"/>
              <a:ext cx="914400" cy="914400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D2C1C6CA-9859-EE12-5871-B0AFF0A442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65" b="-3336"/>
          <a:stretch>
            <a:fillRect/>
          </a:stretch>
        </p:blipFill>
        <p:spPr>
          <a:xfrm>
            <a:off x="1264044" y="2181932"/>
            <a:ext cx="9663911" cy="720116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31ACF33-E97B-7C5D-0FB0-A2CE2EA48F52}"/>
              </a:ext>
            </a:extLst>
          </p:cNvPr>
          <p:cNvSpPr/>
          <p:nvPr/>
        </p:nvSpPr>
        <p:spPr>
          <a:xfrm>
            <a:off x="7481456" y="2239804"/>
            <a:ext cx="3297382" cy="569120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 descr="Ein Bild, das Grafiken, violett, Kunst, Kreis enthält.">
            <a:extLst>
              <a:ext uri="{FF2B5EF4-FFF2-40B4-BE49-F238E27FC236}">
                <a16:creationId xmlns:a16="http://schemas.microsoft.com/office/drawing/2014/main" id="{5013F741-6AE4-5CB6-3A8A-32C097FEE4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2656" y="2317925"/>
            <a:ext cx="1683658" cy="1788886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45A0EB7A-0CB7-3719-A326-DE2D1E366B56}"/>
              </a:ext>
            </a:extLst>
          </p:cNvPr>
          <p:cNvSpPr txBox="1">
            <a:spLocks/>
          </p:cNvSpPr>
          <p:nvPr/>
        </p:nvSpPr>
        <p:spPr>
          <a:xfrm>
            <a:off x="-6362697" y="4207428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de-DE" sz="3200" b="1" cap="none" dirty="0"/>
              <a:t>RTK QUERY</a:t>
            </a:r>
            <a:endParaRPr lang="de-DE" sz="3200" cap="non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16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C361-295C-5D75-32A9-471BF71F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Grafiken, violett, Kunst, Kreis enthält.">
            <a:extLst>
              <a:ext uri="{FF2B5EF4-FFF2-40B4-BE49-F238E27FC236}">
                <a16:creationId xmlns:a16="http://schemas.microsoft.com/office/drawing/2014/main" id="{01C3463C-F355-B104-E6D9-D1CFF73F2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171" y="2317925"/>
            <a:ext cx="1683658" cy="1788886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E26A88FC-D4DF-34CE-87E5-9644ED25AAD9}"/>
              </a:ext>
            </a:extLst>
          </p:cNvPr>
          <p:cNvSpPr txBox="1">
            <a:spLocks/>
          </p:cNvSpPr>
          <p:nvPr/>
        </p:nvSpPr>
        <p:spPr>
          <a:xfrm>
            <a:off x="4784130" y="4207428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de-DE" sz="3200" b="1" cap="none" dirty="0"/>
              <a:t>RTK QUERY</a:t>
            </a:r>
            <a:endParaRPr lang="de-DE" sz="3200" cap="none" dirty="0">
              <a:solidFill>
                <a:schemeClr val="tx2"/>
              </a:solidFill>
            </a:endParaRP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3A9EBA6B-F84D-2EF6-5147-1A25B94E7B6F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004CCF6-197B-8503-F16B-20FE3DAF9749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2BF6DD23-76D7-2E64-437C-7498C3868932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D245AB0-AD8E-64DC-BD6D-C2A71D747D7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00E46EF-6637-48CC-65E9-9F29F57BD6D2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9ADEB173-8252-EF22-5FFB-E8B625EF1CF9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966AB80-1DC8-6078-EE4A-3D5C46958DD9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01916623-4ED8-E189-02F7-5613F9A3C00D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909FA89-19B7-5F7D-3A64-856A05B4F358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BBF13B7B-60B2-9E54-3020-2341A537ED6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239DEEDB-3428-ACD2-B32C-23840B2179C9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C74EC4D-F773-1B22-0FD2-E5812CC1BB4E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E02325C9-F446-4B08-8C7B-B0FFC5950CF8}"/>
              </a:ext>
            </a:extLst>
          </p:cNvPr>
          <p:cNvSpPr/>
          <p:nvPr/>
        </p:nvSpPr>
        <p:spPr>
          <a:xfrm>
            <a:off x="6132283" y="6443695"/>
            <a:ext cx="1563917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32C0EBB-CA4A-A40E-1A03-0B495FC7A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436889" y="2346958"/>
            <a:ext cx="10775564" cy="2164082"/>
          </a:xfrm>
          <a:prstGeom prst="rect">
            <a:avLst/>
          </a:prstGeom>
        </p:spPr>
      </p:pic>
      <p:pic>
        <p:nvPicPr>
          <p:cNvPr id="13" name="Grafik 12" descr="Ein Bild, das Text, Screenshot, Software, Webseite enthält.">
            <a:extLst>
              <a:ext uri="{FF2B5EF4-FFF2-40B4-BE49-F238E27FC236}">
                <a16:creationId xmlns:a16="http://schemas.microsoft.com/office/drawing/2014/main" id="{7A62AF1D-E001-03B5-42F1-A1A4FED55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7" t="9082" r="13571" b="3886"/>
          <a:stretch>
            <a:fillRect/>
          </a:stretch>
        </p:blipFill>
        <p:spPr>
          <a:xfrm>
            <a:off x="12853325" y="1747869"/>
            <a:ext cx="7350696" cy="4326656"/>
          </a:xfrm>
          <a:prstGeom prst="rect">
            <a:avLst/>
          </a:prstGeom>
        </p:spPr>
      </p:pic>
      <p:grpSp>
        <p:nvGrpSpPr>
          <p:cNvPr id="14" name="!!ME">
            <a:extLst>
              <a:ext uri="{FF2B5EF4-FFF2-40B4-BE49-F238E27FC236}">
                <a16:creationId xmlns:a16="http://schemas.microsoft.com/office/drawing/2014/main" id="{01BFDAAB-E219-4161-7848-4D78C6B5604C}"/>
              </a:ext>
            </a:extLst>
          </p:cNvPr>
          <p:cNvGrpSpPr/>
          <p:nvPr/>
        </p:nvGrpSpPr>
        <p:grpSpPr>
          <a:xfrm>
            <a:off x="17571051" y="3390525"/>
            <a:ext cx="1726287" cy="2195523"/>
            <a:chOff x="6993157" y="4980368"/>
            <a:chExt cx="1726287" cy="2195523"/>
          </a:xfrm>
        </p:grpSpPr>
        <p:pic>
          <p:nvPicPr>
            <p:cNvPr id="16" name="ME">
              <a:extLst>
                <a:ext uri="{FF2B5EF4-FFF2-40B4-BE49-F238E27FC236}">
                  <a16:creationId xmlns:a16="http://schemas.microsoft.com/office/drawing/2014/main" id="{E8C8A007-AB41-2153-9996-44149152A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93157" y="4980368"/>
              <a:ext cx="1343490" cy="2063573"/>
            </a:xfrm>
            <a:prstGeom prst="rect">
              <a:avLst/>
            </a:prstGeom>
          </p:spPr>
        </p:pic>
        <p:pic>
          <p:nvPicPr>
            <p:cNvPr id="17" name="Grafik 16" descr="Nach rechts zeigender Finger, Handrücken mit einfarbiger Füllung">
              <a:extLst>
                <a:ext uri="{FF2B5EF4-FFF2-40B4-BE49-F238E27FC236}">
                  <a16:creationId xmlns:a16="http://schemas.microsoft.com/office/drawing/2014/main" id="{EC76A5F4-F0DB-81C8-4511-AFFC433AD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6200000">
              <a:off x="7805044" y="6261491"/>
              <a:ext cx="914400" cy="914400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775042E2-B350-BE76-EC46-16E47E4E2B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65" b="-3336"/>
          <a:stretch>
            <a:fillRect/>
          </a:stretch>
        </p:blipFill>
        <p:spPr>
          <a:xfrm>
            <a:off x="13418080" y="2181932"/>
            <a:ext cx="9663911" cy="720116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8000"/>
              </a:prstClr>
            </a:outerShdw>
          </a:effectLst>
        </p:spPr>
      </p:pic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BD469A7-8DE8-F664-3240-C64FAA2DA5FE}"/>
              </a:ext>
            </a:extLst>
          </p:cNvPr>
          <p:cNvSpPr/>
          <p:nvPr/>
        </p:nvSpPr>
        <p:spPr>
          <a:xfrm>
            <a:off x="19635492" y="2239804"/>
            <a:ext cx="3297382" cy="569120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32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BF7C-47F8-7AEA-2793-4AA5206E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Grafiken, violett, Kunst, Kreis enthält.">
            <a:extLst>
              <a:ext uri="{FF2B5EF4-FFF2-40B4-BE49-F238E27FC236}">
                <a16:creationId xmlns:a16="http://schemas.microsoft.com/office/drawing/2014/main" id="{94F2A2A3-D9ED-9478-0B99-6E11C20CA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471" y="2317925"/>
            <a:ext cx="1683658" cy="1788886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8B761CF2-FF10-F38D-3275-2D7075C31948}"/>
              </a:ext>
            </a:extLst>
          </p:cNvPr>
          <p:cNvSpPr txBox="1">
            <a:spLocks/>
          </p:cNvSpPr>
          <p:nvPr/>
        </p:nvSpPr>
        <p:spPr>
          <a:xfrm>
            <a:off x="17852430" y="4207428"/>
            <a:ext cx="2635520" cy="7917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de-DE" sz="3200" b="1" cap="none" dirty="0"/>
              <a:t>RTK QUERY</a:t>
            </a:r>
            <a:endParaRPr lang="de-DE" sz="3200" cap="none" dirty="0">
              <a:solidFill>
                <a:schemeClr val="tx2"/>
              </a:solidFill>
            </a:endParaRP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E78E5781-8725-2EFC-194C-F5498279387F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E65D560-7D08-3513-3B87-29E42462C15E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1A866E8-85A7-79BA-C542-224E73516D1D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AF8586C9-4A41-5BC7-4D42-1C22E8AAFD1C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28D5912-6156-251A-A7D8-D9AAFB92E8C8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AD7D77D2-F927-7787-6808-B5DD0BBDA173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652BFB0-C27B-14CE-0E35-F7E94BF13166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5A9CB48-EF69-7B40-63A9-ECBEAE40D914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612FA6F8-65CA-CAB3-F7ED-0FB01E651690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82A42F6-2841-BB8A-9300-C73DD534E89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601136FC-A03B-D505-1E74-5F675E1E7766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A7E4076-C5FB-5817-158C-E82F79482C9E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761906F0-F301-53EF-C2EF-81F97EBA024B}"/>
              </a:ext>
            </a:extLst>
          </p:cNvPr>
          <p:cNvSpPr/>
          <p:nvPr/>
        </p:nvSpPr>
        <p:spPr>
          <a:xfrm>
            <a:off x="6132283" y="6443695"/>
            <a:ext cx="16608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24391C4-3C7B-41A2-42DB-8D5FBA8E5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218" y="2346958"/>
            <a:ext cx="10775564" cy="2164082"/>
          </a:xfrm>
          <a:prstGeom prst="rect">
            <a:avLst/>
          </a:prstGeom>
        </p:spPr>
      </p:pic>
      <p:sp>
        <p:nvSpPr>
          <p:cNvPr id="2" name="!!Info">
            <a:extLst>
              <a:ext uri="{FF2B5EF4-FFF2-40B4-BE49-F238E27FC236}">
                <a16:creationId xmlns:a16="http://schemas.microsoft.com/office/drawing/2014/main" id="{2F7C58DE-8172-9EC8-2381-E42C700189A3}"/>
              </a:ext>
            </a:extLst>
          </p:cNvPr>
          <p:cNvSpPr/>
          <p:nvPr/>
        </p:nvSpPr>
        <p:spPr>
          <a:xfrm>
            <a:off x="1496046" y="3828348"/>
            <a:ext cx="3106434" cy="266271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!!Grafik 1">
            <a:extLst>
              <a:ext uri="{FF2B5EF4-FFF2-40B4-BE49-F238E27FC236}">
                <a16:creationId xmlns:a16="http://schemas.microsoft.com/office/drawing/2014/main" id="{193A2CF8-B5FF-7A45-DC7D-F25453AEE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-10287965" y="3151613"/>
            <a:ext cx="9805417" cy="373664"/>
          </a:xfrm>
          <a:prstGeom prst="rect">
            <a:avLst/>
          </a:prstGeom>
        </p:spPr>
      </p:pic>
      <p:pic>
        <p:nvPicPr>
          <p:cNvPr id="6" name="!!Grafik 4">
            <a:extLst>
              <a:ext uri="{FF2B5EF4-FFF2-40B4-BE49-F238E27FC236}">
                <a16:creationId xmlns:a16="http://schemas.microsoft.com/office/drawing/2014/main" id="{54A72799-411E-D269-316F-AE363D4E3B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-10287964" y="3429000"/>
            <a:ext cx="9805416" cy="39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8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1422-843E-A6D9-4143-6242A891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D2E10BCB-0E51-CA8F-1F0E-0A4CA0E4A795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03FD43E-E759-B788-8488-E9362B9C0C82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BB84A771-1B22-CD07-734F-048CB67C3A04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893DB243-3069-B89C-FEC6-AA4A6A5559DB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DF6E7014-3762-2F42-97C1-5310F7E5F4C3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089675C-AE4A-E39A-498D-22BB49FE782F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AABA4F2-31C3-89D3-04B0-F0BF8D558340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825B499F-FB30-8B6B-142F-0FBF859E839F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917511F-1CCA-C5DD-E868-29EB563F731F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4F8349D0-9D37-CBD3-1C13-F85D5FF9C6EF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F8FB493C-E718-9B5B-C6D5-93D876841190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0F7234E-FCED-F120-E00C-5CABD1CCAA75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7664EF82-457C-A9E1-3B21-F30939A67BBE}"/>
              </a:ext>
            </a:extLst>
          </p:cNvPr>
          <p:cNvSpPr/>
          <p:nvPr/>
        </p:nvSpPr>
        <p:spPr>
          <a:xfrm>
            <a:off x="6132283" y="6443695"/>
            <a:ext cx="16608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!!Grafik 1">
            <a:extLst>
              <a:ext uri="{FF2B5EF4-FFF2-40B4-BE49-F238E27FC236}">
                <a16:creationId xmlns:a16="http://schemas.microsoft.com/office/drawing/2014/main" id="{DA2F367A-7997-2217-3949-13832DF97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1065094" y="3151613"/>
            <a:ext cx="9805417" cy="373664"/>
          </a:xfrm>
          <a:prstGeom prst="rect">
            <a:avLst/>
          </a:prstGeom>
        </p:spPr>
      </p:pic>
      <p:pic>
        <p:nvPicPr>
          <p:cNvPr id="7" name="!!Grafik 4">
            <a:extLst>
              <a:ext uri="{FF2B5EF4-FFF2-40B4-BE49-F238E27FC236}">
                <a16:creationId xmlns:a16="http://schemas.microsoft.com/office/drawing/2014/main" id="{D9CFA2D6-1C7B-B442-7D3D-1C5E390FD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1065095" y="3429000"/>
            <a:ext cx="9805416" cy="399348"/>
          </a:xfrm>
          <a:prstGeom prst="rect">
            <a:avLst/>
          </a:prstGeom>
        </p:spPr>
      </p:pic>
      <p:pic>
        <p:nvPicPr>
          <p:cNvPr id="8" name="Grafik 7" descr="Ein Bild, das Grafiken, violett, Kunst, Kreis enthält.">
            <a:extLst>
              <a:ext uri="{FF2B5EF4-FFF2-40B4-BE49-F238E27FC236}">
                <a16:creationId xmlns:a16="http://schemas.microsoft.com/office/drawing/2014/main" id="{5BB1972B-AB31-017C-77D2-1FDE2B7A2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767" y="400147"/>
            <a:ext cx="1683658" cy="178888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0A4DFC5-C678-DA46-8E39-D177E8541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86767" y="2346958"/>
            <a:ext cx="10775564" cy="2164082"/>
          </a:xfrm>
          <a:prstGeom prst="rect">
            <a:avLst/>
          </a:prstGeom>
        </p:spPr>
      </p:pic>
      <p:sp>
        <p:nvSpPr>
          <p:cNvPr id="6" name="!!Info">
            <a:extLst>
              <a:ext uri="{FF2B5EF4-FFF2-40B4-BE49-F238E27FC236}">
                <a16:creationId xmlns:a16="http://schemas.microsoft.com/office/drawing/2014/main" id="{A8A320C6-A24D-16BE-4A29-0975F7DA843C}"/>
              </a:ext>
            </a:extLst>
          </p:cNvPr>
          <p:cNvSpPr/>
          <p:nvPr/>
        </p:nvSpPr>
        <p:spPr>
          <a:xfrm>
            <a:off x="13974595" y="3828348"/>
            <a:ext cx="3106434" cy="266271"/>
          </a:xfrm>
          <a:prstGeom prst="roundRect">
            <a:avLst/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8287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E111-0E67-EB79-0BE6-4644080D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8930CA1B-57CF-4355-E685-71671D12A635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6F59B00-AF88-B736-CBDD-5A2A177FB7C3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6E96BA7-DF4E-964F-D956-E2A1B273F39F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E871320-A2FD-3DF7-172E-31FA79C589B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8CB6518-A3D5-26E1-89CE-8293218D21DA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1722D85-236C-D3F3-AE9A-E8824F5B841E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C2FEEAB-5D75-DFAC-470E-785E30621967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62081719-5483-8F91-66AE-7D9351C45BC1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9AD8ECC-6690-1949-6709-5DEFFD1C0250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E0A6A647-2D7A-860B-BFE8-37C91801B2B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E881F6F7-3C6C-A6F9-8B35-569F08E1E19C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pic>
        <p:nvPicPr>
          <p:cNvPr id="12" name="!!Grafik 2">
            <a:extLst>
              <a:ext uri="{FF2B5EF4-FFF2-40B4-BE49-F238E27FC236}">
                <a16:creationId xmlns:a16="http://schemas.microsoft.com/office/drawing/2014/main" id="{6EF41CEC-4129-C28D-43DD-97BD4AB34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1065094" y="3151613"/>
            <a:ext cx="9805417" cy="373664"/>
          </a:xfrm>
          <a:prstGeom prst="rect">
            <a:avLst/>
          </a:prstGeom>
        </p:spPr>
      </p:pic>
      <p:pic>
        <p:nvPicPr>
          <p:cNvPr id="10" name="!!Grafik 1">
            <a:extLst>
              <a:ext uri="{FF2B5EF4-FFF2-40B4-BE49-F238E27FC236}">
                <a16:creationId xmlns:a16="http://schemas.microsoft.com/office/drawing/2014/main" id="{B1837267-D80D-4553-2ACF-D05556831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-536" r="-13" b="61236"/>
          <a:stretch>
            <a:fillRect/>
          </a:stretch>
        </p:blipFill>
        <p:spPr>
          <a:xfrm>
            <a:off x="1065094" y="2381831"/>
            <a:ext cx="9805417" cy="2094337"/>
          </a:xfrm>
          <a:prstGeom prst="rect">
            <a:avLst/>
          </a:prstGeom>
        </p:spPr>
      </p:pic>
      <p:pic>
        <p:nvPicPr>
          <p:cNvPr id="11" name="!!Grafik 4">
            <a:extLst>
              <a:ext uri="{FF2B5EF4-FFF2-40B4-BE49-F238E27FC236}">
                <a16:creationId xmlns:a16="http://schemas.microsoft.com/office/drawing/2014/main" id="{7F460768-B15C-C976-CCF6-E6DC97022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1065095" y="4351745"/>
            <a:ext cx="9805416" cy="399348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491AB49-138A-CF03-C949-913FF9A44F13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6F679C28-6A46-2EDB-8526-CC23FED3022E}"/>
              </a:ext>
            </a:extLst>
          </p:cNvPr>
          <p:cNvSpPr/>
          <p:nvPr/>
        </p:nvSpPr>
        <p:spPr>
          <a:xfrm>
            <a:off x="6132283" y="6443695"/>
            <a:ext cx="16608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Grafiken, violett, Kunst, Kreis enthält.">
            <a:extLst>
              <a:ext uri="{FF2B5EF4-FFF2-40B4-BE49-F238E27FC236}">
                <a16:creationId xmlns:a16="http://schemas.microsoft.com/office/drawing/2014/main" id="{EFA1DBA3-3673-98ED-FF82-54610174D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385" y="3065500"/>
            <a:ext cx="1023341" cy="10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6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E27CB-1F2D-650A-6A4D-C56DD198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2D30C43E-FCA5-081E-8AF4-4A5DC47D91D0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12E81DE-C131-E25E-46CC-71F3F084AA15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EF84849-2A1A-404F-43B2-B05ABA9D89CB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09E9CEF-1AF7-3FA6-9AF2-8B49030E1FC6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1F013DC-FB25-BAD8-1055-3947AD510298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5A8D0D84-FEB7-8B9E-652E-E1D2E0441A4B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A2B1542-2704-198D-95E6-A7A39DC002F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67DF9ED-0E81-030E-9F8A-EEF783460FC5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58919F4-A695-09A4-2FBF-93A296A56015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773D4FF-49DE-D15F-6E6E-112642219998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7136770-05E8-7C82-284A-D23D361C28BD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C5EC5F9-FFD7-0B64-F105-69CAE481F0D0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D3CCF5F5-16D5-427A-E859-46D4FE7DD7AB}"/>
              </a:ext>
            </a:extLst>
          </p:cNvPr>
          <p:cNvSpPr/>
          <p:nvPr/>
        </p:nvSpPr>
        <p:spPr>
          <a:xfrm>
            <a:off x="6132283" y="6443695"/>
            <a:ext cx="16608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Grafiken, violett, Kunst, Kreis enthält.">
            <a:extLst>
              <a:ext uri="{FF2B5EF4-FFF2-40B4-BE49-F238E27FC236}">
                <a16:creationId xmlns:a16="http://schemas.microsoft.com/office/drawing/2014/main" id="{7BA08104-0F21-91B0-4262-98A27F87C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3270" y="2881803"/>
            <a:ext cx="1023341" cy="1087299"/>
          </a:xfrm>
          <a:prstGeom prst="rect">
            <a:avLst/>
          </a:prstGeom>
        </p:spPr>
      </p:pic>
      <p:pic>
        <p:nvPicPr>
          <p:cNvPr id="10" name="Grafik 9" descr="Ein Bild, das Text, Screenshot, Software, Webseite enthält.">
            <a:extLst>
              <a:ext uri="{FF2B5EF4-FFF2-40B4-BE49-F238E27FC236}">
                <a16:creationId xmlns:a16="http://schemas.microsoft.com/office/drawing/2014/main" id="{F6B82EF0-90E5-34F5-98F3-C9B459A94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839" y="1632480"/>
            <a:ext cx="8302172" cy="4055360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F6476867-7445-3648-F259-827BC9FC57F7}"/>
              </a:ext>
            </a:extLst>
          </p:cNvPr>
          <p:cNvSpPr/>
          <p:nvPr/>
        </p:nvSpPr>
        <p:spPr>
          <a:xfrm>
            <a:off x="-1949222" y="3163419"/>
            <a:ext cx="1563997" cy="695212"/>
          </a:xfrm>
          <a:prstGeom prst="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 descr="Schlägel und Eisen mit einfarbiger Füllung">
            <a:extLst>
              <a:ext uri="{FF2B5EF4-FFF2-40B4-BE49-F238E27FC236}">
                <a16:creationId xmlns:a16="http://schemas.microsoft.com/office/drawing/2014/main" id="{C80419AC-832D-61B8-8EE8-66EC675C75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686068" y="2693068"/>
            <a:ext cx="914400" cy="914400"/>
          </a:xfrm>
          <a:prstGeom prst="rect">
            <a:avLst/>
          </a:prstGeom>
        </p:spPr>
      </p:pic>
      <p:pic>
        <p:nvPicPr>
          <p:cNvPr id="4" name="!!Grafik 2">
            <a:extLst>
              <a:ext uri="{FF2B5EF4-FFF2-40B4-BE49-F238E27FC236}">
                <a16:creationId xmlns:a16="http://schemas.microsoft.com/office/drawing/2014/main" id="{5C9D5361-3683-C8E7-2635-3D76AA72A8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1065094" y="1988645"/>
            <a:ext cx="9805417" cy="373664"/>
          </a:xfrm>
          <a:prstGeom prst="rect">
            <a:avLst/>
          </a:prstGeom>
        </p:spPr>
      </p:pic>
      <p:pic>
        <p:nvPicPr>
          <p:cNvPr id="8" name="!!Grafik 1">
            <a:extLst>
              <a:ext uri="{FF2B5EF4-FFF2-40B4-BE49-F238E27FC236}">
                <a16:creationId xmlns:a16="http://schemas.microsoft.com/office/drawing/2014/main" id="{171E5E84-9312-B07E-2B44-79571AE32E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4781" r="-13" b="7324"/>
          <a:stretch>
            <a:fillRect/>
          </a:stretch>
        </p:blipFill>
        <p:spPr>
          <a:xfrm>
            <a:off x="1065094" y="2344961"/>
            <a:ext cx="9805417" cy="2019447"/>
          </a:xfrm>
          <a:prstGeom prst="rect">
            <a:avLst/>
          </a:prstGeom>
        </p:spPr>
      </p:pic>
      <p:pic>
        <p:nvPicPr>
          <p:cNvPr id="9" name="!!Grafik 4">
            <a:extLst>
              <a:ext uri="{FF2B5EF4-FFF2-40B4-BE49-F238E27FC236}">
                <a16:creationId xmlns:a16="http://schemas.microsoft.com/office/drawing/2014/main" id="{1D53A7AE-1EA6-F8B3-075A-ED616F311E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1065095" y="4351745"/>
            <a:ext cx="9805416" cy="39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44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F36A-114E-7A19-6BDF-6AD12BBF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!!Grafik 2">
            <a:extLst>
              <a:ext uri="{FF2B5EF4-FFF2-40B4-BE49-F238E27FC236}">
                <a16:creationId xmlns:a16="http://schemas.microsoft.com/office/drawing/2014/main" id="{3E9C9C4D-FA16-57AE-F626-758589ACD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1065094" y="1988645"/>
            <a:ext cx="9805417" cy="373664"/>
          </a:xfrm>
          <a:prstGeom prst="rect">
            <a:avLst/>
          </a:prstGeom>
        </p:spPr>
      </p:pic>
      <p:pic>
        <p:nvPicPr>
          <p:cNvPr id="25" name="!!Grafik 1">
            <a:extLst>
              <a:ext uri="{FF2B5EF4-FFF2-40B4-BE49-F238E27FC236}">
                <a16:creationId xmlns:a16="http://schemas.microsoft.com/office/drawing/2014/main" id="{ADDF387A-7FC5-6112-5514-BBD4795E2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4781" r="-13" b="7324"/>
          <a:stretch>
            <a:fillRect/>
          </a:stretch>
        </p:blipFill>
        <p:spPr>
          <a:xfrm>
            <a:off x="1065094" y="2344961"/>
            <a:ext cx="9805417" cy="2019447"/>
          </a:xfrm>
          <a:prstGeom prst="rect">
            <a:avLst/>
          </a:prstGeom>
        </p:spPr>
      </p:pic>
      <p:pic>
        <p:nvPicPr>
          <p:cNvPr id="30" name="!!Grafik 4">
            <a:extLst>
              <a:ext uri="{FF2B5EF4-FFF2-40B4-BE49-F238E27FC236}">
                <a16:creationId xmlns:a16="http://schemas.microsoft.com/office/drawing/2014/main" id="{7EA64AC8-6A71-B752-8AC8-8E49B111B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1065095" y="4351745"/>
            <a:ext cx="9805416" cy="399348"/>
          </a:xfrm>
          <a:prstGeom prst="rect">
            <a:avLst/>
          </a:prstGeom>
        </p:spPr>
      </p:pic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4A97589D-B031-BAC4-0D30-7AAB302C3368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State &amp; Datenfluss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29F6E4E-1FA5-4AFB-FA95-B74B486ED490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CA35B65-9E88-009D-9846-E7051698D4C7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EC52F3B-72EC-5984-98EA-AE79F8402EB1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30B0B61C-3929-707F-8A46-41870AE40DE3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9C1E307B-F32F-704A-A5E5-7EABDC50E4D8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9D860634-1514-0F83-332E-ABE7B686548B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2DE2248E-AAB8-D334-BE59-28C83845A4B6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7AA7B84E-8E7F-C97B-91D9-FF589F7F622D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13A6E379-8DDB-15FC-0213-D396C777292A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29BC87EF-EEE3-0E75-4678-31CDF774FEC0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83ED4D2-A1CC-936E-1C38-D8E3E222EC76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0FE1FE68-F3E8-89D7-38D4-0EB48BA1491C}"/>
              </a:ext>
            </a:extLst>
          </p:cNvPr>
          <p:cNvSpPr/>
          <p:nvPr/>
        </p:nvSpPr>
        <p:spPr>
          <a:xfrm>
            <a:off x="6132283" y="6443695"/>
            <a:ext cx="16608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Text, Screenshot, Software, Webseite enthält.">
            <a:extLst>
              <a:ext uri="{FF2B5EF4-FFF2-40B4-BE49-F238E27FC236}">
                <a16:creationId xmlns:a16="http://schemas.microsoft.com/office/drawing/2014/main" id="{E5DD9977-0D52-B331-EB52-3BD53EA3E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096" y="1632480"/>
            <a:ext cx="8302172" cy="405536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4000"/>
              </a:prstClr>
            </a:outerShdw>
          </a:effectLst>
        </p:spPr>
      </p:pic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64E9B0DA-7D3E-FDC4-684E-91AB6F96E249}"/>
              </a:ext>
            </a:extLst>
          </p:cNvPr>
          <p:cNvSpPr/>
          <p:nvPr/>
        </p:nvSpPr>
        <p:spPr>
          <a:xfrm>
            <a:off x="4864182" y="2038117"/>
            <a:ext cx="5848268" cy="1425808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8F6D987-CA4A-1BAF-30B1-54D66732CD09}"/>
              </a:ext>
            </a:extLst>
          </p:cNvPr>
          <p:cNvSpPr/>
          <p:nvPr/>
        </p:nvSpPr>
        <p:spPr>
          <a:xfrm>
            <a:off x="4864182" y="3506876"/>
            <a:ext cx="5848268" cy="750799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27C70040-CD02-41AA-756D-AEB34A4EF8B9}"/>
              </a:ext>
            </a:extLst>
          </p:cNvPr>
          <p:cNvSpPr/>
          <p:nvPr/>
        </p:nvSpPr>
        <p:spPr>
          <a:xfrm>
            <a:off x="4864182" y="4300626"/>
            <a:ext cx="5848268" cy="1430165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!!Grafik 14">
            <a:extLst>
              <a:ext uri="{FF2B5EF4-FFF2-40B4-BE49-F238E27FC236}">
                <a16:creationId xmlns:a16="http://schemas.microsoft.com/office/drawing/2014/main" id="{C9D75D0A-7878-7020-5E9D-561BFA37F3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3" t="58808" r="85715" b="37380"/>
          <a:stretch>
            <a:fillRect/>
          </a:stretch>
        </p:blipFill>
        <p:spPr>
          <a:xfrm>
            <a:off x="1707703" y="2558972"/>
            <a:ext cx="766257" cy="203919"/>
          </a:xfrm>
          <a:prstGeom prst="rect">
            <a:avLst/>
          </a:prstGeom>
        </p:spPr>
      </p:pic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3AB57C0D-8748-F450-2F4D-E2C2CC9CF9FB}"/>
              </a:ext>
            </a:extLst>
          </p:cNvPr>
          <p:cNvSpPr/>
          <p:nvPr/>
        </p:nvSpPr>
        <p:spPr>
          <a:xfrm>
            <a:off x="3037031" y="3163419"/>
            <a:ext cx="1563997" cy="695212"/>
          </a:xfrm>
          <a:prstGeom prst="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Schlägel und Eisen mit einfarbiger Füllung">
            <a:extLst>
              <a:ext uri="{FF2B5EF4-FFF2-40B4-BE49-F238E27FC236}">
                <a16:creationId xmlns:a16="http://schemas.microsoft.com/office/drawing/2014/main" id="{535E4D5B-C7A2-2887-F015-927981A34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0185" y="2693068"/>
            <a:ext cx="914400" cy="914400"/>
          </a:xfrm>
          <a:prstGeom prst="rect">
            <a:avLst/>
          </a:prstGeom>
        </p:spPr>
      </p:pic>
      <p:sp>
        <p:nvSpPr>
          <p:cNvPr id="16" name="!!Backdrop">
            <a:extLst>
              <a:ext uri="{FF2B5EF4-FFF2-40B4-BE49-F238E27FC236}">
                <a16:creationId xmlns:a16="http://schemas.microsoft.com/office/drawing/2014/main" id="{57692D66-1BF6-9E9F-8A0D-F471D60F238B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36B7512-9EC2-BF6B-70D2-B16D03A989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3" t="58998" r="74777" b="36786"/>
          <a:stretch>
            <a:fillRect/>
          </a:stretch>
        </p:blipFill>
        <p:spPr>
          <a:xfrm>
            <a:off x="-10312189" y="3290534"/>
            <a:ext cx="2943226" cy="553421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pic>
        <p:nvPicPr>
          <p:cNvPr id="18" name="Grafik 17" descr="Ein Bild, das Text, Screenshot, Software, Webseite enthält.">
            <a:extLst>
              <a:ext uri="{FF2B5EF4-FFF2-40B4-BE49-F238E27FC236}">
                <a16:creationId xmlns:a16="http://schemas.microsoft.com/office/drawing/2014/main" id="{920A9FC9-297C-186C-F811-2083945B1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9" t="10092" r="15234" b="55057"/>
          <a:stretch>
            <a:fillRect/>
          </a:stretch>
        </p:blipFill>
        <p:spPr>
          <a:xfrm>
            <a:off x="-6395008" y="2806458"/>
            <a:ext cx="5793038" cy="1413322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</p:pic>
      <p:pic>
        <p:nvPicPr>
          <p:cNvPr id="4" name="!!Grafik 19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E1CDEBA5-1C61-77C2-DFEF-C3192A6ED3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29504" y="2286044"/>
            <a:ext cx="1933738" cy="1933738"/>
          </a:xfrm>
          <a:prstGeom prst="rect">
            <a:avLst/>
          </a:prstGeom>
        </p:spPr>
      </p:pic>
      <p:pic>
        <p:nvPicPr>
          <p:cNvPr id="6" name="Grafik 5" descr="Ein Bild, das Stahlfeile, Werkzeug, Design enthält.">
            <a:extLst>
              <a:ext uri="{FF2B5EF4-FFF2-40B4-BE49-F238E27FC236}">
                <a16:creationId xmlns:a16="http://schemas.microsoft.com/office/drawing/2014/main" id="{8BD29894-EA7A-4E87-9486-22083CFB4E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647" y="11057948"/>
            <a:ext cx="1933738" cy="1933738"/>
          </a:xfrm>
          <a:prstGeom prst="rect">
            <a:avLst/>
          </a:prstGeom>
        </p:spPr>
      </p:pic>
      <p:pic>
        <p:nvPicPr>
          <p:cNvPr id="10" name="Grafik 9" descr="Ein Bild, das Grafiken, violett, Kunst, Kreis enthält.">
            <a:extLst>
              <a:ext uri="{FF2B5EF4-FFF2-40B4-BE49-F238E27FC236}">
                <a16:creationId xmlns:a16="http://schemas.microsoft.com/office/drawing/2014/main" id="{45E7C9B3-2C3A-5614-C611-FED32B1F92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0379" y="2134035"/>
            <a:ext cx="1854200" cy="197008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81231DC-1851-FF2C-9DAA-837C067AD0EA}"/>
              </a:ext>
            </a:extLst>
          </p:cNvPr>
          <p:cNvSpPr txBox="1"/>
          <p:nvPr/>
        </p:nvSpPr>
        <p:spPr>
          <a:xfrm>
            <a:off x="-8858487" y="4219782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Server-Side Rendering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7F0CCBD-EFCE-1454-47D9-48C016EC7E16}"/>
              </a:ext>
            </a:extLst>
          </p:cNvPr>
          <p:cNvSpPr txBox="1"/>
          <p:nvPr/>
        </p:nvSpPr>
        <p:spPr>
          <a:xfrm>
            <a:off x="4796664" y="13045809"/>
            <a:ext cx="2591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Barrierefreiheit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348EC9A-A21D-85F6-7E04-82D101162AC5}"/>
              </a:ext>
            </a:extLst>
          </p:cNvPr>
          <p:cNvSpPr txBox="1"/>
          <p:nvPr/>
        </p:nvSpPr>
        <p:spPr>
          <a:xfrm>
            <a:off x="19308698" y="4219780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Caching und Ladezeit</a:t>
            </a:r>
          </a:p>
        </p:txBody>
      </p:sp>
    </p:spTree>
    <p:extLst>
      <p:ext uri="{BB962C8B-B14F-4D97-AF65-F5344CB8AC3E}">
        <p14:creationId xmlns:p14="http://schemas.microsoft.com/office/powerpoint/2010/main" val="51894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96296E-6 L 0.46771 0.0122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85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375E-6 -2.96296E-6 L 0.46771 0.17246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85" y="861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375E-6 -2.96296E-6 L 0.46771 0.34861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85" y="1743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30DC-98E8-49DD-F57A-C50F6723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!!Grafik 19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BB656C8B-94CF-9598-A4D5-8CF0AEE2A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80" y="2286044"/>
            <a:ext cx="1933738" cy="1933738"/>
          </a:xfrm>
          <a:prstGeom prst="rect">
            <a:avLst/>
          </a:prstGeom>
        </p:spPr>
      </p:pic>
      <p:pic>
        <p:nvPicPr>
          <p:cNvPr id="25" name="Grafik 24" descr="Ein Bild, das Stahlfeile, Werkzeug, Design enthält.">
            <a:extLst>
              <a:ext uri="{FF2B5EF4-FFF2-40B4-BE49-F238E27FC236}">
                <a16:creationId xmlns:a16="http://schemas.microsoft.com/office/drawing/2014/main" id="{5E620E18-7D3E-ED82-8011-3ED7BBD18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647" y="2231919"/>
            <a:ext cx="1933738" cy="1933738"/>
          </a:xfrm>
          <a:prstGeom prst="rect">
            <a:avLst/>
          </a:prstGeom>
        </p:spPr>
      </p:pic>
      <p:pic>
        <p:nvPicPr>
          <p:cNvPr id="38" name="Grafik 37" descr="Ein Bild, das Grafiken, violett, Kunst, Kreis enthält.">
            <a:extLst>
              <a:ext uri="{FF2B5EF4-FFF2-40B4-BE49-F238E27FC236}">
                <a16:creationId xmlns:a16="http://schemas.microsoft.com/office/drawing/2014/main" id="{76C05728-22DB-9075-4ABF-B75EB9B3A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014" y="2134035"/>
            <a:ext cx="1854200" cy="1970088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621F02FB-15F1-9A4C-4666-724312D52E1B}"/>
              </a:ext>
            </a:extLst>
          </p:cNvPr>
          <p:cNvSpPr txBox="1"/>
          <p:nvPr/>
        </p:nvSpPr>
        <p:spPr>
          <a:xfrm>
            <a:off x="902297" y="4219782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Server-Side Rendering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86A977D-254B-52AF-9C84-9ACEE35D6EA6}"/>
              </a:ext>
            </a:extLst>
          </p:cNvPr>
          <p:cNvSpPr txBox="1"/>
          <p:nvPr/>
        </p:nvSpPr>
        <p:spPr>
          <a:xfrm>
            <a:off x="4796664" y="4219780"/>
            <a:ext cx="2591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Barrierefreiheit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BE0FF07-76D3-C8EC-FF81-DDC8CC1DA302}"/>
              </a:ext>
            </a:extLst>
          </p:cNvPr>
          <p:cNvSpPr txBox="1"/>
          <p:nvPr/>
        </p:nvSpPr>
        <p:spPr>
          <a:xfrm>
            <a:off x="8608333" y="4219780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Caching und Ladezeit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BDB9F9B3-CED0-4ACB-09C0-659A7FC91564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UX/Performance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509F515-9B78-0A94-FA86-A315326066CB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00D9266-7153-5CC5-840C-A02BA8484ABA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21682DA-2777-A647-FAAA-D51BD8DEE4C9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C9CF57B-2E0B-36D8-790A-0BD2E20AD2E2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ED557E7-A3BB-900D-C79F-4DEE207F40B4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2627BBB-36A9-06CD-7D50-F08EF827944A}"/>
              </a:ext>
            </a:extLst>
          </p:cNvPr>
          <p:cNvSpPr/>
          <p:nvPr/>
        </p:nvSpPr>
        <p:spPr>
          <a:xfrm>
            <a:off x="8049984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2578B74-1444-ADE0-314B-8C8D206C9E0B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FFA021E-12F1-0657-9EBB-76B4EA6C3DB9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742F10E9-6076-3DAE-A4B3-0F1074D64E9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BB500912-919A-1B57-966C-581A22CD8DC4}"/>
              </a:ext>
            </a:extLst>
          </p:cNvPr>
          <p:cNvSpPr txBox="1"/>
          <p:nvPr/>
        </p:nvSpPr>
        <p:spPr>
          <a:xfrm>
            <a:off x="61322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Umsetzung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BD26496-73CC-0395-FD1B-20760C4EE54F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EAE213A6-B877-0A8C-AE44-9C4A17893BFA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!!ERGEBNIS">
            <a:extLst>
              <a:ext uri="{FF2B5EF4-FFF2-40B4-BE49-F238E27FC236}">
                <a16:creationId xmlns:a16="http://schemas.microsoft.com/office/drawing/2014/main" id="{E1CBEF96-4AFE-011E-05B3-39BB4AFD8DEC}"/>
              </a:ext>
            </a:extLst>
          </p:cNvPr>
          <p:cNvSpPr/>
          <p:nvPr/>
        </p:nvSpPr>
        <p:spPr>
          <a:xfrm>
            <a:off x="8049980" y="6443695"/>
            <a:ext cx="45719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!!IntegrationTx">
            <a:extLst>
              <a:ext uri="{FF2B5EF4-FFF2-40B4-BE49-F238E27FC236}">
                <a16:creationId xmlns:a16="http://schemas.microsoft.com/office/drawing/2014/main" id="{9841BFB5-1DA8-F850-3156-EC388E9B6847}"/>
              </a:ext>
            </a:extLst>
          </p:cNvPr>
          <p:cNvSpPr txBox="1"/>
          <p:nvPr/>
        </p:nvSpPr>
        <p:spPr>
          <a:xfrm rot="20681751">
            <a:off x="-7922375" y="2520783"/>
            <a:ext cx="1933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</p:txBody>
      </p:sp>
      <p:sp>
        <p:nvSpPr>
          <p:cNvPr id="45" name="!!PerformanceTx">
            <a:extLst>
              <a:ext uri="{FF2B5EF4-FFF2-40B4-BE49-F238E27FC236}">
                <a16:creationId xmlns:a16="http://schemas.microsoft.com/office/drawing/2014/main" id="{FF38263D-0D73-BA0F-164E-B08C13094320}"/>
              </a:ext>
            </a:extLst>
          </p:cNvPr>
          <p:cNvSpPr txBox="1"/>
          <p:nvPr/>
        </p:nvSpPr>
        <p:spPr>
          <a:xfrm>
            <a:off x="-12787206" y="6135057"/>
            <a:ext cx="224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46" name="!!DatenflussTx">
            <a:extLst>
              <a:ext uri="{FF2B5EF4-FFF2-40B4-BE49-F238E27FC236}">
                <a16:creationId xmlns:a16="http://schemas.microsoft.com/office/drawing/2014/main" id="{3577E99D-330F-97A6-B122-9D858C53D014}"/>
              </a:ext>
            </a:extLst>
          </p:cNvPr>
          <p:cNvSpPr txBox="1"/>
          <p:nvPr/>
        </p:nvSpPr>
        <p:spPr>
          <a:xfrm rot="948396">
            <a:off x="34603643" y="6349874"/>
            <a:ext cx="1933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Datenfluss</a:t>
            </a:r>
          </a:p>
        </p:txBody>
      </p:sp>
      <p:sp>
        <p:nvSpPr>
          <p:cNvPr id="47" name="!!BereitstellungTx">
            <a:extLst>
              <a:ext uri="{FF2B5EF4-FFF2-40B4-BE49-F238E27FC236}">
                <a16:creationId xmlns:a16="http://schemas.microsoft.com/office/drawing/2014/main" id="{656E3E59-3CE5-806A-9346-BFCA6AEA9EAA}"/>
              </a:ext>
            </a:extLst>
          </p:cNvPr>
          <p:cNvSpPr txBox="1"/>
          <p:nvPr/>
        </p:nvSpPr>
        <p:spPr>
          <a:xfrm rot="21054249">
            <a:off x="29886379" y="476109"/>
            <a:ext cx="235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Bereitstellung</a:t>
            </a:r>
          </a:p>
        </p:txBody>
      </p:sp>
      <p:pic>
        <p:nvPicPr>
          <p:cNvPr id="48" name="!!Integration" descr="Warnung mit einfarbiger Füllung">
            <a:extLst>
              <a:ext uri="{FF2B5EF4-FFF2-40B4-BE49-F238E27FC236}">
                <a16:creationId xmlns:a16="http://schemas.microsoft.com/office/drawing/2014/main" id="{FB2399C9-3933-2671-E7DA-4AEB8AE989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681751">
            <a:off x="-7589289" y="1685127"/>
            <a:ext cx="914400" cy="914400"/>
          </a:xfrm>
          <a:prstGeom prst="rect">
            <a:avLst/>
          </a:prstGeom>
        </p:spPr>
      </p:pic>
      <p:pic>
        <p:nvPicPr>
          <p:cNvPr id="49" name="!!Performance" descr="Warnung mit einfarbiger Füllung">
            <a:extLst>
              <a:ext uri="{FF2B5EF4-FFF2-40B4-BE49-F238E27FC236}">
                <a16:creationId xmlns:a16="http://schemas.microsoft.com/office/drawing/2014/main" id="{A1B17FB4-C697-67CC-9597-82A17171A7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111511" y="5263218"/>
            <a:ext cx="914400" cy="914400"/>
          </a:xfrm>
          <a:prstGeom prst="rect">
            <a:avLst/>
          </a:prstGeom>
        </p:spPr>
      </p:pic>
      <p:pic>
        <p:nvPicPr>
          <p:cNvPr id="51" name="!!Datenfluss" descr="Warnung mit einfarbiger Füllung">
            <a:extLst>
              <a:ext uri="{FF2B5EF4-FFF2-40B4-BE49-F238E27FC236}">
                <a16:creationId xmlns:a16="http://schemas.microsoft.com/office/drawing/2014/main" id="{6B938738-52CB-991B-E0D1-1C22A63603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48396">
            <a:off x="35325766" y="5537217"/>
            <a:ext cx="914400" cy="914400"/>
          </a:xfrm>
          <a:prstGeom prst="rect">
            <a:avLst/>
          </a:prstGeom>
        </p:spPr>
      </p:pic>
      <p:pic>
        <p:nvPicPr>
          <p:cNvPr id="52" name="!!Bereitstellung" descr="Warnung mit einfarbiger Füllung">
            <a:extLst>
              <a:ext uri="{FF2B5EF4-FFF2-40B4-BE49-F238E27FC236}">
                <a16:creationId xmlns:a16="http://schemas.microsoft.com/office/drawing/2014/main" id="{6CCE21CD-AC44-B149-CF55-E97208147C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35047">
            <a:off x="30423116" y="-348666"/>
            <a:ext cx="914400" cy="914400"/>
          </a:xfrm>
          <a:prstGeom prst="rect">
            <a:avLst/>
          </a:prstGeom>
        </p:spPr>
      </p:pic>
      <p:pic>
        <p:nvPicPr>
          <p:cNvPr id="4" name="!!Grafik 2">
            <a:extLst>
              <a:ext uri="{FF2B5EF4-FFF2-40B4-BE49-F238E27FC236}">
                <a16:creationId xmlns:a16="http://schemas.microsoft.com/office/drawing/2014/main" id="{2F1076E7-0AD6-7519-40B2-2ACDCAFC1B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97" r="-13" b="92391"/>
          <a:stretch>
            <a:fillRect/>
          </a:stretch>
        </p:blipFill>
        <p:spPr>
          <a:xfrm>
            <a:off x="13130889" y="1988645"/>
            <a:ext cx="9805417" cy="373664"/>
          </a:xfrm>
          <a:prstGeom prst="rect">
            <a:avLst/>
          </a:prstGeom>
        </p:spPr>
      </p:pic>
      <p:pic>
        <p:nvPicPr>
          <p:cNvPr id="6" name="!!Grafik 1">
            <a:extLst>
              <a:ext uri="{FF2B5EF4-FFF2-40B4-BE49-F238E27FC236}">
                <a16:creationId xmlns:a16="http://schemas.microsoft.com/office/drawing/2014/main" id="{555E4B75-3680-7304-D50A-20E92F506D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54781" r="-13" b="7324"/>
          <a:stretch>
            <a:fillRect/>
          </a:stretch>
        </p:blipFill>
        <p:spPr>
          <a:xfrm>
            <a:off x="13130889" y="2344961"/>
            <a:ext cx="9805417" cy="2019447"/>
          </a:xfrm>
          <a:prstGeom prst="rect">
            <a:avLst/>
          </a:prstGeom>
        </p:spPr>
      </p:pic>
      <p:pic>
        <p:nvPicPr>
          <p:cNvPr id="12" name="!!Grafik 4">
            <a:extLst>
              <a:ext uri="{FF2B5EF4-FFF2-40B4-BE49-F238E27FC236}">
                <a16:creationId xmlns:a16="http://schemas.microsoft.com/office/drawing/2014/main" id="{FA5A2E34-4F8F-0508-6C04-4B713D3DB5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31" b="75"/>
          <a:stretch>
            <a:fillRect/>
          </a:stretch>
        </p:blipFill>
        <p:spPr>
          <a:xfrm>
            <a:off x="13130890" y="4351745"/>
            <a:ext cx="9805416" cy="399348"/>
          </a:xfrm>
          <a:prstGeom prst="rect">
            <a:avLst/>
          </a:prstGeom>
        </p:spPr>
      </p:pic>
      <p:pic>
        <p:nvPicPr>
          <p:cNvPr id="15" name="Grafik 14" descr="Ein Bild, das Text, Screenshot, Software, Webseite enthält.">
            <a:extLst>
              <a:ext uri="{FF2B5EF4-FFF2-40B4-BE49-F238E27FC236}">
                <a16:creationId xmlns:a16="http://schemas.microsoft.com/office/drawing/2014/main" id="{B39CB190-7FD4-8C6D-5A50-321C7EA5CF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891" y="1632480"/>
            <a:ext cx="8302172" cy="405536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24000"/>
              </a:prstClr>
            </a:outerShdw>
          </a:effectLst>
        </p:spPr>
      </p:pic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EFA0994-03D6-4B97-D6F6-F294577DFD59}"/>
              </a:ext>
            </a:extLst>
          </p:cNvPr>
          <p:cNvSpPr/>
          <p:nvPr/>
        </p:nvSpPr>
        <p:spPr>
          <a:xfrm>
            <a:off x="16929977" y="2038117"/>
            <a:ext cx="5848268" cy="1425808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46474FB9-B89F-AE10-4DA6-8ADB11AD547E}"/>
              </a:ext>
            </a:extLst>
          </p:cNvPr>
          <p:cNvSpPr/>
          <p:nvPr/>
        </p:nvSpPr>
        <p:spPr>
          <a:xfrm>
            <a:off x="16929977" y="3506876"/>
            <a:ext cx="5848268" cy="750799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FC88E311-26D9-8FBF-2FDC-794559B59F85}"/>
              </a:ext>
            </a:extLst>
          </p:cNvPr>
          <p:cNvSpPr/>
          <p:nvPr/>
        </p:nvSpPr>
        <p:spPr>
          <a:xfrm>
            <a:off x="16929977" y="4300626"/>
            <a:ext cx="5848268" cy="1430165"/>
          </a:xfrm>
          <a:prstGeom prst="roundRect">
            <a:avLst>
              <a:gd name="adj" fmla="val 1211"/>
            </a:avLst>
          </a:prstGeom>
          <a:solidFill>
            <a:srgbClr val="D71946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5E9877FF-9B4F-89FC-AC0D-57C0228BB4CB}"/>
              </a:ext>
            </a:extLst>
          </p:cNvPr>
          <p:cNvSpPr/>
          <p:nvPr/>
        </p:nvSpPr>
        <p:spPr>
          <a:xfrm>
            <a:off x="15102826" y="3163419"/>
            <a:ext cx="1563997" cy="695212"/>
          </a:xfrm>
          <a:prstGeom prst="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Schlägel und Eisen mit einfarbiger Füllung">
            <a:extLst>
              <a:ext uri="{FF2B5EF4-FFF2-40B4-BE49-F238E27FC236}">
                <a16:creationId xmlns:a16="http://schemas.microsoft.com/office/drawing/2014/main" id="{EAC1837D-3C08-DFDA-9624-D4ECF9908A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5980" y="26930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8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DEFB-AEC2-F763-A9C1-61189E2F9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C68EA4B5-E66C-46D7-D645-2B00E8FAE010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Herausforderungen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A8C8D18-568C-285C-B456-3E2A50BA0497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60306B1-CD45-7378-8299-F9DD6BDB2417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764263C5-4A4E-8DDD-451E-623968F791C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59E3BF25-8A9B-7771-D575-E046FE658C9F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9B24D3DC-F80A-DC73-712F-C098DE4B1658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2F01728-8C4A-666E-4DEA-6661ADE73F26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CA6BD1B6-2ACA-A6C1-A923-6BF91B8AF83B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A673E9D-93A4-E1F0-0A7B-598AC6330732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D5857D8C-86A6-E5D0-B763-040B94A9E207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624C881-1985-AA2D-49F1-53D28261F3A9}"/>
              </a:ext>
            </a:extLst>
          </p:cNvPr>
          <p:cNvSpPr txBox="1"/>
          <p:nvPr/>
        </p:nvSpPr>
        <p:spPr>
          <a:xfrm>
            <a:off x="8045450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D518308-C197-A789-3F25-B891E76E024D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5E753664-6911-8605-6F21-C4CDC60FB198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" name="!!Grafik 19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029D52E9-6586-1109-D4CF-E477C8D12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730" y="2286044"/>
            <a:ext cx="1933738" cy="1933738"/>
          </a:xfrm>
          <a:prstGeom prst="rect">
            <a:avLst/>
          </a:prstGeom>
        </p:spPr>
      </p:pic>
      <p:pic>
        <p:nvPicPr>
          <p:cNvPr id="25" name="Grafik 24" descr="Ein Bild, das Stahlfeile, Werkzeug, Design enthält.">
            <a:extLst>
              <a:ext uri="{FF2B5EF4-FFF2-40B4-BE49-F238E27FC236}">
                <a16:creationId xmlns:a16="http://schemas.microsoft.com/office/drawing/2014/main" id="{CE09A71E-BD3E-B9A1-55D3-0732073BD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097" y="2231919"/>
            <a:ext cx="1933738" cy="1933738"/>
          </a:xfrm>
          <a:prstGeom prst="rect">
            <a:avLst/>
          </a:prstGeom>
        </p:spPr>
      </p:pic>
      <p:pic>
        <p:nvPicPr>
          <p:cNvPr id="38" name="Grafik 37" descr="Ein Bild, das Grafiken, violett, Kunst, Kreis enthält.">
            <a:extLst>
              <a:ext uri="{FF2B5EF4-FFF2-40B4-BE49-F238E27FC236}">
                <a16:creationId xmlns:a16="http://schemas.microsoft.com/office/drawing/2014/main" id="{E7DE7139-9AFC-2CFD-9C1D-2E8ACF42E3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464" y="2134035"/>
            <a:ext cx="1854200" cy="1970088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ED24FE02-8644-3E33-A815-38CB5176C804}"/>
              </a:ext>
            </a:extLst>
          </p:cNvPr>
          <p:cNvSpPr txBox="1"/>
          <p:nvPr/>
        </p:nvSpPr>
        <p:spPr>
          <a:xfrm>
            <a:off x="12884747" y="4219782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Server-Side Rendering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0785030-DE8C-E71E-7633-1CA66F969208}"/>
              </a:ext>
            </a:extLst>
          </p:cNvPr>
          <p:cNvSpPr txBox="1"/>
          <p:nvPr/>
        </p:nvSpPr>
        <p:spPr>
          <a:xfrm>
            <a:off x="16779114" y="4219780"/>
            <a:ext cx="2591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Barrierefreiheit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B7F259B9-E421-CB3C-369C-9A8053848D9A}"/>
              </a:ext>
            </a:extLst>
          </p:cNvPr>
          <p:cNvSpPr txBox="1"/>
          <p:nvPr/>
        </p:nvSpPr>
        <p:spPr>
          <a:xfrm>
            <a:off x="20590783" y="4219780"/>
            <a:ext cx="2591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Caching und Ladezeit</a:t>
            </a:r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3D8571A6-3F49-7017-A0F0-8F46970712E5}"/>
              </a:ext>
            </a:extLst>
          </p:cNvPr>
          <p:cNvSpPr/>
          <p:nvPr/>
        </p:nvSpPr>
        <p:spPr>
          <a:xfrm>
            <a:off x="8049980" y="6443695"/>
            <a:ext cx="92257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!!Integration" descr="Warnung mit einfarbiger Füllung">
            <a:extLst>
              <a:ext uri="{FF2B5EF4-FFF2-40B4-BE49-F238E27FC236}">
                <a16:creationId xmlns:a16="http://schemas.microsoft.com/office/drawing/2014/main" id="{6010067E-D8F2-C189-40BA-2EB0F1564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74758">
            <a:off x="1767113" y="1983538"/>
            <a:ext cx="914400" cy="914400"/>
          </a:xfrm>
          <a:prstGeom prst="rect">
            <a:avLst/>
          </a:prstGeom>
        </p:spPr>
      </p:pic>
      <p:pic>
        <p:nvPicPr>
          <p:cNvPr id="13" name="!!Performance" descr="Warnung mit einfarbiger Füllung">
            <a:extLst>
              <a:ext uri="{FF2B5EF4-FFF2-40B4-BE49-F238E27FC236}">
                <a16:creationId xmlns:a16="http://schemas.microsoft.com/office/drawing/2014/main" id="{681B522A-80D7-E778-4317-80C9E83D8D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393669">
            <a:off x="3470246" y="3993316"/>
            <a:ext cx="914400" cy="914400"/>
          </a:xfrm>
          <a:prstGeom prst="rect">
            <a:avLst/>
          </a:prstGeom>
        </p:spPr>
      </p:pic>
      <p:pic>
        <p:nvPicPr>
          <p:cNvPr id="14" name="!!Datenfluss" descr="Warnung mit einfarbiger Füllung">
            <a:extLst>
              <a:ext uri="{FF2B5EF4-FFF2-40B4-BE49-F238E27FC236}">
                <a16:creationId xmlns:a16="http://schemas.microsoft.com/office/drawing/2014/main" id="{1F5A07CC-6617-5C4D-EEA1-484E11EE8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79897">
            <a:off x="9360142" y="3799926"/>
            <a:ext cx="914400" cy="914400"/>
          </a:xfrm>
          <a:prstGeom prst="rect">
            <a:avLst/>
          </a:prstGeom>
        </p:spPr>
      </p:pic>
      <p:pic>
        <p:nvPicPr>
          <p:cNvPr id="15" name="!!Bereitstellung" descr="Warnung mit einfarbiger Füllung">
            <a:extLst>
              <a:ext uri="{FF2B5EF4-FFF2-40B4-BE49-F238E27FC236}">
                <a16:creationId xmlns:a16="http://schemas.microsoft.com/office/drawing/2014/main" id="{0AEA0B0C-31EC-9449-6592-190E2CABE4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04975">
            <a:off x="7080484" y="1957392"/>
            <a:ext cx="914400" cy="914400"/>
          </a:xfrm>
          <a:prstGeom prst="rect">
            <a:avLst/>
          </a:prstGeom>
        </p:spPr>
      </p:pic>
      <p:sp>
        <p:nvSpPr>
          <p:cNvPr id="2" name="!!IntegrationTx">
            <a:extLst>
              <a:ext uri="{FF2B5EF4-FFF2-40B4-BE49-F238E27FC236}">
                <a16:creationId xmlns:a16="http://schemas.microsoft.com/office/drawing/2014/main" id="{1AED8155-C8BA-7C39-28DF-099F7FFBA169}"/>
              </a:ext>
            </a:extLst>
          </p:cNvPr>
          <p:cNvSpPr txBox="1"/>
          <p:nvPr/>
        </p:nvSpPr>
        <p:spPr>
          <a:xfrm rot="20574758">
            <a:off x="1577726" y="2100436"/>
            <a:ext cx="639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</p:txBody>
      </p:sp>
      <p:sp>
        <p:nvSpPr>
          <p:cNvPr id="4" name="!!BereitstellungTx">
            <a:extLst>
              <a:ext uri="{FF2B5EF4-FFF2-40B4-BE49-F238E27FC236}">
                <a16:creationId xmlns:a16="http://schemas.microsoft.com/office/drawing/2014/main" id="{E0A440F3-220A-F3FA-9795-E3A9104D32BB}"/>
              </a:ext>
            </a:extLst>
          </p:cNvPr>
          <p:cNvSpPr txBox="1"/>
          <p:nvPr/>
        </p:nvSpPr>
        <p:spPr>
          <a:xfrm rot="404975">
            <a:off x="6410361" y="3024081"/>
            <a:ext cx="6064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Bereitstellung</a:t>
            </a:r>
          </a:p>
        </p:txBody>
      </p:sp>
      <p:sp>
        <p:nvSpPr>
          <p:cNvPr id="6" name="!!PerformanceTx">
            <a:extLst>
              <a:ext uri="{FF2B5EF4-FFF2-40B4-BE49-F238E27FC236}">
                <a16:creationId xmlns:a16="http://schemas.microsoft.com/office/drawing/2014/main" id="{82FD559A-13B3-7E9E-66BA-8BB1F1EF14FA}"/>
              </a:ext>
            </a:extLst>
          </p:cNvPr>
          <p:cNvSpPr txBox="1"/>
          <p:nvPr/>
        </p:nvSpPr>
        <p:spPr>
          <a:xfrm rot="21393669">
            <a:off x="3058123" y="4664226"/>
            <a:ext cx="7943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17" name="!!DatenflussTx">
            <a:extLst>
              <a:ext uri="{FF2B5EF4-FFF2-40B4-BE49-F238E27FC236}">
                <a16:creationId xmlns:a16="http://schemas.microsoft.com/office/drawing/2014/main" id="{8D239165-F2C4-2095-268A-11E32B917312}"/>
              </a:ext>
            </a:extLst>
          </p:cNvPr>
          <p:cNvSpPr txBox="1"/>
          <p:nvPr/>
        </p:nvSpPr>
        <p:spPr>
          <a:xfrm rot="979897">
            <a:off x="8696514" y="5238707"/>
            <a:ext cx="5843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Datenfluss</a:t>
            </a:r>
          </a:p>
        </p:txBody>
      </p:sp>
    </p:spTree>
    <p:extLst>
      <p:ext uri="{BB962C8B-B14F-4D97-AF65-F5344CB8AC3E}">
        <p14:creationId xmlns:p14="http://schemas.microsoft.com/office/powerpoint/2010/main" val="3183116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5928-E02A-A713-DD9B-F6AA6C38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9B6ECB86-07CF-A110-46B1-01751855382D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Ergebnis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74B8D6F-A52E-40AD-C632-4E16C751AE88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B0831D9-D609-EDCF-6F4B-03609F2EAD02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43AC06A-F2B4-D96C-58ED-53C41B573FDE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031C445-F541-FA2C-0736-4C58BAADB277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B1A4FB7-FD3A-517B-1A58-E80D069A99FE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E1E9B19-6006-8A96-DDE7-092A5AB5FAB6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EA031A93-6284-DC2A-746D-8144B5A9C126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D9892690-91D0-AEF2-AA31-8BB1F2A9085E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B235E6BB-B443-8424-B92E-2A8335E06FE3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C58087A7-2B45-2AD7-E716-BBED9ED104DD}"/>
              </a:ext>
            </a:extLst>
          </p:cNvPr>
          <p:cNvSpPr txBox="1"/>
          <p:nvPr/>
        </p:nvSpPr>
        <p:spPr>
          <a:xfrm>
            <a:off x="8045450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4E3C3CF-A6C9-ADC0-F905-EFE5A5C8B5B5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B8EB2D5A-F64E-1B12-93EA-11AC2A499601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172EB96A-DF4D-73F8-F0BD-4E307B0B689E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C2D703D2-CBD1-81B0-1E5E-D4C56CC71D45}"/>
              </a:ext>
            </a:extLst>
          </p:cNvPr>
          <p:cNvSpPr/>
          <p:nvPr/>
        </p:nvSpPr>
        <p:spPr>
          <a:xfrm>
            <a:off x="8049980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!!IntegrationTx">
            <a:extLst>
              <a:ext uri="{FF2B5EF4-FFF2-40B4-BE49-F238E27FC236}">
                <a16:creationId xmlns:a16="http://schemas.microsoft.com/office/drawing/2014/main" id="{E37C62A9-9B7E-3017-7C5F-CBD5ADE4F5C0}"/>
              </a:ext>
            </a:extLst>
          </p:cNvPr>
          <p:cNvSpPr txBox="1"/>
          <p:nvPr/>
        </p:nvSpPr>
        <p:spPr>
          <a:xfrm>
            <a:off x="1306285" y="2359334"/>
            <a:ext cx="639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Kubernetes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!!PerformanceTx">
            <a:extLst>
              <a:ext uri="{FF2B5EF4-FFF2-40B4-BE49-F238E27FC236}">
                <a16:creationId xmlns:a16="http://schemas.microsoft.com/office/drawing/2014/main" id="{D42EDD41-4B24-B302-B33A-F0C0676ED044}"/>
              </a:ext>
            </a:extLst>
          </p:cNvPr>
          <p:cNvSpPr txBox="1"/>
          <p:nvPr/>
        </p:nvSpPr>
        <p:spPr>
          <a:xfrm>
            <a:off x="1306285" y="4064973"/>
            <a:ext cx="7943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Caching und sinnvolle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!!DatenflussTx">
            <a:extLst>
              <a:ext uri="{FF2B5EF4-FFF2-40B4-BE49-F238E27FC236}">
                <a16:creationId xmlns:a16="http://schemas.microsoft.com/office/drawing/2014/main" id="{15284EA1-DB2B-AC10-0417-2F1888E067B0}"/>
              </a:ext>
            </a:extLst>
          </p:cNvPr>
          <p:cNvSpPr txBox="1"/>
          <p:nvPr/>
        </p:nvSpPr>
        <p:spPr>
          <a:xfrm>
            <a:off x="1306285" y="4914743"/>
            <a:ext cx="5843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Datenfluss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REST und RTK Query</a:t>
            </a:r>
          </a:p>
        </p:txBody>
      </p:sp>
      <p:sp>
        <p:nvSpPr>
          <p:cNvPr id="10" name="!!BereitstellungTx">
            <a:extLst>
              <a:ext uri="{FF2B5EF4-FFF2-40B4-BE49-F238E27FC236}">
                <a16:creationId xmlns:a16="http://schemas.microsoft.com/office/drawing/2014/main" id="{109149C9-D922-C6BD-DA4E-C0165FD7517D}"/>
              </a:ext>
            </a:extLst>
          </p:cNvPr>
          <p:cNvSpPr txBox="1"/>
          <p:nvPr/>
        </p:nvSpPr>
        <p:spPr>
          <a:xfrm>
            <a:off x="1306284" y="3198166"/>
            <a:ext cx="639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Bereitstellung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Jenkins und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Bitbucket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!!Integration" descr="Häkchen mit einfarbiger Füllung">
            <a:extLst>
              <a:ext uri="{FF2B5EF4-FFF2-40B4-BE49-F238E27FC236}">
                <a16:creationId xmlns:a16="http://schemas.microsoft.com/office/drawing/2014/main" id="{8CEAD60F-1EB5-7CE0-3B6D-DF4C6A46F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8113" y="2231919"/>
            <a:ext cx="716497" cy="716497"/>
          </a:xfrm>
          <a:prstGeom prst="rect">
            <a:avLst/>
          </a:prstGeom>
        </p:spPr>
      </p:pic>
      <p:pic>
        <p:nvPicPr>
          <p:cNvPr id="13" name="!!Performance" descr="Checkmark">
            <a:extLst>
              <a:ext uri="{FF2B5EF4-FFF2-40B4-BE49-F238E27FC236}">
                <a16:creationId xmlns:a16="http://schemas.microsoft.com/office/drawing/2014/main" id="{D240F607-BACC-55A1-C726-CC81C7661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95" y="3931699"/>
            <a:ext cx="728215" cy="728215"/>
          </a:xfrm>
          <a:prstGeom prst="rect">
            <a:avLst/>
          </a:prstGeom>
        </p:spPr>
      </p:pic>
      <p:pic>
        <p:nvPicPr>
          <p:cNvPr id="14" name="!!Datenfluss" descr="Checkmark">
            <a:extLst>
              <a:ext uri="{FF2B5EF4-FFF2-40B4-BE49-F238E27FC236}">
                <a16:creationId xmlns:a16="http://schemas.microsoft.com/office/drawing/2014/main" id="{F27E021C-94B0-8343-BB14-17FE5E1DB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95" y="4787328"/>
            <a:ext cx="716497" cy="716497"/>
          </a:xfrm>
          <a:prstGeom prst="rect">
            <a:avLst/>
          </a:prstGeom>
        </p:spPr>
      </p:pic>
      <p:pic>
        <p:nvPicPr>
          <p:cNvPr id="15" name="!!Bereitstellung" descr="Checkmark">
            <a:extLst>
              <a:ext uri="{FF2B5EF4-FFF2-40B4-BE49-F238E27FC236}">
                <a16:creationId xmlns:a16="http://schemas.microsoft.com/office/drawing/2014/main" id="{03F9A9B7-EC6D-E3E3-2DF8-9E0B13466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80798">
            <a:off x="548413" y="3077848"/>
            <a:ext cx="724419" cy="724419"/>
          </a:xfrm>
          <a:prstGeom prst="rect">
            <a:avLst/>
          </a:prstGeom>
        </p:spPr>
      </p:pic>
      <p:sp>
        <p:nvSpPr>
          <p:cNvPr id="11" name="!!Backdrop">
            <a:extLst>
              <a:ext uri="{FF2B5EF4-FFF2-40B4-BE49-F238E27FC236}">
                <a16:creationId xmlns:a16="http://schemas.microsoft.com/office/drawing/2014/main" id="{C739F209-1216-7D18-3B3B-0AE25DAA5623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6" name="!!Grafik 20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E90BE053-FFE0-5B28-0116-22D243CDE4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70166" y="2286042"/>
            <a:ext cx="2285916" cy="2285916"/>
          </a:xfrm>
          <a:prstGeom prst="rect">
            <a:avLst/>
          </a:prstGeom>
        </p:spPr>
      </p:pic>
      <p:pic>
        <p:nvPicPr>
          <p:cNvPr id="17" name="Grafik 16" descr="Ein Bild, das Symbol, Logo, Grafiken, Grün enthält.">
            <a:extLst>
              <a:ext uri="{FF2B5EF4-FFF2-40B4-BE49-F238E27FC236}">
                <a16:creationId xmlns:a16="http://schemas.microsoft.com/office/drawing/2014/main" id="{4B4C6173-06DE-8591-2AC7-DC3C336408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817" b="95305" l="3376" r="98734">
                        <a14:foregroundMark x1="12236" y1="52113" x2="32911" y2="84507"/>
                        <a14:foregroundMark x1="32911" y1="84507" x2="68354" y2="79812"/>
                        <a14:foregroundMark x1="68354" y1="79812" x2="78059" y2="41784"/>
                        <a14:foregroundMark x1="78059" y1="41784" x2="67089" y2="16432"/>
                        <a14:foregroundMark x1="67089" y1="16432" x2="27426" y2="19249"/>
                        <a14:foregroundMark x1="27426" y1="19249" x2="14346" y2="48357"/>
                        <a14:foregroundMark x1="14346" y1="48357" x2="11392" y2="51174"/>
                        <a14:foregroundMark x1="16456" y1="67606" x2="37975" y2="89202"/>
                        <a14:foregroundMark x1="37975" y1="89202" x2="63713" y2="90610"/>
                        <a14:foregroundMark x1="63713" y1="90610" x2="80591" y2="75587"/>
                        <a14:foregroundMark x1="80591" y1="75587" x2="87342" y2="42254"/>
                        <a14:foregroundMark x1="87342" y1="42254" x2="66245" y2="11268"/>
                        <a14:foregroundMark x1="66245" y1="11268" x2="35865" y2="12676"/>
                        <a14:foregroundMark x1="35865" y1="12676" x2="35021" y2="12676"/>
                        <a14:foregroundMark x1="24895" y1="5164" x2="65401" y2="5164"/>
                        <a14:foregroundMark x1="67511" y1="5164" x2="30802" y2="3756"/>
                        <a14:foregroundMark x1="37975" y1="4225" x2="67089" y2="3286"/>
                        <a14:foregroundMark x1="90717" y1="38967" x2="89030" y2="58685"/>
                        <a14:foregroundMark x1="94093" y1="50704" x2="95359" y2="52582"/>
                        <a14:foregroundMark x1="78903" y1="84038" x2="77637" y2="86385"/>
                        <a14:foregroundMark x1="72574" y1="88263" x2="48523" y2="94366"/>
                        <a14:foregroundMark x1="3797" y1="52113" x2="10970" y2="58216"/>
                        <a14:foregroundMark x1="70464" y1="58216" x2="46414" y2="69014"/>
                        <a14:foregroundMark x1="47257" y1="20188" x2="53165" y2="68075"/>
                        <a14:foregroundMark x1="62447" y1="26761" x2="75527" y2="55869"/>
                        <a14:foregroundMark x1="75527" y1="48357" x2="52743" y2="17371"/>
                        <a14:foregroundMark x1="68354" y1="64319" x2="13924" y2="73239"/>
                        <a14:foregroundMark x1="40084" y1="23944" x2="21097" y2="50235"/>
                        <a14:foregroundMark x1="21097" y1="50235" x2="42616" y2="71362"/>
                        <a14:foregroundMark x1="42616" y1="71362" x2="73418" y2="69014"/>
                        <a14:foregroundMark x1="97046" y1="50704" x2="99156" y2="51174"/>
                        <a14:foregroundMark x1="51055" y1="61972" x2="27426" y2="29108"/>
                        <a14:foregroundMark x1="22785" y1="73709" x2="65401" y2="95305"/>
                        <a14:backgroundMark x1="7173" y1="14554" x2="7173" y2="14554"/>
                        <a14:backgroundMark x1="8861" y1="92488" x2="8861" y2="92488"/>
                        <a14:backgroundMark x1="88186" y1="9859" x2="90717" y2="22066"/>
                        <a14:backgroundMark x1="86498" y1="93427" x2="95781" y2="793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17046" y="2414587"/>
            <a:ext cx="2257425" cy="2028825"/>
          </a:xfrm>
          <a:prstGeom prst="rect">
            <a:avLst/>
          </a:prstGeom>
        </p:spPr>
      </p:pic>
      <p:pic>
        <p:nvPicPr>
          <p:cNvPr id="18" name="Grafik 17" descr="Ein Bild, das Clipart, Grafiken, Symbol, Design enthält.">
            <a:extLst>
              <a:ext uri="{FF2B5EF4-FFF2-40B4-BE49-F238E27FC236}">
                <a16:creationId xmlns:a16="http://schemas.microsoft.com/office/drawing/2014/main" id="{FE8D1ED8-CB85-2A78-73CC-21C5EF9FE8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92417" y="2305676"/>
            <a:ext cx="2119116" cy="2184712"/>
          </a:xfrm>
          <a:prstGeom prst="rect">
            <a:avLst/>
          </a:prstGeom>
        </p:spPr>
      </p:pic>
      <p:pic>
        <p:nvPicPr>
          <p:cNvPr id="19" name="Grafik 18" descr="Ein Bild, das Symbol, Kreis, Logo, Grafiken enthält.">
            <a:extLst>
              <a:ext uri="{FF2B5EF4-FFF2-40B4-BE49-F238E27FC236}">
                <a16:creationId xmlns:a16="http://schemas.microsoft.com/office/drawing/2014/main" id="{9C120EC0-B60D-1363-0C06-99B218CF12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04525" y="1952218"/>
            <a:ext cx="2891628" cy="2891628"/>
          </a:xfrm>
          <a:prstGeom prst="rect">
            <a:avLst/>
          </a:prstGeom>
        </p:spPr>
      </p:pic>
      <p:sp>
        <p:nvSpPr>
          <p:cNvPr id="21" name="!!Backdrop">
            <a:extLst>
              <a:ext uri="{FF2B5EF4-FFF2-40B4-BE49-F238E27FC236}">
                <a16:creationId xmlns:a16="http://schemas.microsoft.com/office/drawing/2014/main" id="{4BF51DCE-F9B3-0CDF-92AE-84A2587D1FC0}"/>
              </a:ext>
            </a:extLst>
          </p:cNvPr>
          <p:cNvSpPr/>
          <p:nvPr/>
        </p:nvSpPr>
        <p:spPr>
          <a:xfrm>
            <a:off x="-181429" y="-1669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3000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BBC5-218F-EE8C-53C9-5AD9A1FD6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97429837-83D9-B4F5-D1D2-CA4519C4DF37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Ergebnis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955F1C3-0BC2-5EFB-297D-DC99A23A0A24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17E331E0-64D3-6256-8996-A8446F800DB6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B817FF2-F471-BD1F-FD66-DE90972723C4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045C798-59E9-7A18-51E1-F9BD75F4E97B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EDA06D8D-D220-7E28-1BB8-0D0214A5A50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608FD37C-DA99-F427-5A6E-D9B245085D15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61DF56F2-E757-0C30-334B-C0105E5DC506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B926AD9A-9481-8415-EEF2-42F70AF0298A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AB6971E9-4475-F739-EF37-A24DD82A6815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10C7690-91E0-A331-3469-C91139DFC797}"/>
              </a:ext>
            </a:extLst>
          </p:cNvPr>
          <p:cNvSpPr txBox="1"/>
          <p:nvPr/>
        </p:nvSpPr>
        <p:spPr>
          <a:xfrm>
            <a:off x="8045450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38B2DF0-C832-5205-E58C-BAF6FACCFA58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9E9951B-66D2-9EC5-6A87-691C75B17402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7263369-DDA2-248C-D4F8-6156BB32F3D8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E54F9C61-282D-5F86-E6EA-45B45629238E}"/>
              </a:ext>
            </a:extLst>
          </p:cNvPr>
          <p:cNvSpPr/>
          <p:nvPr/>
        </p:nvSpPr>
        <p:spPr>
          <a:xfrm>
            <a:off x="8049980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!!IntegrationTx">
            <a:extLst>
              <a:ext uri="{FF2B5EF4-FFF2-40B4-BE49-F238E27FC236}">
                <a16:creationId xmlns:a16="http://schemas.microsoft.com/office/drawing/2014/main" id="{3999131F-BD35-44E7-FDBE-89D0B50D5F5D}"/>
              </a:ext>
            </a:extLst>
          </p:cNvPr>
          <p:cNvSpPr txBox="1"/>
          <p:nvPr/>
        </p:nvSpPr>
        <p:spPr>
          <a:xfrm>
            <a:off x="1306285" y="2359334"/>
            <a:ext cx="639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Kubernetes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!!PerformanceTx">
            <a:extLst>
              <a:ext uri="{FF2B5EF4-FFF2-40B4-BE49-F238E27FC236}">
                <a16:creationId xmlns:a16="http://schemas.microsoft.com/office/drawing/2014/main" id="{F2401B0F-A310-BC50-E6AA-A29AAD606BEE}"/>
              </a:ext>
            </a:extLst>
          </p:cNvPr>
          <p:cNvSpPr txBox="1"/>
          <p:nvPr/>
        </p:nvSpPr>
        <p:spPr>
          <a:xfrm>
            <a:off x="1306285" y="4064973"/>
            <a:ext cx="7943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Caching und sinnvolle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!!DatenflussTx">
            <a:extLst>
              <a:ext uri="{FF2B5EF4-FFF2-40B4-BE49-F238E27FC236}">
                <a16:creationId xmlns:a16="http://schemas.microsoft.com/office/drawing/2014/main" id="{3409D612-6D95-358F-7638-E3084669C04C}"/>
              </a:ext>
            </a:extLst>
          </p:cNvPr>
          <p:cNvSpPr txBox="1"/>
          <p:nvPr/>
        </p:nvSpPr>
        <p:spPr>
          <a:xfrm>
            <a:off x="1306285" y="4914743"/>
            <a:ext cx="5843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Datenfluss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REST und RTK Query</a:t>
            </a:r>
          </a:p>
        </p:txBody>
      </p:sp>
      <p:sp>
        <p:nvSpPr>
          <p:cNvPr id="10" name="!!BereitstellungTx">
            <a:extLst>
              <a:ext uri="{FF2B5EF4-FFF2-40B4-BE49-F238E27FC236}">
                <a16:creationId xmlns:a16="http://schemas.microsoft.com/office/drawing/2014/main" id="{5EA2FFF6-6CF3-0CC7-5E9E-9B72424A341A}"/>
              </a:ext>
            </a:extLst>
          </p:cNvPr>
          <p:cNvSpPr txBox="1"/>
          <p:nvPr/>
        </p:nvSpPr>
        <p:spPr>
          <a:xfrm>
            <a:off x="1306284" y="3198166"/>
            <a:ext cx="6390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Bereitstellung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durch Jenkins und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Bitbucket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!!Integration" descr="Häkchen mit einfarbiger Füllung">
            <a:extLst>
              <a:ext uri="{FF2B5EF4-FFF2-40B4-BE49-F238E27FC236}">
                <a16:creationId xmlns:a16="http://schemas.microsoft.com/office/drawing/2014/main" id="{3CFBE928-484B-5F2A-3F0F-5F1D03458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8113" y="2231919"/>
            <a:ext cx="716497" cy="716497"/>
          </a:xfrm>
          <a:prstGeom prst="rect">
            <a:avLst/>
          </a:prstGeom>
        </p:spPr>
      </p:pic>
      <p:pic>
        <p:nvPicPr>
          <p:cNvPr id="13" name="!!Performance" descr="Checkmark">
            <a:extLst>
              <a:ext uri="{FF2B5EF4-FFF2-40B4-BE49-F238E27FC236}">
                <a16:creationId xmlns:a16="http://schemas.microsoft.com/office/drawing/2014/main" id="{91C4D8A9-9213-AFDE-4D6A-1F3D98823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95" y="3931699"/>
            <a:ext cx="728215" cy="728215"/>
          </a:xfrm>
          <a:prstGeom prst="rect">
            <a:avLst/>
          </a:prstGeom>
        </p:spPr>
      </p:pic>
      <p:pic>
        <p:nvPicPr>
          <p:cNvPr id="14" name="!!Datenfluss" descr="Checkmark">
            <a:extLst>
              <a:ext uri="{FF2B5EF4-FFF2-40B4-BE49-F238E27FC236}">
                <a16:creationId xmlns:a16="http://schemas.microsoft.com/office/drawing/2014/main" id="{78BC47BF-5710-15CB-033A-BB2D769F6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95" y="4787328"/>
            <a:ext cx="716497" cy="716497"/>
          </a:xfrm>
          <a:prstGeom prst="rect">
            <a:avLst/>
          </a:prstGeom>
        </p:spPr>
      </p:pic>
      <p:pic>
        <p:nvPicPr>
          <p:cNvPr id="15" name="!!Bereitstellung" descr="Checkmark">
            <a:extLst>
              <a:ext uri="{FF2B5EF4-FFF2-40B4-BE49-F238E27FC236}">
                <a16:creationId xmlns:a16="http://schemas.microsoft.com/office/drawing/2014/main" id="{EB033F6F-C1A5-48B3-A89D-783E26781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80798">
            <a:off x="548413" y="3077848"/>
            <a:ext cx="724419" cy="724419"/>
          </a:xfrm>
          <a:prstGeom prst="rect">
            <a:avLst/>
          </a:prstGeom>
        </p:spPr>
      </p:pic>
      <p:sp>
        <p:nvSpPr>
          <p:cNvPr id="30" name="!!ERGEBNIS">
            <a:extLst>
              <a:ext uri="{FF2B5EF4-FFF2-40B4-BE49-F238E27FC236}">
                <a16:creationId xmlns:a16="http://schemas.microsoft.com/office/drawing/2014/main" id="{60091490-C906-288C-05A6-26CD7ABC2872}"/>
              </a:ext>
            </a:extLst>
          </p:cNvPr>
          <p:cNvSpPr/>
          <p:nvPr/>
        </p:nvSpPr>
        <p:spPr>
          <a:xfrm>
            <a:off x="9967673" y="6443695"/>
            <a:ext cx="45719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!!Backdrop">
            <a:extLst>
              <a:ext uri="{FF2B5EF4-FFF2-40B4-BE49-F238E27FC236}">
                <a16:creationId xmlns:a16="http://schemas.microsoft.com/office/drawing/2014/main" id="{8BD3763B-F39F-D172-AEC6-89AE4CD646D9}"/>
              </a:ext>
            </a:extLst>
          </p:cNvPr>
          <p:cNvSpPr/>
          <p:nvPr/>
        </p:nvSpPr>
        <p:spPr>
          <a:xfrm>
            <a:off x="-181429" y="-166914"/>
            <a:ext cx="13062858" cy="7605485"/>
          </a:xfrm>
          <a:prstGeom prst="rect">
            <a:avLst/>
          </a:prstGeom>
          <a:solidFill>
            <a:srgbClr val="455561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!!Grafik 20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5B1511A0-D0FE-0721-A64E-FD6FB00DD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95" y="2286042"/>
            <a:ext cx="2285916" cy="2285916"/>
          </a:xfrm>
          <a:prstGeom prst="rect">
            <a:avLst/>
          </a:prstGeom>
        </p:spPr>
      </p:pic>
      <p:pic>
        <p:nvPicPr>
          <p:cNvPr id="20" name="Grafik 19" descr="Ein Bild, das Symbol, Logo, Grafiken, Grün enthält.">
            <a:extLst>
              <a:ext uri="{FF2B5EF4-FFF2-40B4-BE49-F238E27FC236}">
                <a16:creationId xmlns:a16="http://schemas.microsoft.com/office/drawing/2014/main" id="{55728617-8B6D-A697-7FB7-442AF7497A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817" b="95305" l="3376" r="98734">
                        <a14:foregroundMark x1="12236" y1="52113" x2="32911" y2="84507"/>
                        <a14:foregroundMark x1="32911" y1="84507" x2="68354" y2="79812"/>
                        <a14:foregroundMark x1="68354" y1="79812" x2="78059" y2="41784"/>
                        <a14:foregroundMark x1="78059" y1="41784" x2="67089" y2="16432"/>
                        <a14:foregroundMark x1="67089" y1="16432" x2="27426" y2="19249"/>
                        <a14:foregroundMark x1="27426" y1="19249" x2="14346" y2="48357"/>
                        <a14:foregroundMark x1="14346" y1="48357" x2="11392" y2="51174"/>
                        <a14:foregroundMark x1="16456" y1="67606" x2="37975" y2="89202"/>
                        <a14:foregroundMark x1="37975" y1="89202" x2="63713" y2="90610"/>
                        <a14:foregroundMark x1="63713" y1="90610" x2="80591" y2="75587"/>
                        <a14:foregroundMark x1="80591" y1="75587" x2="87342" y2="42254"/>
                        <a14:foregroundMark x1="87342" y1="42254" x2="66245" y2="11268"/>
                        <a14:foregroundMark x1="66245" y1="11268" x2="35865" y2="12676"/>
                        <a14:foregroundMark x1="35865" y1="12676" x2="35021" y2="12676"/>
                        <a14:foregroundMark x1="24895" y1="5164" x2="65401" y2="5164"/>
                        <a14:foregroundMark x1="67511" y1="5164" x2="30802" y2="3756"/>
                        <a14:foregroundMark x1="37975" y1="4225" x2="67089" y2="3286"/>
                        <a14:foregroundMark x1="90717" y1="38967" x2="89030" y2="58685"/>
                        <a14:foregroundMark x1="94093" y1="50704" x2="95359" y2="52582"/>
                        <a14:foregroundMark x1="78903" y1="84038" x2="77637" y2="86385"/>
                        <a14:foregroundMark x1="72574" y1="88263" x2="48523" y2="94366"/>
                        <a14:foregroundMark x1="3797" y1="52113" x2="10970" y2="58216"/>
                        <a14:foregroundMark x1="70464" y1="58216" x2="46414" y2="69014"/>
                        <a14:foregroundMark x1="47257" y1="20188" x2="53165" y2="68075"/>
                        <a14:foregroundMark x1="62447" y1="26761" x2="75527" y2="55869"/>
                        <a14:foregroundMark x1="75527" y1="48357" x2="52743" y2="17371"/>
                        <a14:foregroundMark x1="68354" y1="64319" x2="13924" y2="73239"/>
                        <a14:foregroundMark x1="40084" y1="23944" x2="21097" y2="50235"/>
                        <a14:foregroundMark x1="21097" y1="50235" x2="42616" y2="71362"/>
                        <a14:foregroundMark x1="42616" y1="71362" x2="73418" y2="69014"/>
                        <a14:foregroundMark x1="97046" y1="50704" x2="99156" y2="51174"/>
                        <a14:foregroundMark x1="51055" y1="61972" x2="27426" y2="29108"/>
                        <a14:foregroundMark x1="22785" y1="73709" x2="65401" y2="95305"/>
                        <a14:backgroundMark x1="7173" y1="14554" x2="7173" y2="14554"/>
                        <a14:backgroundMark x1="8861" y1="92488" x2="8861" y2="92488"/>
                        <a14:backgroundMark x1="88186" y1="9859" x2="90717" y2="22066"/>
                        <a14:backgroundMark x1="86498" y1="93427" x2="95781" y2="793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253" y="2414587"/>
            <a:ext cx="2257425" cy="2028825"/>
          </a:xfrm>
          <a:prstGeom prst="rect">
            <a:avLst/>
          </a:prstGeom>
        </p:spPr>
      </p:pic>
      <p:pic>
        <p:nvPicPr>
          <p:cNvPr id="22" name="Grafik 21" descr="Ein Bild, das Clipart, Grafiken, Symbol, Design enthält.">
            <a:extLst>
              <a:ext uri="{FF2B5EF4-FFF2-40B4-BE49-F238E27FC236}">
                <a16:creationId xmlns:a16="http://schemas.microsoft.com/office/drawing/2014/main" id="{88893CA4-AF2E-A9A3-2184-5CE0C882E2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499" y="2305676"/>
            <a:ext cx="2119116" cy="2184712"/>
          </a:xfrm>
          <a:prstGeom prst="rect">
            <a:avLst/>
          </a:prstGeom>
        </p:spPr>
      </p:pic>
      <p:pic>
        <p:nvPicPr>
          <p:cNvPr id="25" name="Grafik 24" descr="Ein Bild, das Symbol, Kreis, Logo, Grafiken enthält.">
            <a:extLst>
              <a:ext uri="{FF2B5EF4-FFF2-40B4-BE49-F238E27FC236}">
                <a16:creationId xmlns:a16="http://schemas.microsoft.com/office/drawing/2014/main" id="{E3BF80AB-F742-75C7-9E45-6D4CEFFE0D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830" y="1952218"/>
            <a:ext cx="2891628" cy="289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34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BDDC-EE6A-C430-B9B0-6A69143E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 descr="Zahnrad mit einfarbiger Füllung">
            <a:extLst>
              <a:ext uri="{FF2B5EF4-FFF2-40B4-BE49-F238E27FC236}">
                <a16:creationId xmlns:a16="http://schemas.microsoft.com/office/drawing/2014/main" id="{3C57B378-CD0E-4E57-4799-AB3FE0388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900" y="6872363"/>
            <a:ext cx="1805459" cy="180545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2EA575FB-FCC4-7DF4-2C40-DE3039974114}"/>
              </a:ext>
            </a:extLst>
          </p:cNvPr>
          <p:cNvSpPr txBox="1"/>
          <p:nvPr/>
        </p:nvSpPr>
        <p:spPr>
          <a:xfrm>
            <a:off x="4493839" y="8518486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Saubere Prozesse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6D8A5D55-8EA8-F956-532C-25918D283959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Fazit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0E81CAD-9CDC-FDCF-EF7D-DB3F1F1FF32C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4C3DC40-69EA-8531-2F8F-F149ECE0F5DD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9A89AA3-5869-B1BC-6317-72E7CCBDC603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42A3A82-61DD-8CA1-F2E7-58CEB7EE3048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69531513-538F-AA75-90FD-B176E54E690C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AC1C486B-89B4-8B9F-8616-4B6411EA0F78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434DD55-3881-3A67-EF7E-A65229DAFEF0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2D3BCD1-486B-4F18-4A53-CE61CF5BFB6F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7EBB58C2-9B7F-266B-BF44-A63C8740DF7C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46998A16-02D8-319A-00FB-BA91B753AB81}"/>
              </a:ext>
            </a:extLst>
          </p:cNvPr>
          <p:cNvSpPr txBox="1"/>
          <p:nvPr/>
        </p:nvSpPr>
        <p:spPr>
          <a:xfrm>
            <a:off x="99676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0A92756-8C88-06EE-0E33-786215DCEBB5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E6AE82EC-1914-CC5A-A8AA-E86AB21C4357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EA1BC53-B6F2-550F-86BA-9C4BCDEAC477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87DFB4E3-DF9C-9A7B-AE76-46C53766AB37}"/>
              </a:ext>
            </a:extLst>
          </p:cNvPr>
          <p:cNvSpPr/>
          <p:nvPr/>
        </p:nvSpPr>
        <p:spPr>
          <a:xfrm>
            <a:off x="8049980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!!Grafik 20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4C30DCA9-94BB-7056-C994-6D431C132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485" y="2286042"/>
            <a:ext cx="2285916" cy="2285916"/>
          </a:xfrm>
          <a:prstGeom prst="rect">
            <a:avLst/>
          </a:prstGeom>
        </p:spPr>
      </p:pic>
      <p:pic>
        <p:nvPicPr>
          <p:cNvPr id="17" name="Grafik 16" descr="Ein Bild, das Symbol, Logo, Grafiken, Grün enthält.">
            <a:extLst>
              <a:ext uri="{FF2B5EF4-FFF2-40B4-BE49-F238E27FC236}">
                <a16:creationId xmlns:a16="http://schemas.microsoft.com/office/drawing/2014/main" id="{C2E02710-2C1F-244B-F7EA-52C88956E2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17" b="95305" l="3376" r="98734">
                        <a14:foregroundMark x1="12236" y1="52113" x2="32911" y2="84507"/>
                        <a14:foregroundMark x1="32911" y1="84507" x2="68354" y2="79812"/>
                        <a14:foregroundMark x1="68354" y1="79812" x2="78059" y2="41784"/>
                        <a14:foregroundMark x1="78059" y1="41784" x2="67089" y2="16432"/>
                        <a14:foregroundMark x1="67089" y1="16432" x2="27426" y2="19249"/>
                        <a14:foregroundMark x1="27426" y1="19249" x2="14346" y2="48357"/>
                        <a14:foregroundMark x1="14346" y1="48357" x2="11392" y2="51174"/>
                        <a14:foregroundMark x1="16456" y1="67606" x2="37975" y2="89202"/>
                        <a14:foregroundMark x1="37975" y1="89202" x2="63713" y2="90610"/>
                        <a14:foregroundMark x1="63713" y1="90610" x2="80591" y2="75587"/>
                        <a14:foregroundMark x1="80591" y1="75587" x2="87342" y2="42254"/>
                        <a14:foregroundMark x1="87342" y1="42254" x2="66245" y2="11268"/>
                        <a14:foregroundMark x1="66245" y1="11268" x2="35865" y2="12676"/>
                        <a14:foregroundMark x1="35865" y1="12676" x2="35021" y2="12676"/>
                        <a14:foregroundMark x1="24895" y1="5164" x2="65401" y2="5164"/>
                        <a14:foregroundMark x1="67511" y1="5164" x2="30802" y2="3756"/>
                        <a14:foregroundMark x1="37975" y1="4225" x2="67089" y2="3286"/>
                        <a14:foregroundMark x1="90717" y1="38967" x2="89030" y2="58685"/>
                        <a14:foregroundMark x1="94093" y1="50704" x2="95359" y2="52582"/>
                        <a14:foregroundMark x1="78903" y1="84038" x2="77637" y2="86385"/>
                        <a14:foregroundMark x1="72574" y1="88263" x2="48523" y2="94366"/>
                        <a14:foregroundMark x1="3797" y1="52113" x2="10970" y2="58216"/>
                        <a14:foregroundMark x1="70464" y1="58216" x2="46414" y2="69014"/>
                        <a14:foregroundMark x1="47257" y1="20188" x2="53165" y2="68075"/>
                        <a14:foregroundMark x1="62447" y1="26761" x2="75527" y2="55869"/>
                        <a14:foregroundMark x1="75527" y1="48357" x2="52743" y2="17371"/>
                        <a14:foregroundMark x1="68354" y1="64319" x2="13924" y2="73239"/>
                        <a14:foregroundMark x1="40084" y1="23944" x2="21097" y2="50235"/>
                        <a14:foregroundMark x1="21097" y1="50235" x2="42616" y2="71362"/>
                        <a14:foregroundMark x1="42616" y1="71362" x2="73418" y2="69014"/>
                        <a14:foregroundMark x1="97046" y1="50704" x2="99156" y2="51174"/>
                        <a14:foregroundMark x1="51055" y1="61972" x2="27426" y2="29108"/>
                        <a14:foregroundMark x1="22785" y1="73709" x2="65401" y2="95305"/>
                        <a14:backgroundMark x1="7173" y1="14554" x2="7173" y2="14554"/>
                        <a14:backgroundMark x1="8861" y1="92488" x2="8861" y2="92488"/>
                        <a14:backgroundMark x1="88186" y1="9859" x2="90717" y2="22066"/>
                        <a14:backgroundMark x1="86498" y1="93427" x2="95781" y2="793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343" y="2414587"/>
            <a:ext cx="2257425" cy="2028825"/>
          </a:xfrm>
          <a:prstGeom prst="rect">
            <a:avLst/>
          </a:prstGeom>
        </p:spPr>
      </p:pic>
      <p:pic>
        <p:nvPicPr>
          <p:cNvPr id="19" name="Grafik 18" descr="Ein Bild, das Clipart, Grafiken, Symbol, Design enthält.">
            <a:extLst>
              <a:ext uri="{FF2B5EF4-FFF2-40B4-BE49-F238E27FC236}">
                <a16:creationId xmlns:a16="http://schemas.microsoft.com/office/drawing/2014/main" id="{C2D48197-0258-5389-29F2-6E1F7874E7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589" y="2305676"/>
            <a:ext cx="2119116" cy="2184712"/>
          </a:xfrm>
          <a:prstGeom prst="rect">
            <a:avLst/>
          </a:prstGeom>
        </p:spPr>
      </p:pic>
      <p:pic>
        <p:nvPicPr>
          <p:cNvPr id="22" name="Grafik 21" descr="Ein Bild, das Symbol, Kreis, Logo, Grafiken enthält.">
            <a:extLst>
              <a:ext uri="{FF2B5EF4-FFF2-40B4-BE49-F238E27FC236}">
                <a16:creationId xmlns:a16="http://schemas.microsoft.com/office/drawing/2014/main" id="{ECED3D00-581E-5B20-1EA6-3BDCADAAC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920" y="1952218"/>
            <a:ext cx="2891628" cy="2891628"/>
          </a:xfrm>
          <a:prstGeom prst="rect">
            <a:avLst/>
          </a:prstGeom>
        </p:spPr>
      </p:pic>
      <p:sp>
        <p:nvSpPr>
          <p:cNvPr id="16" name="!!ERGEBNIS">
            <a:extLst>
              <a:ext uri="{FF2B5EF4-FFF2-40B4-BE49-F238E27FC236}">
                <a16:creationId xmlns:a16="http://schemas.microsoft.com/office/drawing/2014/main" id="{2B6535C7-4474-4485-64B1-CC68BCE455F9}"/>
              </a:ext>
            </a:extLst>
          </p:cNvPr>
          <p:cNvSpPr/>
          <p:nvPr/>
        </p:nvSpPr>
        <p:spPr>
          <a:xfrm>
            <a:off x="9967673" y="6443695"/>
            <a:ext cx="924165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CD91203-A960-F584-10A7-8B00D8D3A4DD}"/>
              </a:ext>
            </a:extLst>
          </p:cNvPr>
          <p:cNvSpPr txBox="1"/>
          <p:nvPr/>
        </p:nvSpPr>
        <p:spPr>
          <a:xfrm>
            <a:off x="1562100" y="2857926"/>
            <a:ext cx="8858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Das Projekt zeigt eine praxisnahe Umsetzung moderner Webarchitekturen mit Fokus auf Wartbarkeit, Skalierbarkeit und Automatisierung.</a:t>
            </a:r>
          </a:p>
        </p:txBody>
      </p:sp>
      <p:sp>
        <p:nvSpPr>
          <p:cNvPr id="21" name="!!Backdrop">
            <a:extLst>
              <a:ext uri="{FF2B5EF4-FFF2-40B4-BE49-F238E27FC236}">
                <a16:creationId xmlns:a16="http://schemas.microsoft.com/office/drawing/2014/main" id="{4ABFAE61-DB04-F4D1-996A-1057E7867EE3}"/>
              </a:ext>
            </a:extLst>
          </p:cNvPr>
          <p:cNvSpPr/>
          <p:nvPr/>
        </p:nvSpPr>
        <p:spPr>
          <a:xfrm>
            <a:off x="-333829" y="-319314"/>
            <a:ext cx="13062858" cy="760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2" name="Grafik 31" descr="Rakete mit einfarbiger Füllung">
            <a:extLst>
              <a:ext uri="{FF2B5EF4-FFF2-40B4-BE49-F238E27FC236}">
                <a16:creationId xmlns:a16="http://schemas.microsoft.com/office/drawing/2014/main" id="{661EF546-BF51-5223-2887-CF1D9B19BE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0168" y="3398436"/>
            <a:ext cx="1482895" cy="1482895"/>
          </a:xfrm>
          <a:prstGeom prst="rect">
            <a:avLst/>
          </a:prstGeom>
        </p:spPr>
      </p:pic>
      <p:pic>
        <p:nvPicPr>
          <p:cNvPr id="36" name="Grafik 35" descr="Glühlampe mit einfarbiger Füllung">
            <a:extLst>
              <a:ext uri="{FF2B5EF4-FFF2-40B4-BE49-F238E27FC236}">
                <a16:creationId xmlns:a16="http://schemas.microsoft.com/office/drawing/2014/main" id="{9121AF97-DF59-A786-35AF-266C9C020F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671711" y="3324435"/>
            <a:ext cx="1576615" cy="1576615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C4A797FD-70B1-E187-0B3C-38D6CA9602B7}"/>
              </a:ext>
            </a:extLst>
          </p:cNvPr>
          <p:cNvSpPr txBox="1"/>
          <p:nvPr/>
        </p:nvSpPr>
        <p:spPr>
          <a:xfrm>
            <a:off x="-5372102" y="4851886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Lessons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Learned</a:t>
            </a: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F46C4E64-7C7C-8E21-D363-70BFD716317B}"/>
              </a:ext>
            </a:extLst>
          </p:cNvPr>
          <p:cNvSpPr txBox="1"/>
          <p:nvPr/>
        </p:nvSpPr>
        <p:spPr>
          <a:xfrm>
            <a:off x="14594825" y="4851885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Nächste Schritte</a:t>
            </a:r>
          </a:p>
        </p:txBody>
      </p:sp>
    </p:spTree>
    <p:extLst>
      <p:ext uri="{BB962C8B-B14F-4D97-AF65-F5344CB8AC3E}">
        <p14:creationId xmlns:p14="http://schemas.microsoft.com/office/powerpoint/2010/main" val="68357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6A0D-E96E-0F68-A920-3F63783E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Zahnrad mit einfarbiger Füllung">
            <a:extLst>
              <a:ext uri="{FF2B5EF4-FFF2-40B4-BE49-F238E27FC236}">
                <a16:creationId xmlns:a16="http://schemas.microsoft.com/office/drawing/2014/main" id="{66DE2FE2-E503-C670-78FC-5E78A795F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900" y="3205763"/>
            <a:ext cx="1805459" cy="180545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7F5D6-2444-8BC7-6B6A-1FB45533D4A2}"/>
              </a:ext>
            </a:extLst>
          </p:cNvPr>
          <p:cNvSpPr txBox="1"/>
          <p:nvPr/>
        </p:nvSpPr>
        <p:spPr>
          <a:xfrm>
            <a:off x="4493839" y="4851886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Saubere Prozesse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716D6AD1-71D0-6A08-01AF-69DB24D121A7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Fazit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FFC8DEF-B93B-E6A9-D205-CCA6095408C1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1F7470DE-FD59-58E1-C5F7-04960C6227FB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7162A4E-8869-7F8B-6975-5DFC7F698EC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446147C0-0104-4E37-F84E-2D207CFEB254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9DB15C4-0A57-2796-F366-489768225365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73AA60F-54D3-88BD-B355-03A9F6CF81AA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8C493B11-A326-F91C-455D-81031B396E1C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98CBF8A-BFF1-05F5-DD7B-C3C0F08DC86B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8984532D-5FEF-72E3-D9E5-C1815C04C249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BC3D9B9F-EB1E-44D9-532C-97F6D3B1FC82}"/>
              </a:ext>
            </a:extLst>
          </p:cNvPr>
          <p:cNvSpPr txBox="1"/>
          <p:nvPr/>
        </p:nvSpPr>
        <p:spPr>
          <a:xfrm>
            <a:off x="99676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893C618-74F3-A8EE-3139-1E63B1282517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AE3FD4F2-AB2D-F366-C74B-8EE47B085D13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191C1AF-1649-9332-16AC-3303D9D5A552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2D1184F3-C13C-CE74-C631-14AA5E6BCA54}"/>
              </a:ext>
            </a:extLst>
          </p:cNvPr>
          <p:cNvSpPr/>
          <p:nvPr/>
        </p:nvSpPr>
        <p:spPr>
          <a:xfrm>
            <a:off x="8049980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392CF830-ABE0-392D-537D-9E1580997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485" y="2286042"/>
            <a:ext cx="2285916" cy="2285916"/>
          </a:xfrm>
          <a:prstGeom prst="rect">
            <a:avLst/>
          </a:prstGeom>
        </p:spPr>
      </p:pic>
      <p:pic>
        <p:nvPicPr>
          <p:cNvPr id="17" name="Grafik 16" descr="Ein Bild, das Symbol, Logo, Grafiken, Grün enthält.">
            <a:extLst>
              <a:ext uri="{FF2B5EF4-FFF2-40B4-BE49-F238E27FC236}">
                <a16:creationId xmlns:a16="http://schemas.microsoft.com/office/drawing/2014/main" id="{B8D3A90D-CE76-CE62-4297-3AD0153A74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17" b="95305" l="3376" r="98734">
                        <a14:foregroundMark x1="12236" y1="52113" x2="32911" y2="84507"/>
                        <a14:foregroundMark x1="32911" y1="84507" x2="68354" y2="79812"/>
                        <a14:foregroundMark x1="68354" y1="79812" x2="78059" y2="41784"/>
                        <a14:foregroundMark x1="78059" y1="41784" x2="67089" y2="16432"/>
                        <a14:foregroundMark x1="67089" y1="16432" x2="27426" y2="19249"/>
                        <a14:foregroundMark x1="27426" y1="19249" x2="14346" y2="48357"/>
                        <a14:foregroundMark x1="14346" y1="48357" x2="11392" y2="51174"/>
                        <a14:foregroundMark x1="16456" y1="67606" x2="37975" y2="89202"/>
                        <a14:foregroundMark x1="37975" y1="89202" x2="63713" y2="90610"/>
                        <a14:foregroundMark x1="63713" y1="90610" x2="80591" y2="75587"/>
                        <a14:foregroundMark x1="80591" y1="75587" x2="87342" y2="42254"/>
                        <a14:foregroundMark x1="87342" y1="42254" x2="66245" y2="11268"/>
                        <a14:foregroundMark x1="66245" y1="11268" x2="35865" y2="12676"/>
                        <a14:foregroundMark x1="35865" y1="12676" x2="35021" y2="12676"/>
                        <a14:foregroundMark x1="24895" y1="5164" x2="65401" y2="5164"/>
                        <a14:foregroundMark x1="67511" y1="5164" x2="30802" y2="3756"/>
                        <a14:foregroundMark x1="37975" y1="4225" x2="67089" y2="3286"/>
                        <a14:foregroundMark x1="90717" y1="38967" x2="89030" y2="58685"/>
                        <a14:foregroundMark x1="94093" y1="50704" x2="95359" y2="52582"/>
                        <a14:foregroundMark x1="78903" y1="84038" x2="77637" y2="86385"/>
                        <a14:foregroundMark x1="72574" y1="88263" x2="48523" y2="94366"/>
                        <a14:foregroundMark x1="3797" y1="52113" x2="10970" y2="58216"/>
                        <a14:foregroundMark x1="70464" y1="58216" x2="46414" y2="69014"/>
                        <a14:foregroundMark x1="47257" y1="20188" x2="53165" y2="68075"/>
                        <a14:foregroundMark x1="62447" y1="26761" x2="75527" y2="55869"/>
                        <a14:foregroundMark x1="75527" y1="48357" x2="52743" y2="17371"/>
                        <a14:foregroundMark x1="68354" y1="64319" x2="13924" y2="73239"/>
                        <a14:foregroundMark x1="40084" y1="23944" x2="21097" y2="50235"/>
                        <a14:foregroundMark x1="21097" y1="50235" x2="42616" y2="71362"/>
                        <a14:foregroundMark x1="42616" y1="71362" x2="73418" y2="69014"/>
                        <a14:foregroundMark x1="97046" y1="50704" x2="99156" y2="51174"/>
                        <a14:foregroundMark x1="51055" y1="61972" x2="27426" y2="29108"/>
                        <a14:foregroundMark x1="22785" y1="73709" x2="65401" y2="95305"/>
                        <a14:backgroundMark x1="7173" y1="14554" x2="7173" y2="14554"/>
                        <a14:backgroundMark x1="8861" y1="92488" x2="8861" y2="92488"/>
                        <a14:backgroundMark x1="88186" y1="9859" x2="90717" y2="22066"/>
                        <a14:backgroundMark x1="86498" y1="93427" x2="95781" y2="793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343" y="2414587"/>
            <a:ext cx="2257425" cy="2028825"/>
          </a:xfrm>
          <a:prstGeom prst="rect">
            <a:avLst/>
          </a:prstGeom>
        </p:spPr>
      </p:pic>
      <p:pic>
        <p:nvPicPr>
          <p:cNvPr id="19" name="Grafik 18" descr="Ein Bild, das Clipart, Grafiken, Symbol, Design enthält.">
            <a:extLst>
              <a:ext uri="{FF2B5EF4-FFF2-40B4-BE49-F238E27FC236}">
                <a16:creationId xmlns:a16="http://schemas.microsoft.com/office/drawing/2014/main" id="{22E486C7-BE9B-5919-30BB-DFCF0E1B61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589" y="2305676"/>
            <a:ext cx="2119116" cy="2184712"/>
          </a:xfrm>
          <a:prstGeom prst="rect">
            <a:avLst/>
          </a:prstGeom>
        </p:spPr>
      </p:pic>
      <p:pic>
        <p:nvPicPr>
          <p:cNvPr id="22" name="Grafik 21" descr="Ein Bild, das Symbol, Kreis, Logo, Grafiken enthält.">
            <a:extLst>
              <a:ext uri="{FF2B5EF4-FFF2-40B4-BE49-F238E27FC236}">
                <a16:creationId xmlns:a16="http://schemas.microsoft.com/office/drawing/2014/main" id="{6A8D25EA-B5D0-BF95-3510-7231B041DF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920" y="1952218"/>
            <a:ext cx="2891628" cy="2891628"/>
          </a:xfrm>
          <a:prstGeom prst="rect">
            <a:avLst/>
          </a:prstGeom>
        </p:spPr>
      </p:pic>
      <p:sp>
        <p:nvSpPr>
          <p:cNvPr id="16" name="!!ERGEBNIS">
            <a:extLst>
              <a:ext uri="{FF2B5EF4-FFF2-40B4-BE49-F238E27FC236}">
                <a16:creationId xmlns:a16="http://schemas.microsoft.com/office/drawing/2014/main" id="{842E0D2A-3203-26A5-3699-B18ED015377E}"/>
              </a:ext>
            </a:extLst>
          </p:cNvPr>
          <p:cNvSpPr/>
          <p:nvPr/>
        </p:nvSpPr>
        <p:spPr>
          <a:xfrm>
            <a:off x="9967673" y="6443695"/>
            <a:ext cx="924165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C756B4D-DC4F-1CAF-4F80-84AAF741D128}"/>
              </a:ext>
            </a:extLst>
          </p:cNvPr>
          <p:cNvSpPr txBox="1"/>
          <p:nvPr/>
        </p:nvSpPr>
        <p:spPr>
          <a:xfrm>
            <a:off x="2335279" y="1747089"/>
            <a:ext cx="7521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Das Projekt zeigt eine praxisnahe Umsetzung moderner Webarchitekturen mit Fokus auf Wartbarkeit, Skalierbarkeit und Automatisierung.</a:t>
            </a:r>
          </a:p>
        </p:txBody>
      </p:sp>
      <p:pic>
        <p:nvPicPr>
          <p:cNvPr id="7" name="Grafik 6" descr="Rakete mit einfarbiger Füllung">
            <a:extLst>
              <a:ext uri="{FF2B5EF4-FFF2-40B4-BE49-F238E27FC236}">
                <a16:creationId xmlns:a16="http://schemas.microsoft.com/office/drawing/2014/main" id="{3A03A0C9-CE16-8926-786F-44060D3931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5641" y="3398436"/>
            <a:ext cx="1482895" cy="1482895"/>
          </a:xfrm>
          <a:prstGeom prst="rect">
            <a:avLst/>
          </a:prstGeom>
        </p:spPr>
      </p:pic>
      <p:pic>
        <p:nvPicPr>
          <p:cNvPr id="12" name="Grafik 11" descr="Glühlampe mit einfarbiger Füllung">
            <a:extLst>
              <a:ext uri="{FF2B5EF4-FFF2-40B4-BE49-F238E27FC236}">
                <a16:creationId xmlns:a16="http://schemas.microsoft.com/office/drawing/2014/main" id="{6D481C3B-FB13-6D66-A822-EED9C5FF55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76042" y="3324435"/>
            <a:ext cx="1576615" cy="157661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5C6DF7B-9A03-FE29-277F-7D466CDC77B3}"/>
              </a:ext>
            </a:extLst>
          </p:cNvPr>
          <p:cNvSpPr txBox="1"/>
          <p:nvPr/>
        </p:nvSpPr>
        <p:spPr>
          <a:xfrm>
            <a:off x="675651" y="4851886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Lessons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Learned</a:t>
            </a: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EA48CB1-2413-AF6F-5A29-021D8E571648}"/>
              </a:ext>
            </a:extLst>
          </p:cNvPr>
          <p:cNvSpPr txBox="1"/>
          <p:nvPr/>
        </p:nvSpPr>
        <p:spPr>
          <a:xfrm>
            <a:off x="8280298" y="4851885"/>
            <a:ext cx="301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Nächste Schritte</a:t>
            </a:r>
          </a:p>
        </p:txBody>
      </p:sp>
    </p:spTree>
    <p:extLst>
      <p:ext uri="{BB962C8B-B14F-4D97-AF65-F5344CB8AC3E}">
        <p14:creationId xmlns:p14="http://schemas.microsoft.com/office/powerpoint/2010/main" val="238780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58C6-3FD9-21F4-F367-2DBE5BF0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DA359A91-80A8-0CF4-E477-C98B1410E3AC}"/>
              </a:ext>
            </a:extLst>
          </p:cNvPr>
          <p:cNvSpPr txBox="1">
            <a:spLocks/>
          </p:cNvSpPr>
          <p:nvPr/>
        </p:nvSpPr>
        <p:spPr>
          <a:xfrm>
            <a:off x="647909" y="670132"/>
            <a:ext cx="7795755" cy="6244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>
                <a:solidFill>
                  <a:schemeClr val="tx1"/>
                </a:solidFill>
              </a:rPr>
              <a:t>Quellen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0C98C81-FD55-B139-5635-B8AD8A00F2C0}"/>
              </a:ext>
            </a:extLst>
          </p:cNvPr>
          <p:cNvSpPr/>
          <p:nvPr/>
        </p:nvSpPr>
        <p:spPr>
          <a:xfrm>
            <a:off x="0" y="1443091"/>
            <a:ext cx="963827" cy="188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CA5A8627-D403-99BF-26FF-1BA99DF3385C}"/>
              </a:ext>
            </a:extLst>
          </p:cNvPr>
          <p:cNvSpPr/>
          <p:nvPr/>
        </p:nvSpPr>
        <p:spPr>
          <a:xfrm>
            <a:off x="3791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6FA1D31-C653-458D-62FB-13949F6FB042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4F971AAB-54F1-9133-029D-0DC6C84F19A4}"/>
              </a:ext>
            </a:extLst>
          </p:cNvPr>
          <p:cNvSpPr/>
          <p:nvPr/>
        </p:nvSpPr>
        <p:spPr>
          <a:xfrm>
            <a:off x="42145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55D871DC-50EA-B962-2FC1-6CD3B452F060}"/>
              </a:ext>
            </a:extLst>
          </p:cNvPr>
          <p:cNvSpPr/>
          <p:nvPr/>
        </p:nvSpPr>
        <p:spPr>
          <a:xfrm>
            <a:off x="6132285" y="644369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98358A9-98F6-D601-E501-3D5DB9C90FC5}"/>
              </a:ext>
            </a:extLst>
          </p:cNvPr>
          <p:cNvSpPr/>
          <p:nvPr/>
        </p:nvSpPr>
        <p:spPr>
          <a:xfrm>
            <a:off x="8049985" y="6446805"/>
            <a:ext cx="1854200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B07170A-202D-2D14-B915-3FAFF2BA1042}"/>
              </a:ext>
            </a:extLst>
          </p:cNvPr>
          <p:cNvSpPr/>
          <p:nvPr/>
        </p:nvSpPr>
        <p:spPr>
          <a:xfrm>
            <a:off x="9967685" y="6443695"/>
            <a:ext cx="1854200" cy="1651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085E2248-7805-A16C-609F-C004F76EFFF6}"/>
              </a:ext>
            </a:extLst>
          </p:cNvPr>
          <p:cNvSpPr/>
          <p:nvPr/>
        </p:nvSpPr>
        <p:spPr>
          <a:xfrm>
            <a:off x="370114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C7F7BB5B-4AEE-CA4F-9F4C-71DCBD80620D}"/>
              </a:ext>
            </a:extLst>
          </p:cNvPr>
          <p:cNvSpPr/>
          <p:nvPr/>
        </p:nvSpPr>
        <p:spPr>
          <a:xfrm>
            <a:off x="2296885" y="6443695"/>
            <a:ext cx="1854200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92A3A463-E88C-F6D3-9320-B42DCF6568EA}"/>
              </a:ext>
            </a:extLst>
          </p:cNvPr>
          <p:cNvSpPr txBox="1"/>
          <p:nvPr/>
        </p:nvSpPr>
        <p:spPr>
          <a:xfrm>
            <a:off x="9967686" y="6181224"/>
            <a:ext cx="18541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14D888C-CCFD-7197-8E74-0A7BA25A6649}"/>
              </a:ext>
            </a:extLst>
          </p:cNvPr>
          <p:cNvSpPr/>
          <p:nvPr/>
        </p:nvSpPr>
        <p:spPr>
          <a:xfrm>
            <a:off x="4214585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0B36196D-B2CD-1B65-753D-542B3363DB11}"/>
              </a:ext>
            </a:extLst>
          </p:cNvPr>
          <p:cNvSpPr/>
          <p:nvPr/>
        </p:nvSpPr>
        <p:spPr>
          <a:xfrm>
            <a:off x="6132283" y="6443695"/>
            <a:ext cx="1854199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2E768B0E-39D3-CEA5-18D2-CC3390BD5DA7}"/>
              </a:ext>
            </a:extLst>
          </p:cNvPr>
          <p:cNvSpPr/>
          <p:nvPr/>
        </p:nvSpPr>
        <p:spPr>
          <a:xfrm>
            <a:off x="4214585" y="6443695"/>
            <a:ext cx="45719" cy="1651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!!ERGEBNIS">
            <a:extLst>
              <a:ext uri="{FF2B5EF4-FFF2-40B4-BE49-F238E27FC236}">
                <a16:creationId xmlns:a16="http://schemas.microsoft.com/office/drawing/2014/main" id="{45E55085-3581-9420-2019-2E612CE656B0}"/>
              </a:ext>
            </a:extLst>
          </p:cNvPr>
          <p:cNvSpPr/>
          <p:nvPr/>
        </p:nvSpPr>
        <p:spPr>
          <a:xfrm>
            <a:off x="8049980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Grafiken, Symbol, Kreis, Schrift enthält.&#10;&#10;KI-generierte Inhalte können fehlerhaft sein.">
            <a:extLst>
              <a:ext uri="{FF2B5EF4-FFF2-40B4-BE49-F238E27FC236}">
                <a16:creationId xmlns:a16="http://schemas.microsoft.com/office/drawing/2014/main" id="{9DC9798F-1618-3C71-FECC-56270AA5C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485" y="2286042"/>
            <a:ext cx="2285916" cy="2285916"/>
          </a:xfrm>
          <a:prstGeom prst="rect">
            <a:avLst/>
          </a:prstGeom>
        </p:spPr>
      </p:pic>
      <p:pic>
        <p:nvPicPr>
          <p:cNvPr id="17" name="Grafik 16" descr="Ein Bild, das Symbol, Logo, Grafiken, Grün enthält.">
            <a:extLst>
              <a:ext uri="{FF2B5EF4-FFF2-40B4-BE49-F238E27FC236}">
                <a16:creationId xmlns:a16="http://schemas.microsoft.com/office/drawing/2014/main" id="{70A16047-6817-5791-6B86-9FC90E334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17" b="95305" l="3376" r="98734">
                        <a14:foregroundMark x1="12236" y1="52113" x2="32911" y2="84507"/>
                        <a14:foregroundMark x1="32911" y1="84507" x2="68354" y2="79812"/>
                        <a14:foregroundMark x1="68354" y1="79812" x2="78059" y2="41784"/>
                        <a14:foregroundMark x1="78059" y1="41784" x2="67089" y2="16432"/>
                        <a14:foregroundMark x1="67089" y1="16432" x2="27426" y2="19249"/>
                        <a14:foregroundMark x1="27426" y1="19249" x2="14346" y2="48357"/>
                        <a14:foregroundMark x1="14346" y1="48357" x2="11392" y2="51174"/>
                        <a14:foregroundMark x1="16456" y1="67606" x2="37975" y2="89202"/>
                        <a14:foregroundMark x1="37975" y1="89202" x2="63713" y2="90610"/>
                        <a14:foregroundMark x1="63713" y1="90610" x2="80591" y2="75587"/>
                        <a14:foregroundMark x1="80591" y1="75587" x2="87342" y2="42254"/>
                        <a14:foregroundMark x1="87342" y1="42254" x2="66245" y2="11268"/>
                        <a14:foregroundMark x1="66245" y1="11268" x2="35865" y2="12676"/>
                        <a14:foregroundMark x1="35865" y1="12676" x2="35021" y2="12676"/>
                        <a14:foregroundMark x1="24895" y1="5164" x2="65401" y2="5164"/>
                        <a14:foregroundMark x1="67511" y1="5164" x2="30802" y2="3756"/>
                        <a14:foregroundMark x1="37975" y1="4225" x2="67089" y2="3286"/>
                        <a14:foregroundMark x1="90717" y1="38967" x2="89030" y2="58685"/>
                        <a14:foregroundMark x1="94093" y1="50704" x2="95359" y2="52582"/>
                        <a14:foregroundMark x1="78903" y1="84038" x2="77637" y2="86385"/>
                        <a14:foregroundMark x1="72574" y1="88263" x2="48523" y2="94366"/>
                        <a14:foregroundMark x1="3797" y1="52113" x2="10970" y2="58216"/>
                        <a14:foregroundMark x1="70464" y1="58216" x2="46414" y2="69014"/>
                        <a14:foregroundMark x1="47257" y1="20188" x2="53165" y2="68075"/>
                        <a14:foregroundMark x1="62447" y1="26761" x2="75527" y2="55869"/>
                        <a14:foregroundMark x1="75527" y1="48357" x2="52743" y2="17371"/>
                        <a14:foregroundMark x1="68354" y1="64319" x2="13924" y2="73239"/>
                        <a14:foregroundMark x1="40084" y1="23944" x2="21097" y2="50235"/>
                        <a14:foregroundMark x1="21097" y1="50235" x2="42616" y2="71362"/>
                        <a14:foregroundMark x1="42616" y1="71362" x2="73418" y2="69014"/>
                        <a14:foregroundMark x1="97046" y1="50704" x2="99156" y2="51174"/>
                        <a14:foregroundMark x1="51055" y1="61972" x2="27426" y2="29108"/>
                        <a14:foregroundMark x1="22785" y1="73709" x2="65401" y2="95305"/>
                        <a14:backgroundMark x1="7173" y1="14554" x2="7173" y2="14554"/>
                        <a14:backgroundMark x1="8861" y1="92488" x2="8861" y2="92488"/>
                        <a14:backgroundMark x1="88186" y1="9859" x2="90717" y2="22066"/>
                        <a14:backgroundMark x1="86498" y1="93427" x2="95781" y2="793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343" y="2414587"/>
            <a:ext cx="2257425" cy="2028825"/>
          </a:xfrm>
          <a:prstGeom prst="rect">
            <a:avLst/>
          </a:prstGeom>
        </p:spPr>
      </p:pic>
      <p:pic>
        <p:nvPicPr>
          <p:cNvPr id="19" name="Grafik 18" descr="Ein Bild, das Clipart, Grafiken, Symbol, Design enthält.">
            <a:extLst>
              <a:ext uri="{FF2B5EF4-FFF2-40B4-BE49-F238E27FC236}">
                <a16:creationId xmlns:a16="http://schemas.microsoft.com/office/drawing/2014/main" id="{67E80A5A-BC50-4DA4-49F1-45FB408B0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0589" y="2305676"/>
            <a:ext cx="2119116" cy="2184712"/>
          </a:xfrm>
          <a:prstGeom prst="rect">
            <a:avLst/>
          </a:prstGeom>
        </p:spPr>
      </p:pic>
      <p:pic>
        <p:nvPicPr>
          <p:cNvPr id="22" name="Grafik 21" descr="Ein Bild, das Symbol, Kreis, Logo, Grafiken enthält.">
            <a:extLst>
              <a:ext uri="{FF2B5EF4-FFF2-40B4-BE49-F238E27FC236}">
                <a16:creationId xmlns:a16="http://schemas.microsoft.com/office/drawing/2014/main" id="{D90F530D-33C7-5440-11D9-05DDEA42D3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920" y="1952218"/>
            <a:ext cx="2891628" cy="2891628"/>
          </a:xfrm>
          <a:prstGeom prst="rect">
            <a:avLst/>
          </a:prstGeom>
        </p:spPr>
      </p:pic>
      <p:sp>
        <p:nvSpPr>
          <p:cNvPr id="16" name="!!ERGEBNIS">
            <a:extLst>
              <a:ext uri="{FF2B5EF4-FFF2-40B4-BE49-F238E27FC236}">
                <a16:creationId xmlns:a16="http://schemas.microsoft.com/office/drawing/2014/main" id="{E934FE78-38E5-0DDA-8442-14AA9EBF79F4}"/>
              </a:ext>
            </a:extLst>
          </p:cNvPr>
          <p:cNvSpPr/>
          <p:nvPr/>
        </p:nvSpPr>
        <p:spPr>
          <a:xfrm>
            <a:off x="9967673" y="6443695"/>
            <a:ext cx="1854198" cy="1651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CD07D2-6E0F-CAEF-0E03-25E3EEA82131}"/>
              </a:ext>
            </a:extLst>
          </p:cNvPr>
          <p:cNvSpPr txBox="1"/>
          <p:nvPr/>
        </p:nvSpPr>
        <p:spPr>
          <a:xfrm>
            <a:off x="647909" y="1952218"/>
            <a:ext cx="84208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Bilder und Abbildungen: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https://i.ytimg.com/vi/ksTGa6Z4gLg/hqdefault.jpg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https://upload.wikimedia.org/wikipedia/en/7/79/Roll_Safe_meme.jpg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https://fs.siteor.com/invoiceocean-de/paragraph/texts/photos/97668/large/dsgvo-konform.png?1629803159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https://netfoundry.io/docs/icons/logo-keycloak.svg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https://www.jwt.io/_next/image?url=%2F_next%2Fstatic%2Fmedia%2Fjwt-flower.f20616b0.png&amp;w=3840&amp;q=75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https://docubear.com/wp-content/uploads/2023/06/rtk-query.png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https://www.drupal.org/files/project-images/nextjs-icon-dark-background.png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https://images.seeklogo.com/logo-png/51/1/shadcn-ui-logo-png_seeklogo-519786.png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https://encrypted-tbn0.gstatic.com/images?q=tbn:ANd9GcRNou7-DlVcN5nOVq73_RDi6OAYZAzOknfzQw&amp;s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https://upload.wikimedia.org/wikipedia/commons/thumb/2/29/Postgresql_elephant.svg/1163px-Postgresql_elephant.svg.png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https://encrypted-tbn0.gstatic.com/images?q=tbn:ANd9GcSst79G34YVCDW7Vdu9aeM3KOIrX89YiVwGzw&amp;s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https://www.svgrepo.com/show/303548/git-icon-logo.svg</a:t>
            </a:r>
          </a:p>
        </p:txBody>
      </p:sp>
    </p:spTree>
    <p:extLst>
      <p:ext uri="{BB962C8B-B14F-4D97-AF65-F5344CB8AC3E}">
        <p14:creationId xmlns:p14="http://schemas.microsoft.com/office/powerpoint/2010/main" val="65845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B32C3-A060-F402-C40B-952BD561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98ADFC7-3899-9198-8EFF-F4F53862A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06403" y="2638847"/>
            <a:ext cx="10867760" cy="4875955"/>
          </a:xfrm>
          <a:prstGeom prst="rect">
            <a:avLst/>
          </a:prstGeom>
        </p:spPr>
      </p:pic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66880565-1A5F-7A9F-AAD7-29B29AD744C5}"/>
              </a:ext>
            </a:extLst>
          </p:cNvPr>
          <p:cNvSpPr txBox="1">
            <a:spLocks/>
          </p:cNvSpPr>
          <p:nvPr/>
        </p:nvSpPr>
        <p:spPr>
          <a:xfrm>
            <a:off x="5516001" y="1989458"/>
            <a:ext cx="5693898" cy="64938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dirty="0" err="1">
                <a:solidFill>
                  <a:schemeClr val="tx1"/>
                </a:solidFill>
              </a:rPr>
              <a:t>Git</a:t>
            </a:r>
            <a:r>
              <a:rPr lang="de-DE" sz="4800" dirty="0">
                <a:solidFill>
                  <a:schemeClr val="tx1"/>
                </a:solidFill>
              </a:rPr>
              <a:t> push </a:t>
            </a:r>
            <a:r>
              <a:rPr lang="de-DE" sz="4800" dirty="0">
                <a:solidFill>
                  <a:schemeClr val="accent1"/>
                </a:solidFill>
              </a:rPr>
              <a:t>--</a:t>
            </a:r>
            <a:r>
              <a:rPr lang="de-DE" sz="4800" dirty="0" err="1">
                <a:solidFill>
                  <a:schemeClr val="accent1"/>
                </a:solidFill>
              </a:rPr>
              <a:t>force</a:t>
            </a:r>
            <a:endParaRPr lang="de-DE" sz="4800" dirty="0">
              <a:solidFill>
                <a:schemeClr val="accent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E07A1B1-2206-DDFB-2E03-AA83DFF80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1549" y="302507"/>
            <a:ext cx="1686951" cy="16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3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enutzerdefiniert 1">
      <a:dk1>
        <a:srgbClr val="455561"/>
      </a:dk1>
      <a:lt1>
        <a:srgbClr val="FFFFFF"/>
      </a:lt1>
      <a:dk2>
        <a:srgbClr val="5E7484"/>
      </a:dk2>
      <a:lt2>
        <a:srgbClr val="FFFFFF"/>
      </a:lt2>
      <a:accent1>
        <a:srgbClr val="D7194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4129</Words>
  <Application>Microsoft Office PowerPoint</Application>
  <PresentationFormat>Breitbild</PresentationFormat>
  <Paragraphs>762</Paragraphs>
  <Slides>48</Slides>
  <Notes>48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Effiziente projektbezogene Ressourcenplanung bei EDAG-Engineering</vt:lpstr>
      <vt:lpstr>Effiziente projektbezogene Ressourcenplanung bei EDAG-Engineering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Eschenbach, Marvin</dc:creator>
  <cp:lastModifiedBy>Eschenbach, Marvin</cp:lastModifiedBy>
  <cp:revision>10</cp:revision>
  <dcterms:created xsi:type="dcterms:W3CDTF">2026-01-07T10:26:16Z</dcterms:created>
  <dcterms:modified xsi:type="dcterms:W3CDTF">2026-01-19T07:05:39Z</dcterms:modified>
</cp:coreProperties>
</file>